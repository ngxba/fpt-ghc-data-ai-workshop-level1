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4.xml" ContentType="application/vnd.openxmlformats-officedocument.presentationml.slideLayout+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2"/>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 id="266" r:id="rId10"/>
    <p:sldId id="267" r:id="rId9"/>
    <p:sldId id="268" r:id="rId8"/>
    <p:sldId id="269" r:id="rId7"/>
    <p:sldId id="270" r:id="rId6"/>
    <p:sldId id="271" r:id="rId5"/>
    <p:sldId id="272" r:id="rId4"/>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93462B-A20F-069A-C214-D1CA5347AECA}" name="Anh Le Nhu" initials="ALN" userId="S::AnhLN18@fpt.com::a6cb2511-0a14-4b66-a6b4-0b697445ad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BC94D-D348-DA43-9C6C-2B1F9F0119A5}" v="1" dt="2026-07-06T09:27:17.7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9" autoAdjust="0"/>
    <p:restoredTop sz="93823" autoAdjust="0"/>
  </p:normalViewPr>
  <p:slideViewPr>
    <p:cSldViewPr snapToGrid="0">
      <p:cViewPr varScale="1">
        <p:scale>
          <a:sx n="126" d="100"/>
          <a:sy n="126" d="100"/>
        </p:scale>
        <p:origin x="304" y="184"/>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2" Type="http://schemas.openxmlformats.org/officeDocument/2006/relationships/slideMaster" Target="slideMasters/slideMaster2.xml"/><Relationship Id="rId4" Type="http://schemas.openxmlformats.org/officeDocument/2006/relationships/slide" Target="slides/slide17.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 Id="rId27" Type="http://schemas.microsoft.com/office/2018/10/relationships/authors" Target="authors.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714F9B-C1F5-4841-B1BD-589A1B373DEB}" type="datetimeFigureOut">
              <a:rPr lang="en-US" smtClean="0"/>
              <a:t>7/6/26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8F422E-DB4F-40BA-9A29-6A8821BC8265}" type="slidenum">
              <a:rPr lang="en-US" smtClean="0"/>
              <a:t>‹#›</a:t>
            </a:fld>
            <a:endParaRPr lang="en-US"/>
          </a:p>
        </p:txBody>
      </p:sp>
    </p:spTree>
    <p:extLst>
      <p:ext uri="{BB962C8B-B14F-4D97-AF65-F5344CB8AC3E}">
        <p14:creationId xmlns:p14="http://schemas.microsoft.com/office/powerpoint/2010/main" val="2213672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Welcome everyone. This morning is the story and the concepts. This afternoon you will build the project yourselves in five notebooks. Everything you see today is something you will touch with your own hands later, so listen for the ideas and ask questions freely.</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Picture a company that sells devices. Every day customers write in. Three examples are on the left. A manager has questions about all of these tickets. Look at the three questions on the right. The first two need numbers: counting and averaging over thousands of tickets. The third needs knowledge: what should we tell this customer?</a:t>
            </a:r>
          </a:p>
          <a:p/>
          <a:p>
            <a:r>
              <a:t>ASK THE ROOM: Which of the three questions could you answer with a spreadsheet today? Which one is hard?</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Data is the facts we collect: rows in a table, text in a ticket, a click on a page. AI, in this workshop, means software that finds patterns in that data and can write answers from it. Put them together and you get decisions and answers. The important warning is on the bottom strip: the AI is only as good as the data behind it and how we connect them. That is why the first half of the afternoon is about data, not AI.</a:t>
            </a:r>
          </a:p>
          <a:p/>
          <a:p>
            <a:r>
              <a:t>ASK THE ROOM: Can you name one AI tool you used this week? What data did it need?</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any tool, a map of the data world. Data comes from many places: apps and websites, sensors, support tickets and emails, documents and media. It comes in three shapes: structured, in rows and columns; semi-structured, like JSON files and logs; and unstructured, like free text, images and audio. It lives in different stores: relational databases for structured data, data warehouses for data prepared for analysis, data lakes for raw files of any kind, and the newer vector databases for searching by meaning. And it feeds different uses: reports and dashboards, machine learning models, and AI assistants. The orange tags show where this afternoon fits: support tickets in a relational database, dashboards, and a vector database behind an AI assistant. Notice that almost every real company has all of this at once.</a:t>
            </a:r>
          </a:p>
          <a:p/>
          <a:p>
            <a:r>
              <a:t>ASK THE ROOM: Where does the data of your favourite app live?</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AI is a big umbrella, and the words are often mixed up. Artificial intelligence is the whole field: software that behaves intelligently. Machine learning is a part of it: instead of writing rules by hand, the computer learns patterns from data. Deep learning is a part of machine learning that uses many-layered neural networks. And generative AI, the large language models behind chat assistants, is a part of deep learning that creates new text, images or code. This workshop lives in the inner circles: we use a language model, embeddings, and retrieval, to answer from our own data. The diagram is from Wikimedia Commons under a Creative Commons licence; the credit is at the bottom.</a:t>
            </a:r>
          </a:p>
          <a:p/>
          <a:p>
            <a:r>
              <a:t>ASK THE ROOM: Which of these four circles have you already used?</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do companies invest so much in data? Five reasons. Better decisions: accurate data drives smarter, faster choices. A competitive edge: stay ahead of market trends and customer needs. Operational efficiency: find bottlenecks early and automate repetitive work. Risk and compliance: know where sensitive data lives and follow privacy rules. And a better customer experience: use insights to personalise and improve services. The line at the bottom is the big picture: data is the cornerstone of digital transformation, new business models and innovation. AI makes this more valuable, but also raises the stakes on data quality, which is the next slide.</a:t>
            </a:r>
          </a:p>
          <a:p/>
          <a:p>
            <a:r>
              <a:t>ASK THE ROOM: Which of the five matters most for a support team?</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rule to remember all day. If the data going in is dirty, the numbers coming out are wrong, so the decision is wrong. And with AI it gets worse, because a language model will repeat wrong or outdated information in fluent, confident sentences. Follow the chain with our own support example: the same ticket counted twice and a few missing ids make the closed rate wrong, so the manager staffs for the wrong problem, and an assistant answering from an old article tells customers something false. At the bottom, three real-world data problems that every company meets: poor data quality, data silos, and data security. Lab 1 is first this afternoon because everything else stands on it.</a:t>
            </a:r>
          </a:p>
          <a:p/>
          <a:p>
            <a:r>
              <a:t>ASK THE ROOM: Where have you seen a wrong number lead to a wrong decision?</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finished product, a small web app for a support team. On the left is the layout: a team selector, filters, KPI cards, charts, and a table. There is also a second tab with an AI assistant that answers from a knowledge base and shows which articles it used. You will not start from this. You will build the data, the charts and the AI search in notebooks, and then see how they come together in an app.</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one is the map. Before any detail, we place data and AI in the bigger picture: the ladder from data to decision, the layers of a system, the people in a team, and how a real project runs.</a:t>
            </a:r>
          </a:p>
          <a:p/>
          <a:p>
            <a:r>
              <a:t>TIME: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ladder is the big idea of the day. Raw data is just rows. When we count and group it we get information. When we look at it carefully we find an insight, something that surprises or explains. And only when someone acts on it does it matter. The example is from our own ticket sample: refund requests take longest to resolve. Each step up needs a different skill, and the five labs climb this whole ladder.</a:t>
            </a:r>
          </a:p>
          <a:p/>
          <a:p>
            <a:r>
              <a:t>ASK THE ROOM: What would YOU do if refunds really were the slowest?</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Real data and AI systems are built in layers, and data flows upwards. At the bottom are the sources: files, apps, sensors. Then ingestion and ETL, which cleans and moves data. Then storage in a database. On top of storage we do analytics: SQL and dashboards. Then AI: embeddings, language models, retrieval. Then applications, so that people can use it. At the very top, agents that choose tools. The orange tags show where each lab sits. In one day you will touch every layer except the very bottom.</a:t>
            </a:r>
          </a:p>
          <a:p/>
          <a:p>
            <a:r>
              <a:t>ASK THE ROOM: Which layer do you think is the hardest to get right in real life?</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Nobody builds all of this alone. A data engineer moves and cleans the data. An analyst answers questions with SQL and charts. An AI engineer builds retrieval and agents. A software developer wraps it in an app people can use. And a business owner asks the questions and makes the decisions, which is where it all started. This afternoon you will play every role for a few minutes. That is on purpose: you will understand what each person needs from the others.</a:t>
            </a:r>
          </a:p>
          <a:p/>
          <a:p>
            <a:r>
              <a:t>ASK THE ROOM: Which role sounds most like you?</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Real projects follow roughly these six phases. First understand the problem: who needs what, and what does success look like? Then get the data, which is often the hard part. Clean and model it. Analyse it. Build the app or the AI. Then deploy and keep monitoring, because data and users change. Underneath is the iron triangle: cost, time and quality. You never maximise all three, so every project is a set of trade-offs. The orange bracket shows the phases you practise this afternoon.</a:t>
            </a:r>
          </a:p>
          <a:p/>
          <a:p>
            <a:r>
              <a:t>ASK THE ROOM: Which phase do you think takes the longest?</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two is about data. Where it lives, how it gets cleaned and loaded, and how we ask it questions with SQL. This is Lab 1 this afternoon.</a:t>
            </a:r>
          </a:p>
          <a:p/>
          <a:p>
            <a:r>
              <a:t>TIME: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spreadsheet is a great tool for one person. The moment many people and many systems need the same data, problems start: copies diverge, anyone can type anything, and big files slow down. A database fixes these on purpose: it is built for many users, it enforces rules about what data is allowed, it handles millions of rows, and you question it with a language, SQL. Notice the last row: transactions and permissions are what make a database safe to share.</a:t>
            </a:r>
          </a:p>
          <a:p/>
          <a:p>
            <a:r>
              <a:t>ASK THE ROOM: Have you ever had two versions of the same spreadsheet?</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how our database is organised. A table is rows and columns. A primary key is a column whose value is unique per row, like a ticket id. A foreign key is a column that must match a primary key in another table, which is how tables connect and how the database refuses nonsense values. A schema is a named folder of tables. On the picture you see a shared schema everybody reads, and one private schema per team that only that team can write to. That is how thirty students can use one database without breaking each other.</a:t>
            </a:r>
          </a:p>
          <a:p/>
          <a:p>
            <a:r>
              <a:t>ASK THE ROOM: Why might each team need its own schema?</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Real data is never clean. On the left is a tiny raw table: stray spaces, three different spellings of Closed, the same ticket twice, and a ticket with no id. After cleaning, on the right, two trustworthy rows remain. If you skip this step, your counts are wrong and everything built on top, the dashboard, the AI, inherits the mistakes. This is the garbage in, garbage out rule, and it is why Lab 1 starts here.</a:t>
            </a:r>
          </a:p>
          <a:p/>
          <a:p>
            <a:r>
              <a:t>ASK THE ROOM: Which of these four problems would you find hardest to spot in a huge table?</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ETL is the standard name for moving data from where it is to where it is useful. Extract: read the raw rows. Transform: clean them. Load: write them into a table people can query. Then we analyse. Real pipelines run again and again, every night or every hour. So the load step must be safe to repeat: an UPSERT inserts a new row or updates an existing one, which means running it twice does no harm. The word for that is idempotent.</a:t>
            </a:r>
          </a:p>
          <a:p/>
          <a:p>
            <a:r>
              <a:t>ASK THE ROOM: What would happen if a nightly load used a plain INSERT and ran twice?</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tickets on a timeline. The first one is closed and we can compute 6.85 hours. The second is still pending, so there is no resolution time yet. The third has bad data, resolved before the first response. Both of those must stay NULL, meaning unknown. If you fill unknown with zero, every average is dragged down and the dashboard lies. SQL averages skip NULL on purpose, so leaving NULL is the honest choice.</a:t>
            </a:r>
          </a:p>
          <a:p/>
          <a:p>
            <a:r>
              <a:t>ASK THE ROOM: A ticket has no resolution yet. Is its resolution time 0 hours?</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SQL lets you ask the database a question in a sentence-like language. In the picture: take the tickets, group them by ticket type, and count and average each group. Notice the NULL in the Technical group: the count includes it, the average skips it. JOIN connects two tables, GROUP BY makes the groups, and FILTER counts only some rows, which is how we get a closed rate. You do not tell the database how to count. You describe what you want.</a:t>
            </a:r>
          </a:p>
          <a:p/>
          <a:p>
            <a:r>
              <a:t>ASK THE ROOM: Which would you rather do by hand: count 600 tickets per type, or write one SQL sentence?</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three: once the data is clean, how do we turn it into KPIs and charts people trust, and how do we say honestly what they show? This is Lab 2.</a:t>
            </a:r>
          </a:p>
          <a:p/>
          <a:p>
            <a:r>
              <a:t>TIME: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KPI is one number that tells you how you are doing. Here are four from our own sample: 600 tickets, 34.7 percent closed, average satisfaction 2.87 out of 5, and 7.8 hours average resolution time. But every number needs an honest label. The closed rate is not an official service level agreement. The satisfaction average only counts rated tickets, 208 of 600. And the resolution time is averaged over only 105 tickets that have both timestamps. A number without its caveat is a promise you cannot keep.</a:t>
            </a:r>
          </a:p>
          <a:p/>
          <a:p>
            <a:r>
              <a:t>ASK THE ROOM: Would you trust 2.87 out of 5 if you knew only a third of the tickets were rated?</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Start from the question, not from the chart. How are we doing overall? A KPI scorecard. How do two measures relate for each category? A bubble chart. How does a total split level by level? A sunburst. How spread out are the values and are there outliers? A box plot. Where do two categories meet most? A heatmap. And if you want to compare categories and switch the measure, a bar chart with a dropdown. You will build all six in Lab 2.</a:t>
            </a:r>
          </a:p>
          <a:p/>
          <a:p>
            <a:r>
              <a:t>ASK THE ROOM: Which chart would you use to show how tickets split by channel?</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average resolution time in our sample is 7.8 hours. But an average is one number. A box plot shows the whole distribution: the middle half of the tickets in the box, the median as the line, and unusually slow tickets as dots. On the right: the median time per priority. The numbers differ a lot, but remember each box rests on only about 25 tickets, so these are questions to investigate, not proven facts.</a:t>
            </a:r>
          </a:p>
          <a:p/>
          <a:p>
            <a:r>
              <a:t>ASK THE ROOM: If the mean is 7.8 hours, can a customer still wait 20 hours?</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bubble chart puts speed against satisfaction for each ticket type. The dashed lines split it into four zones. Reading it honestly means saying two things. A finding says what the chart shows, with a number. A caveat says what it cannot tell us. Here: Billing inquiry is the only type above the 3.0 baseline. The caveat: satisfaction comes from a few dozen rated tickets per type, so small differences may be noise. This is the habit we want from every analyst.</a:t>
            </a:r>
          </a:p>
          <a:p/>
          <a:p>
            <a:r>
              <a:t>ASK THE ROOM: What is a finding you can state from this chart, and what is the caveat?</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four is the AI core. What an LLM can and cannot do, what vectors and vector databases are, and how retrieval-augmented generation works. This is Lab 3, the longest lab.</a:t>
            </a:r>
          </a:p>
          <a:p/>
          <a:p>
            <a:r>
              <a:t>TIME: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language model does not read words the way we do. It first cuts the text into tokens. A token is a piece of text: sometimes a whole word like "date" or "thinker", sometimes only part of a word, like "cle", "ve", "rest" in "cleverest", and punctuation such as the comma is its own token. Each token is then turned into a number, and then into a vector, the same idea you will see in the vector part later. The model looks at the whole sequence of tokens and has one job: guess the next token, the question marks at the end of the picture. Tokens matter in practice: the context window, the amount of text a model can read at once, and the price of an API call are both counted in tokens, not in words.</a:t>
            </a:r>
          </a:p>
          <a:p/>
          <a:p>
            <a:r>
              <a:t>ASK THE ROOM: How many tokens do you think the sentence on the screen has?</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what happens inside. The text so far goes into a neural network called a transformer. Its output is not an answer but a list: a probability for every possible next token. In the picture, "paved" has 39 percent, "laid" 19 percent, "continue" 11 percent, and a long tail of very unlikely words. The system then picks one token, not always the most likely one, which is why the same question can give different answers. The chosen token, here "laid", is added to the text and the whole process repeats, token after token, until the answer is complete. This is the key to the next slides: the model produces likely words, it does not look facts up. That is why it can sound confident and be wrong, and why we will give it our own documents to read.</a:t>
            </a:r>
          </a:p>
          <a:p/>
          <a:p>
            <a:r>
              <a:t>ASK THE ROOM: If the model picks the most likely word every time, will every answer be the same?</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large language model predicts the next words, and is very good at it: it writes fluent text, summarises and follows instructions. But on its own it has limits that matter for a business. It was trained up to a cutoff date, so it does not know recent events. It has never seen your private data, for example your support articles. It can state wrong things confidently, which we call hallucination. And it can only read a limited amount of text at once, the context window. Everything in the AI part of the day is a way to work around those four limits.</a:t>
            </a:r>
          </a:p>
          <a:p/>
          <a:p>
            <a:r>
              <a:t>ASK THE ROOM: Has an AI ever told you something confidently that turned out to be wrong?</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Structured data fits in rows and columns, like our ticket table. The right tool is SQL, and the questions are about counts and averages: how many refund tickets this week? Unstructured data is text, documents and images, like support articles. SQL cannot help when the customer writes "money back" and the article says "refund". For that we need to search by meaning, using embeddings and vector search. A good system uses both, and part of your skill is knowing which question needs which.</a:t>
            </a:r>
          </a:p>
          <a:p/>
          <a:p>
            <a:r>
              <a:t>ASK THE ROOM: Which tool would you use for: how many tickets about Bluetooth did we get?</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vector is just a list of numbers, for example 0.2, minus 1.7, 2.3. You can read it as a point in space: two numbers is a point on a map, three a point in a room, and the model we use gives 1,536 numbers, a point in a space we cannot picture. An embedding model turns text, an image or a sound into such a vector, and is trained so that similar meaning ends up at nearby points. On the right: fruits cluster together, cities cluster together, birds together. Nobody told the model these categories. In Lab 3 you will first play with a tiny two-dimensional version, then use the real thing.</a:t>
            </a:r>
          </a:p>
          <a:p/>
          <a:p>
            <a:r>
              <a:t>ASK THE ROOM: If two sentences mean the same thing but use different words, should their vectors be close or far?</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vector database stores vectors so they can be searched by similarity. Each row holds three things: the vector itself, used for searching, the original data, which is what we give back, and metadata like an id or a category. On the right: the query is encoded with the same model, and the database returns the nearest stored vectors together with their original data. A normal database finds exact matches. A vector database finds similar meaning. In our lab the vector database is just PostgreSQL with the pgvector extension, so your vectors sit next to your normal tables.</a:t>
            </a:r>
          </a:p>
          <a:p/>
          <a:p>
            <a:r>
              <a:t>ASK THE ROOM: Why do we need to keep the original text next to the vector?</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simplest search compares the query with every stored vector. That works for the 19 articles in our lab, but a real system can hold millions of vectors, so one question could need billions of multiplications. Real vector databases build an index and use approximate nearest neighbour search: they look only inside a promising neighbourhood. It gives up a tiny bit of accuracy for a huge gain in speed.</a:t>
            </a:r>
          </a:p>
          <a:p/>
          <a:p>
            <a:r>
              <a:t>ASK THE ROOM: What would you give up to make a search 100 times faster?</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RAG stands for retrieval-augmented generation, and this is the whole idea. Documents are encoded by an embedding model and indexed in a vector database. When a question arrives, we encode it too, find similar documents, and put them together with the question into a prompt. The LLM then writes the answer from those documents. Retrieval gives the model the knowledge it lacks, so the answer is grounded in your sources. That is the pipeline you build in Lab 3.</a:t>
            </a:r>
          </a:p>
          <a:p/>
          <a:p>
            <a:r>
              <a:t>ASK THE ROOM: Which of the four LLM limits from earlier does retrieval fix?</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RAG has two phases. First, indexing, done once. Step one: chunk. A large document must be split into pieces, because the embedding model has an input limit and because one vector for a whole document blurs every topic together. Step two: embed. Each chunk becomes a vector. Step three: store the vectors in a vector database together with the original text. In our lab the articles are so short that one article is one chunk, but you will still see a chunker with overlap in action.</a:t>
            </a:r>
          </a:p>
          <a:p/>
          <a:p>
            <a:r>
              <a:t>ASK THE ROOM: Why not embed a 100-page manual as a single vector?</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Then, for every question, phase B. Step four: the user asks. Step five: embed the question with the same model, because vectors from different models live in different spaces and cannot be compared. Step six: retrieve the top matching chunks from the vector database, the k nearest vectors. These are the candidates the LLM will read.</a:t>
            </a:r>
          </a:p>
          <a:p/>
          <a:p>
            <a:r>
              <a:t>ASK THE ROOM: What breaks if the question is embedded with a different model than the articles?</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Step seven is optional: a re-ranker, often a cross-encoder, reads the question together with each candidate chunk and sorts them better. Not every RAG app does this, and we skip it in the lab. Step eight: generate. A prompt template combines the question and the retrieved chunks, and the LLM answers only from them and cites its sources. This is where the grounding happens.</a:t>
            </a:r>
          </a:p>
          <a:p/>
          <a:p>
            <a:r>
              <a:t>ASK THE ROOM: Why tell the model to answer only from the retrieved articles?</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RAG is powerful, not magic. It fails in recognisable ways. A question and its answer often use different words, so the most similar chunk is not always the one that answers. Bad chunking splits an idea in half or mixes two topics. Some questions need aggregation, like how many tickets, which retrieval cannot do at all: that is a SQL question. And if the retrieved articles are wrong or outdated, the answer will be too. The safest default is the bottom strip: if the articles do not answer the question, the model should say it does not know. You will test exactly that in Lab 3.</a:t>
            </a:r>
          </a:p>
          <a:p/>
          <a:p>
            <a:r>
              <a:t>ASK THE ROOM: Which of these four would be hardest to detect in production?</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five is a short recap. The whole flow in one picture, how to decide between SQL and RAG, and what a real project needs beyond a prototype.</a:t>
            </a:r>
          </a:p>
          <a:p/>
          <a:p>
            <a:r>
              <a:t>TIME: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put everything together. Raw tickets are extracted, cleaned with pandas and loaded into the database. From the database, two paths: SQL feeds the dashboard with numbers. Embeddings and vector search feed the LLM with knowledge, so it can answer with sources. A web app brings both to users, and an agent can choose between the two paths on its own. At the bottom is the decision guide you will use all afternoon: counting and averaging is SQL, finding knowledge is RAG, and questions that need both are where an agent shines.</a:t>
            </a:r>
          </a:p>
          <a:p/>
          <a:p>
            <a:r>
              <a:t>ASK THE ROOM: Which path would answer: what is our refund policy?</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workshop prototype and a real product are far apart. Before shipping, ask: does the data contain personal information, and are we allowed to use it this way? What will the API calls cost at ten thousand users? How do we measure whether answers are good: do we have a test set of questions? How do we monitor it after launch, and who reviews the answers that matter? These questions are as important as the code. On the right, three ways to keep learning after today.</a:t>
            </a:r>
          </a:p>
          <a:p/>
          <a:p>
            <a:r>
              <a:t>ASK THE ROOM: Which of these five would a manager ask about first?</a:t>
            </a:r>
          </a:p>
          <a:p/>
          <a:p>
            <a:r>
              <a:t>TIME: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six is the bridge to the afternoon. The project, a preview of each lab, and a checklist so we start smoothly.</a:t>
            </a:r>
          </a:p>
          <a:p/>
          <a:p>
            <a:r>
              <a:t>TIME: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the project. You are building a Customer Support Intelligence Platform. It takes real support tickets from a Kaggle dataset and turns them into insights, and it answers support questions from a separate knowledge base. Five notebooks, each building on the last: forty-five minutes on data and SQL, twenty-five on the dashboard, fifty on embeddings and RAG, forty on the app, and an optional bonus on agents. Then a short review where you show what you made. Every notebook explains what it does and what you should see, so you can always check your own progress.</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are the tools you will meet. Python is the language of every lab. pandas holds and cleans tables in memory. PostgreSQL is the relational database, and Supabase hosts it for us, with the pgvector extension for vector search. Kaggle is where the ticket data comes from. Plotly draws the interactive charts. Streamlit turns a Python script into a web app. Google Colab runs the notebooks in your browser, so nothing needs installing. OpenAI provides the embeddings and the language model. LangChain is the framework behind the bonus agent. You do not need to know any of them already: each lab explains the part you use.</a:t>
            </a:r>
          </a:p>
          <a:p/>
          <a:p>
            <a:r>
              <a:t>ASK THE ROOM: Which of these have you used before?</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Lab 1 is the foundation, so please do not skip it: every other notebook reads the table you create here. You connect to the database, look at the schema, extract raw tickets, clean them in small steps, load them with an UPSERT, and then ask business questions with SQL. You write five short pieces of code: which columns must not be missing, how to remove duplicates, how to compute the resolution time, a JOIN with GROUP BY, and a closed rate. Each step tells you what you should see.</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Lab 2 turns the table into pictures. You read your clean data back from the database, build the KPIs, and draw five kinds of chart with Plotly. Four small TODOs make you decide how numbers map to a chart. The most important part is the end: write one finding and one caveat about what you see. That habit is worth more than any chart.</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Lab 3 is the AI heart of the day. It starts with a tiny two-dimensional vector space, so you can see what similarity means. Then you follow the eight steps of RAG with real OpenAI embeddings and pgvector: embed a new article, search for the closest articles with SQL, and let the LLM answer from them, with citations. Finally you ask a question the knowledge base cannot answer, and watch the model refuse. You will need your own budgeted OpenAI key.</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Lab 4 shows how everything fits together in a real web app. The notebook writes the app file in eight pieces, each explained: settings, database access, the AI helpers, the sidebar, the dashboard tab and the chat tab. There are no blanks to fill, instead you change the app and see what happens. Remember that Streamlit runs as a separate server, so the instructor starts it, and Colab only generates the file.</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bonus lab is optional and comes after the core labs. You turn your RAG code into a tool, add a second tool for ticket numbers, and build an agent that chooses. You test each tool by hand first, including an unsafe input that gets refused. Then you ask two questions and inspect what the agent actually did. The bonus is not required to complete the workshop.</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short checklist so the afternoon starts smoothly. Open the notebooks in Google Colab, or in local Jupyter. The instructor will give each team a number, a password, the project reference and the pooler host. Keep those in a .env file, or type them when the notebook asks, but never write them inside the notebook. Use your own budgeted OpenAI key for the AI labs, and never the instructor's master key. Run Lab 1 first, because the other labs read the table it creates. And if you get stuck: read the "what you should see" notes first, then ask. Asking is part of the job.</a:t>
            </a:r>
          </a:p>
          <a:p/>
          <a:p>
            <a:r>
              <a:t>ASK THE ROOM: Any questions before we start?</a:t>
            </a:r>
          </a:p>
          <a:p/>
          <a:p>
            <a:r>
              <a:t>TIME: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Thank you. Take a short break, then we start Lab 1. Questions are welcome now or at any point this afternoon.</a:t>
            </a:r>
          </a:p>
          <a:p/>
          <a:p>
            <a:r>
              <a:t>TIME: about 1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hyperlink" Target="http://fptsoftware.com/"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hyperlink" Target="http://fptsoftware.com/"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3.png"/></Relationships>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4FF1-07D4-4DA2-9308-728B1110CAC9}"/>
              </a:ext>
            </a:extLst>
          </p:cNvPr>
          <p:cNvSpPr>
            <a:spLocks noGrp="1"/>
          </p:cNvSpPr>
          <p:nvPr>
            <p:ph type="title" hasCustomPrompt="1"/>
          </p:nvPr>
        </p:nvSpPr>
        <p:spPr>
          <a:xfrm>
            <a:off x="652402" y="1578794"/>
            <a:ext cx="7010039" cy="1838325"/>
          </a:xfrm>
        </p:spPr>
        <p:txBody>
          <a:bodyPr anchor="t">
            <a:noAutofit/>
          </a:bodyPr>
          <a:lstStyle>
            <a:lvl1pPr algn="l">
              <a:defRPr sz="6600">
                <a:solidFill>
                  <a:schemeClr val="accent1"/>
                </a:solidFill>
              </a:defRPr>
            </a:lvl1pPr>
          </a:lstStyle>
          <a:p>
            <a:r>
              <a:rPr lang="en-US"/>
              <a:t>PRESENTATION TITLE</a:t>
            </a:r>
          </a:p>
        </p:txBody>
      </p:sp>
      <p:sp>
        <p:nvSpPr>
          <p:cNvPr id="9" name="Text Placeholder 8">
            <a:extLst>
              <a:ext uri="{FF2B5EF4-FFF2-40B4-BE49-F238E27FC236}">
                <a16:creationId xmlns:a16="http://schemas.microsoft.com/office/drawing/2014/main" id="{DC005294-4039-425F-B756-D80200F5DA5F}"/>
              </a:ext>
            </a:extLst>
          </p:cNvPr>
          <p:cNvSpPr>
            <a:spLocks noGrp="1"/>
          </p:cNvSpPr>
          <p:nvPr>
            <p:ph type="body" sz="quarter" idx="11" hasCustomPrompt="1"/>
          </p:nvPr>
        </p:nvSpPr>
        <p:spPr>
          <a:xfrm>
            <a:off x="673100" y="3440881"/>
            <a:ext cx="4470400" cy="512763"/>
          </a:xfrm>
          <a:prstGeom prst="rect">
            <a:avLst/>
          </a:prstGeom>
        </p:spPr>
        <p:txBody>
          <a:bodyPr/>
          <a:lstStyle>
            <a:lvl1pPr marL="0" indent="0">
              <a:buNone/>
              <a:defRPr b="1">
                <a:solidFill>
                  <a:schemeClr val="bg1"/>
                </a:solidFill>
              </a:defRPr>
            </a:lvl1pPr>
          </a:lstStyle>
          <a:p>
            <a:pPr lvl="0"/>
            <a:r>
              <a:rPr lang="en-US"/>
              <a:t>Presentation Subtitle</a:t>
            </a:r>
          </a:p>
        </p:txBody>
      </p:sp>
      <p:sp>
        <p:nvSpPr>
          <p:cNvPr id="16" name="Text Placeholder 15">
            <a:extLst>
              <a:ext uri="{FF2B5EF4-FFF2-40B4-BE49-F238E27FC236}">
                <a16:creationId xmlns:a16="http://schemas.microsoft.com/office/drawing/2014/main" id="{B184DF18-E7C5-5D77-14BB-440EB1EF2EFC}"/>
              </a:ext>
            </a:extLst>
          </p:cNvPr>
          <p:cNvSpPr>
            <a:spLocks noGrp="1"/>
          </p:cNvSpPr>
          <p:nvPr>
            <p:ph type="body" sz="quarter" idx="13" hasCustomPrompt="1"/>
          </p:nvPr>
        </p:nvSpPr>
        <p:spPr>
          <a:xfrm>
            <a:off x="827314" y="5993176"/>
            <a:ext cx="1819050" cy="407624"/>
          </a:xfrm>
          <a:custGeom>
            <a:avLst/>
            <a:gdLst>
              <a:gd name="connsiteX0" fmla="*/ 97317 w 1973263"/>
              <a:gd name="connsiteY0" fmla="*/ 0 h 407624"/>
              <a:gd name="connsiteX1" fmla="*/ 1890156 w 1973263"/>
              <a:gd name="connsiteY1" fmla="*/ 0 h 407624"/>
              <a:gd name="connsiteX2" fmla="*/ 1958970 w 1973263"/>
              <a:gd name="connsiteY2" fmla="*/ 28504 h 407624"/>
              <a:gd name="connsiteX3" fmla="*/ 1973263 w 1973263"/>
              <a:gd name="connsiteY3" fmla="*/ 49704 h 407624"/>
              <a:gd name="connsiteX4" fmla="*/ 1973263 w 1973263"/>
              <a:gd name="connsiteY4" fmla="*/ 368938 h 407624"/>
              <a:gd name="connsiteX5" fmla="*/ 1958970 w 1973263"/>
              <a:gd name="connsiteY5" fmla="*/ 390138 h 407624"/>
              <a:gd name="connsiteX6" fmla="*/ 1933034 w 1973263"/>
              <a:gd name="connsiteY6" fmla="*/ 407624 h 407624"/>
              <a:gd name="connsiteX7" fmla="*/ 54439 w 1973263"/>
              <a:gd name="connsiteY7" fmla="*/ 407624 h 407624"/>
              <a:gd name="connsiteX8" fmla="*/ 28503 w 1973263"/>
              <a:gd name="connsiteY8" fmla="*/ 390138 h 407624"/>
              <a:gd name="connsiteX9" fmla="*/ 0 w 1973263"/>
              <a:gd name="connsiteY9" fmla="*/ 321324 h 407624"/>
              <a:gd name="connsiteX10" fmla="*/ 0 w 1973263"/>
              <a:gd name="connsiteY10" fmla="*/ 97317 h 407624"/>
              <a:gd name="connsiteX11" fmla="*/ 97317 w 1973263"/>
              <a:gd name="connsiteY11" fmla="*/ 0 h 40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73263" h="407624">
                <a:moveTo>
                  <a:pt x="97317" y="0"/>
                </a:moveTo>
                <a:lnTo>
                  <a:pt x="1890156" y="0"/>
                </a:lnTo>
                <a:cubicBezTo>
                  <a:pt x="1917030" y="0"/>
                  <a:pt x="1941359" y="10893"/>
                  <a:pt x="1958970" y="28504"/>
                </a:cubicBezTo>
                <a:lnTo>
                  <a:pt x="1973263" y="49704"/>
                </a:lnTo>
                <a:lnTo>
                  <a:pt x="1973263" y="368938"/>
                </a:lnTo>
                <a:lnTo>
                  <a:pt x="1958970" y="390138"/>
                </a:lnTo>
                <a:lnTo>
                  <a:pt x="1933034" y="407624"/>
                </a:lnTo>
                <a:lnTo>
                  <a:pt x="54439" y="407624"/>
                </a:lnTo>
                <a:lnTo>
                  <a:pt x="28503" y="390138"/>
                </a:lnTo>
                <a:cubicBezTo>
                  <a:pt x="10893" y="372527"/>
                  <a:pt x="0" y="348198"/>
                  <a:pt x="0" y="321324"/>
                </a:cubicBezTo>
                <a:lnTo>
                  <a:pt x="0" y="97317"/>
                </a:lnTo>
                <a:cubicBezTo>
                  <a:pt x="0" y="43570"/>
                  <a:pt x="43570" y="0"/>
                  <a:pt x="97317" y="0"/>
                </a:cubicBezTo>
                <a:close/>
              </a:path>
            </a:pathLst>
          </a:custGeom>
          <a:solidFill>
            <a:schemeClr val="accent1">
              <a:alpha val="20000"/>
            </a:schemeClr>
          </a:solidFill>
          <a:ln>
            <a:solidFill>
              <a:schemeClr val="accent1"/>
            </a:solidFill>
          </a:ln>
        </p:spPr>
        <p:txBody>
          <a:bodyPr wrap="square" anchor="ctr">
            <a:noAutofit/>
          </a:bodyPr>
          <a:lstStyle>
            <a:lvl1pPr marL="0" indent="0" algn="ctr">
              <a:buNone/>
              <a:defRPr sz="1200">
                <a:solidFill>
                  <a:schemeClr val="bg1"/>
                </a:solidFill>
              </a:defRPr>
            </a:lvl1pPr>
          </a:lstStyle>
          <a:p>
            <a:pPr lvl="0"/>
            <a:r>
              <a:rPr lang="en-US"/>
              <a:t>Location &amp; Date</a:t>
            </a:r>
            <a:endParaRPr lang="en-VN"/>
          </a:p>
        </p:txBody>
      </p:sp>
      <p:pic>
        <p:nvPicPr>
          <p:cNvPr id="17" name="Picture 16">
            <a:extLst>
              <a:ext uri="{FF2B5EF4-FFF2-40B4-BE49-F238E27FC236}">
                <a16:creationId xmlns:a16="http://schemas.microsoft.com/office/drawing/2014/main" id="{854C72DD-406E-8F98-77F8-AA690E1B5EE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59599" y="704334"/>
            <a:ext cx="940168" cy="610517"/>
          </a:xfrm>
          <a:prstGeom prst="rect">
            <a:avLst/>
          </a:prstGeom>
        </p:spPr>
      </p:pic>
    </p:spTree>
    <p:extLst>
      <p:ext uri="{BB962C8B-B14F-4D97-AF65-F5344CB8AC3E}">
        <p14:creationId xmlns:p14="http://schemas.microsoft.com/office/powerpoint/2010/main" val="1167008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408C1F-36D7-4D35-BDE8-B1228F5B2E0E}"/>
              </a:ext>
            </a:extLst>
          </p:cNvPr>
          <p:cNvSpPr/>
          <p:nvPr userDrawn="1"/>
        </p:nvSpPr>
        <p:spPr>
          <a:xfrm>
            <a:off x="0" y="0"/>
            <a:ext cx="5211271" cy="68737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71A51309-ED78-49DD-BE83-5DB1E5DF62D1}"/>
              </a:ext>
            </a:extLst>
          </p:cNvPr>
          <p:cNvSpPr>
            <a:spLocks noGrp="1"/>
          </p:cNvSpPr>
          <p:nvPr>
            <p:ph type="title" hasCustomPrompt="1"/>
          </p:nvPr>
        </p:nvSpPr>
        <p:spPr>
          <a:xfrm>
            <a:off x="594991" y="2435283"/>
            <a:ext cx="3499338" cy="1987435"/>
          </a:xfrm>
        </p:spPr>
        <p:txBody>
          <a:bodyPr>
            <a:normAutofit/>
          </a:bodyPr>
          <a:lstStyle>
            <a:lvl1pPr algn="l">
              <a:defRPr sz="4800">
                <a:solidFill>
                  <a:schemeClr val="accent5"/>
                </a:solidFill>
                <a:latin typeface="+mj-lt"/>
              </a:defRPr>
            </a:lvl1pPr>
          </a:lstStyle>
          <a:p>
            <a:r>
              <a:rPr lang="en-US"/>
              <a:t>Table of Contents</a:t>
            </a:r>
          </a:p>
        </p:txBody>
      </p:sp>
      <p:sp>
        <p:nvSpPr>
          <p:cNvPr id="27" name="Oval 26">
            <a:extLst>
              <a:ext uri="{FF2B5EF4-FFF2-40B4-BE49-F238E27FC236}">
                <a16:creationId xmlns:a16="http://schemas.microsoft.com/office/drawing/2014/main" id="{B198EE9B-CC71-4291-AC99-CF51EE8F1772}"/>
              </a:ext>
            </a:extLst>
          </p:cNvPr>
          <p:cNvSpPr>
            <a:spLocks noChangeAspect="1"/>
          </p:cNvSpPr>
          <p:nvPr/>
        </p:nvSpPr>
        <p:spPr>
          <a:xfrm flipH="1">
            <a:off x="4799761" y="1149171"/>
            <a:ext cx="663183" cy="663183"/>
          </a:xfrm>
          <a:prstGeom prst="ellipse">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36" name="Text Placeholder 35">
            <a:extLst>
              <a:ext uri="{FF2B5EF4-FFF2-40B4-BE49-F238E27FC236}">
                <a16:creationId xmlns:a16="http://schemas.microsoft.com/office/drawing/2014/main" id="{8ACF95C0-917D-4D11-A75C-5B8FEAC50637}"/>
              </a:ext>
            </a:extLst>
          </p:cNvPr>
          <p:cNvSpPr>
            <a:spLocks noGrp="1"/>
          </p:cNvSpPr>
          <p:nvPr>
            <p:ph type="body" sz="quarter" idx="10" hasCustomPrompt="1"/>
          </p:nvPr>
        </p:nvSpPr>
        <p:spPr>
          <a:xfrm>
            <a:off x="4773370" y="1116158"/>
            <a:ext cx="715963" cy="750888"/>
          </a:xfrm>
          <a:prstGeom prst="rect">
            <a:avLst/>
          </a:prstGeom>
        </p:spPr>
        <p:txBody>
          <a:bodyPr anchor="ctr"/>
          <a:lstStyle>
            <a:lvl1pPr marL="0" indent="0" algn="ctr">
              <a:buNone/>
              <a:defRPr b="1">
                <a:solidFill>
                  <a:schemeClr val="bg1"/>
                </a:solidFill>
              </a:defRPr>
            </a:lvl1pPr>
          </a:lstStyle>
          <a:p>
            <a:pPr lvl="0"/>
            <a:r>
              <a:rPr lang="en-US"/>
              <a:t>1</a:t>
            </a:r>
          </a:p>
        </p:txBody>
      </p:sp>
      <p:sp>
        <p:nvSpPr>
          <p:cNvPr id="38" name="Text Placeholder 37">
            <a:extLst>
              <a:ext uri="{FF2B5EF4-FFF2-40B4-BE49-F238E27FC236}">
                <a16:creationId xmlns:a16="http://schemas.microsoft.com/office/drawing/2014/main" id="{5F3AD085-35DA-4126-8032-837EC5B226AB}"/>
              </a:ext>
            </a:extLst>
          </p:cNvPr>
          <p:cNvSpPr>
            <a:spLocks noGrp="1"/>
          </p:cNvSpPr>
          <p:nvPr>
            <p:ph type="body" sz="quarter" idx="11" hasCustomPrompt="1"/>
          </p:nvPr>
        </p:nvSpPr>
        <p:spPr>
          <a:xfrm>
            <a:off x="5721985" y="1282211"/>
            <a:ext cx="4641850" cy="418782"/>
          </a:xfrm>
          <a:prstGeom prst="rect">
            <a:avLst/>
          </a:prstGeom>
        </p:spPr>
        <p:txBody>
          <a:bodyPr anchor="ctr"/>
          <a:lstStyle>
            <a:lvl1pPr marL="0" indent="0">
              <a:buNone/>
              <a:defRPr sz="2400" b="1">
                <a:solidFill>
                  <a:schemeClr val="bg1"/>
                </a:solidFill>
              </a:defRPr>
            </a:lvl1pPr>
          </a:lstStyle>
          <a:p>
            <a:pPr lvl="0"/>
            <a:r>
              <a:rPr lang="en-US"/>
              <a:t>Insert Text Here</a:t>
            </a:r>
          </a:p>
        </p:txBody>
      </p:sp>
      <p:sp>
        <p:nvSpPr>
          <p:cNvPr id="39" name="Oval 38">
            <a:extLst>
              <a:ext uri="{FF2B5EF4-FFF2-40B4-BE49-F238E27FC236}">
                <a16:creationId xmlns:a16="http://schemas.microsoft.com/office/drawing/2014/main" id="{A8FF950F-79F6-4CDD-9330-D3BA307DC11D}"/>
              </a:ext>
            </a:extLst>
          </p:cNvPr>
          <p:cNvSpPr>
            <a:spLocks noChangeAspect="1"/>
          </p:cNvSpPr>
          <p:nvPr userDrawn="1"/>
        </p:nvSpPr>
        <p:spPr>
          <a:xfrm flipH="1">
            <a:off x="4799761" y="2433333"/>
            <a:ext cx="663183" cy="663183"/>
          </a:xfrm>
          <a:prstGeom prst="ellipse">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0" name="Text Placeholder 35">
            <a:extLst>
              <a:ext uri="{FF2B5EF4-FFF2-40B4-BE49-F238E27FC236}">
                <a16:creationId xmlns:a16="http://schemas.microsoft.com/office/drawing/2014/main" id="{F40E2537-234C-4137-8112-241AD7B56DE2}"/>
              </a:ext>
            </a:extLst>
          </p:cNvPr>
          <p:cNvSpPr>
            <a:spLocks noGrp="1"/>
          </p:cNvSpPr>
          <p:nvPr>
            <p:ph type="body" sz="quarter" idx="12" hasCustomPrompt="1"/>
          </p:nvPr>
        </p:nvSpPr>
        <p:spPr>
          <a:xfrm>
            <a:off x="4773370" y="2400320"/>
            <a:ext cx="715963" cy="750888"/>
          </a:xfrm>
          <a:prstGeom prst="rect">
            <a:avLst/>
          </a:prstGeom>
        </p:spPr>
        <p:txBody>
          <a:bodyPr anchor="ctr"/>
          <a:lstStyle>
            <a:lvl1pPr marL="0" indent="0" algn="ctr">
              <a:buNone/>
              <a:defRPr b="1">
                <a:solidFill>
                  <a:schemeClr val="bg1"/>
                </a:solidFill>
              </a:defRPr>
            </a:lvl1pPr>
          </a:lstStyle>
          <a:p>
            <a:pPr lvl="0"/>
            <a:r>
              <a:rPr lang="en-US"/>
              <a:t>2</a:t>
            </a:r>
          </a:p>
        </p:txBody>
      </p:sp>
      <p:sp>
        <p:nvSpPr>
          <p:cNvPr id="41" name="Text Placeholder 37">
            <a:extLst>
              <a:ext uri="{FF2B5EF4-FFF2-40B4-BE49-F238E27FC236}">
                <a16:creationId xmlns:a16="http://schemas.microsoft.com/office/drawing/2014/main" id="{09A29FCB-F5DB-4E0E-950F-1B54031C30A7}"/>
              </a:ext>
            </a:extLst>
          </p:cNvPr>
          <p:cNvSpPr>
            <a:spLocks noGrp="1"/>
          </p:cNvSpPr>
          <p:nvPr>
            <p:ph type="body" sz="quarter" idx="13" hasCustomPrompt="1"/>
          </p:nvPr>
        </p:nvSpPr>
        <p:spPr>
          <a:xfrm>
            <a:off x="5721985" y="2566373"/>
            <a:ext cx="4641850" cy="418782"/>
          </a:xfrm>
          <a:prstGeom prst="rect">
            <a:avLst/>
          </a:prstGeom>
        </p:spPr>
        <p:txBody>
          <a:bodyPr anchor="ctr"/>
          <a:lstStyle>
            <a:lvl1pPr marL="0" indent="0">
              <a:buNone/>
              <a:defRPr sz="2400" b="1">
                <a:solidFill>
                  <a:schemeClr val="bg1"/>
                </a:solidFill>
              </a:defRPr>
            </a:lvl1pPr>
          </a:lstStyle>
          <a:p>
            <a:pPr lvl="0"/>
            <a:r>
              <a:rPr lang="en-US"/>
              <a:t>Insert Text Here</a:t>
            </a:r>
          </a:p>
        </p:txBody>
      </p:sp>
      <p:sp>
        <p:nvSpPr>
          <p:cNvPr id="42" name="Oval 41">
            <a:extLst>
              <a:ext uri="{FF2B5EF4-FFF2-40B4-BE49-F238E27FC236}">
                <a16:creationId xmlns:a16="http://schemas.microsoft.com/office/drawing/2014/main" id="{4508D390-34BE-4FEB-ACDA-798F3A53814C}"/>
              </a:ext>
            </a:extLst>
          </p:cNvPr>
          <p:cNvSpPr>
            <a:spLocks noChangeAspect="1"/>
          </p:cNvSpPr>
          <p:nvPr userDrawn="1"/>
        </p:nvSpPr>
        <p:spPr>
          <a:xfrm flipH="1">
            <a:off x="4799761" y="3717495"/>
            <a:ext cx="663183" cy="663183"/>
          </a:xfrm>
          <a:prstGeom prst="ellipse">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3" name="Text Placeholder 35">
            <a:extLst>
              <a:ext uri="{FF2B5EF4-FFF2-40B4-BE49-F238E27FC236}">
                <a16:creationId xmlns:a16="http://schemas.microsoft.com/office/drawing/2014/main" id="{9EEE9285-C26C-4D0A-B628-73895C1A35FF}"/>
              </a:ext>
            </a:extLst>
          </p:cNvPr>
          <p:cNvSpPr>
            <a:spLocks noGrp="1"/>
          </p:cNvSpPr>
          <p:nvPr>
            <p:ph type="body" sz="quarter" idx="14" hasCustomPrompt="1"/>
          </p:nvPr>
        </p:nvSpPr>
        <p:spPr>
          <a:xfrm>
            <a:off x="4773370" y="3684482"/>
            <a:ext cx="715963" cy="750888"/>
          </a:xfrm>
          <a:prstGeom prst="rect">
            <a:avLst/>
          </a:prstGeom>
        </p:spPr>
        <p:txBody>
          <a:bodyPr anchor="ctr"/>
          <a:lstStyle>
            <a:lvl1pPr marL="0" indent="0" algn="ctr">
              <a:buNone/>
              <a:defRPr b="1">
                <a:solidFill>
                  <a:schemeClr val="bg1"/>
                </a:solidFill>
              </a:defRPr>
            </a:lvl1pPr>
          </a:lstStyle>
          <a:p>
            <a:pPr lvl="0"/>
            <a:r>
              <a:rPr lang="en-US"/>
              <a:t>3</a:t>
            </a:r>
          </a:p>
        </p:txBody>
      </p:sp>
      <p:sp>
        <p:nvSpPr>
          <p:cNvPr id="44" name="Text Placeholder 37">
            <a:extLst>
              <a:ext uri="{FF2B5EF4-FFF2-40B4-BE49-F238E27FC236}">
                <a16:creationId xmlns:a16="http://schemas.microsoft.com/office/drawing/2014/main" id="{227B5299-F469-4A87-A470-B9DA0B08B12E}"/>
              </a:ext>
            </a:extLst>
          </p:cNvPr>
          <p:cNvSpPr>
            <a:spLocks noGrp="1"/>
          </p:cNvSpPr>
          <p:nvPr>
            <p:ph type="body" sz="quarter" idx="15" hasCustomPrompt="1"/>
          </p:nvPr>
        </p:nvSpPr>
        <p:spPr>
          <a:xfrm>
            <a:off x="5721985" y="3850535"/>
            <a:ext cx="4641850" cy="418782"/>
          </a:xfrm>
          <a:prstGeom prst="rect">
            <a:avLst/>
          </a:prstGeom>
        </p:spPr>
        <p:txBody>
          <a:bodyPr anchor="ctr"/>
          <a:lstStyle>
            <a:lvl1pPr marL="0" indent="0">
              <a:buNone/>
              <a:defRPr sz="2400" b="1">
                <a:solidFill>
                  <a:schemeClr val="bg1"/>
                </a:solidFill>
              </a:defRPr>
            </a:lvl1pPr>
          </a:lstStyle>
          <a:p>
            <a:pPr lvl="0"/>
            <a:r>
              <a:rPr lang="en-US"/>
              <a:t>Insert Text Here</a:t>
            </a:r>
          </a:p>
        </p:txBody>
      </p:sp>
      <p:sp>
        <p:nvSpPr>
          <p:cNvPr id="47" name="Oval 46">
            <a:extLst>
              <a:ext uri="{FF2B5EF4-FFF2-40B4-BE49-F238E27FC236}">
                <a16:creationId xmlns:a16="http://schemas.microsoft.com/office/drawing/2014/main" id="{A4846BF9-1332-4D3B-8E34-F34516204BBB}"/>
              </a:ext>
            </a:extLst>
          </p:cNvPr>
          <p:cNvSpPr>
            <a:spLocks noChangeAspect="1"/>
          </p:cNvSpPr>
          <p:nvPr userDrawn="1"/>
        </p:nvSpPr>
        <p:spPr>
          <a:xfrm flipH="1">
            <a:off x="4799761" y="5001657"/>
            <a:ext cx="663183" cy="663183"/>
          </a:xfrm>
          <a:prstGeom prst="ellipse">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8" name="Text Placeholder 35">
            <a:extLst>
              <a:ext uri="{FF2B5EF4-FFF2-40B4-BE49-F238E27FC236}">
                <a16:creationId xmlns:a16="http://schemas.microsoft.com/office/drawing/2014/main" id="{19B10AA1-A595-45E7-8158-46166BB3D1A2}"/>
              </a:ext>
            </a:extLst>
          </p:cNvPr>
          <p:cNvSpPr>
            <a:spLocks noGrp="1"/>
          </p:cNvSpPr>
          <p:nvPr>
            <p:ph type="body" sz="quarter" idx="16" hasCustomPrompt="1"/>
          </p:nvPr>
        </p:nvSpPr>
        <p:spPr>
          <a:xfrm>
            <a:off x="4773370" y="4968644"/>
            <a:ext cx="715963" cy="750888"/>
          </a:xfrm>
          <a:prstGeom prst="rect">
            <a:avLst/>
          </a:prstGeom>
        </p:spPr>
        <p:txBody>
          <a:bodyPr anchor="ctr"/>
          <a:lstStyle>
            <a:lvl1pPr marL="0" indent="0" algn="ctr">
              <a:buNone/>
              <a:defRPr b="1">
                <a:solidFill>
                  <a:schemeClr val="bg1"/>
                </a:solidFill>
              </a:defRPr>
            </a:lvl1pPr>
          </a:lstStyle>
          <a:p>
            <a:pPr lvl="0"/>
            <a:r>
              <a:rPr lang="en-US"/>
              <a:t>4</a:t>
            </a:r>
          </a:p>
        </p:txBody>
      </p:sp>
      <p:sp>
        <p:nvSpPr>
          <p:cNvPr id="49" name="Text Placeholder 37">
            <a:extLst>
              <a:ext uri="{FF2B5EF4-FFF2-40B4-BE49-F238E27FC236}">
                <a16:creationId xmlns:a16="http://schemas.microsoft.com/office/drawing/2014/main" id="{81581210-47C6-48C7-AA3D-0D8EAEA50852}"/>
              </a:ext>
            </a:extLst>
          </p:cNvPr>
          <p:cNvSpPr>
            <a:spLocks noGrp="1"/>
          </p:cNvSpPr>
          <p:nvPr>
            <p:ph type="body" sz="quarter" idx="17" hasCustomPrompt="1"/>
          </p:nvPr>
        </p:nvSpPr>
        <p:spPr>
          <a:xfrm>
            <a:off x="5721985" y="5134697"/>
            <a:ext cx="4641850" cy="418782"/>
          </a:xfrm>
          <a:prstGeom prst="rect">
            <a:avLst/>
          </a:prstGeom>
        </p:spPr>
        <p:txBody>
          <a:bodyPr anchor="ctr"/>
          <a:lstStyle>
            <a:lvl1pPr marL="0" indent="0">
              <a:buNone/>
              <a:defRPr sz="2400" b="1">
                <a:solidFill>
                  <a:schemeClr val="bg1"/>
                </a:solidFill>
              </a:defRPr>
            </a:lvl1pPr>
          </a:lstStyle>
          <a:p>
            <a:pPr lvl="0"/>
            <a:r>
              <a:rPr lang="en-US"/>
              <a:t>Insert Text Here</a:t>
            </a:r>
          </a:p>
        </p:txBody>
      </p:sp>
      <p:pic>
        <p:nvPicPr>
          <p:cNvPr id="4" name="Picture 3">
            <a:extLst>
              <a:ext uri="{FF2B5EF4-FFF2-40B4-BE49-F238E27FC236}">
                <a16:creationId xmlns:a16="http://schemas.microsoft.com/office/drawing/2014/main" id="{7B760DEF-B16A-F290-9859-F923C7455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948575" y="296561"/>
            <a:ext cx="940168" cy="610517"/>
          </a:xfrm>
          <a:prstGeom prst="rect">
            <a:avLst/>
          </a:prstGeom>
        </p:spPr>
      </p:pic>
    </p:spTree>
    <p:extLst>
      <p:ext uri="{BB962C8B-B14F-4D97-AF65-F5344CB8AC3E}">
        <p14:creationId xmlns:p14="http://schemas.microsoft.com/office/powerpoint/2010/main" val="4205303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078B-D54D-4BF3-9088-98B2094F9A22}"/>
              </a:ext>
            </a:extLst>
          </p:cNvPr>
          <p:cNvSpPr>
            <a:spLocks noGrp="1"/>
          </p:cNvSpPr>
          <p:nvPr>
            <p:ph type="title" hasCustomPrompt="1"/>
          </p:nvPr>
        </p:nvSpPr>
        <p:spPr>
          <a:xfrm>
            <a:off x="557340" y="3310362"/>
            <a:ext cx="10515600" cy="2380782"/>
          </a:xfrm>
        </p:spPr>
        <p:txBody>
          <a:bodyPr anchor="b">
            <a:noAutofit/>
          </a:bodyPr>
          <a:lstStyle>
            <a:lvl1pPr algn="l">
              <a:lnSpc>
                <a:spcPct val="100000"/>
              </a:lnSpc>
              <a:defRPr sz="6600">
                <a:solidFill>
                  <a:schemeClr val="bg1"/>
                </a:solidFill>
                <a:latin typeface="+mj-lt"/>
              </a:defRPr>
            </a:lvl1pPr>
          </a:lstStyle>
          <a:p>
            <a:r>
              <a:rPr lang="en-US"/>
              <a:t>01.</a:t>
            </a:r>
            <a:br>
              <a:rPr lang="en-US"/>
            </a:br>
            <a:r>
              <a:rPr lang="en-US"/>
              <a:t>INSERT SECTION TITLE</a:t>
            </a:r>
          </a:p>
        </p:txBody>
      </p:sp>
      <p:sp>
        <p:nvSpPr>
          <p:cNvPr id="8" name="Text Placeholder 7">
            <a:extLst>
              <a:ext uri="{FF2B5EF4-FFF2-40B4-BE49-F238E27FC236}">
                <a16:creationId xmlns:a16="http://schemas.microsoft.com/office/drawing/2014/main" id="{2A794A12-76E1-4D71-8060-28F9C9DB7AE4}"/>
              </a:ext>
            </a:extLst>
          </p:cNvPr>
          <p:cNvSpPr>
            <a:spLocks noGrp="1"/>
          </p:cNvSpPr>
          <p:nvPr>
            <p:ph type="body" sz="quarter" idx="10" hasCustomPrompt="1"/>
          </p:nvPr>
        </p:nvSpPr>
        <p:spPr>
          <a:xfrm>
            <a:off x="557340" y="5815970"/>
            <a:ext cx="10515600" cy="647468"/>
          </a:xfrm>
          <a:prstGeom prst="rect">
            <a:avLst/>
          </a:prstGeom>
        </p:spPr>
        <p:txBody>
          <a:bodyPr/>
          <a:lstStyle>
            <a:lvl1pPr marL="0" indent="0">
              <a:buNone/>
              <a:defRPr sz="3600" b="1" i="1">
                <a:solidFill>
                  <a:schemeClr val="bg1"/>
                </a:solidFill>
              </a:defRPr>
            </a:lvl1pPr>
          </a:lstStyle>
          <a:p>
            <a:pPr lvl="0"/>
            <a:r>
              <a:rPr lang="en-US"/>
              <a:t>Section Subtitle</a:t>
            </a:r>
          </a:p>
        </p:txBody>
      </p:sp>
      <p:pic>
        <p:nvPicPr>
          <p:cNvPr id="3" name="Picture 2">
            <a:extLst>
              <a:ext uri="{FF2B5EF4-FFF2-40B4-BE49-F238E27FC236}">
                <a16:creationId xmlns:a16="http://schemas.microsoft.com/office/drawing/2014/main" id="{D9BAE671-68E4-93E5-37F1-891C64245EE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8328" y="491728"/>
            <a:ext cx="1123976" cy="729876"/>
          </a:xfrm>
          <a:prstGeom prst="rect">
            <a:avLst/>
          </a:prstGeom>
        </p:spPr>
      </p:pic>
    </p:spTree>
    <p:extLst>
      <p:ext uri="{BB962C8B-B14F-4D97-AF65-F5344CB8AC3E}">
        <p14:creationId xmlns:p14="http://schemas.microsoft.com/office/powerpoint/2010/main" val="11447591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a:t>INSERT TITLE HERE</a:t>
            </a:r>
            <a:endParaRPr lang="en-VN"/>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C2D7F75-570F-F74E-45BA-8FF00DF521E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err="1">
                <a:hlinkClick r:id="rId3">
                  <a:extLst>
                    <a:ext uri="{A12FA001-AC4F-418D-AE19-62706E023703}">
                      <ahyp:hlinkClr xmlns:ahyp="http://schemas.microsoft.com/office/drawing/2018/hyperlinkcolor" val="tx"/>
                    </a:ext>
                  </a:extLst>
                </a:hlinkClick>
              </a:rPr>
              <a:t>fptsoftware.com</a:t>
            </a:r>
            <a:r>
              <a:rPr lang="en-US">
                <a:hlinkClick r:id="rId3">
                  <a:extLst>
                    <a:ext uri="{A12FA001-AC4F-418D-AE19-62706E023703}">
                      <ahyp:hlinkClr xmlns:ahyp="http://schemas.microsoft.com/office/drawing/2018/hyperlinkcolor" val="tx"/>
                    </a:ext>
                  </a:extLst>
                </a:hlinkClick>
              </a:rPr>
              <a:t> </a:t>
            </a:r>
            <a:r>
              <a:rPr lang="en-US"/>
              <a:t>| </a:t>
            </a:r>
            <a:fld id="{E012F146-47F9-A646-B182-8CC39B8AD32B}" type="slidenum">
              <a:rPr lang="x-none" smtClean="0"/>
              <a:pPr/>
              <a:t>‹#›</a:t>
            </a:fld>
            <a:endParaRPr lang="x-none"/>
          </a:p>
        </p:txBody>
      </p:sp>
    </p:spTree>
    <p:extLst>
      <p:ext uri="{BB962C8B-B14F-4D97-AF65-F5344CB8AC3E}">
        <p14:creationId xmlns:p14="http://schemas.microsoft.com/office/powerpoint/2010/main" val="1679481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ull Tex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a:t>INSERT TITLE HERE</a:t>
            </a:r>
            <a:endParaRPr lang="en-VN"/>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B8D7FC30-8404-4884-9107-569302CF603E}"/>
              </a:ext>
            </a:extLst>
          </p:cNvPr>
          <p:cNvSpPr>
            <a:spLocks noGrp="1"/>
          </p:cNvSpPr>
          <p:nvPr>
            <p:ph type="body" sz="quarter" idx="15" hasCustomPrompt="1"/>
          </p:nvPr>
        </p:nvSpPr>
        <p:spPr>
          <a:xfrm>
            <a:off x="525463" y="1296989"/>
            <a:ext cx="111556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Heading Here</a:t>
            </a:r>
          </a:p>
        </p:txBody>
      </p:sp>
      <p:sp>
        <p:nvSpPr>
          <p:cNvPr id="19" name="Text Placeholder 17">
            <a:extLst>
              <a:ext uri="{FF2B5EF4-FFF2-40B4-BE49-F238E27FC236}">
                <a16:creationId xmlns:a16="http://schemas.microsoft.com/office/drawing/2014/main" id="{0A171719-15D5-4822-B95C-CE625735C9F0}"/>
              </a:ext>
            </a:extLst>
          </p:cNvPr>
          <p:cNvSpPr>
            <a:spLocks noGrp="1"/>
          </p:cNvSpPr>
          <p:nvPr>
            <p:ph type="body" sz="quarter" idx="16" hasCustomPrompt="1"/>
          </p:nvPr>
        </p:nvSpPr>
        <p:spPr>
          <a:xfrm>
            <a:off x="525463" y="2092854"/>
            <a:ext cx="11155675" cy="407645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4" name="Slide Number Placeholder 3">
            <a:extLst>
              <a:ext uri="{FF2B5EF4-FFF2-40B4-BE49-F238E27FC236}">
                <a16:creationId xmlns:a16="http://schemas.microsoft.com/office/drawing/2014/main" id="{B776C0E9-BBBC-F186-48E6-E2E903664BD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u="sng" err="1">
                <a:hlinkClick r:id="rId3">
                  <a:extLst>
                    <a:ext uri="{A12FA001-AC4F-418D-AE19-62706E023703}">
                      <ahyp:hlinkClr xmlns:ahyp="http://schemas.microsoft.com/office/drawing/2018/hyperlinkcolor" val="tx"/>
                    </a:ext>
                  </a:extLst>
                </a:hlinkClick>
              </a:rPr>
              <a:t>fptsoftware.com</a:t>
            </a:r>
            <a:r>
              <a:rPr lang="en-US">
                <a:hlinkClick r:id="rId3">
                  <a:extLst>
                    <a:ext uri="{A12FA001-AC4F-418D-AE19-62706E023703}">
                      <ahyp:hlinkClr xmlns:ahyp="http://schemas.microsoft.com/office/drawing/2018/hyperlinkcolor" val="tx"/>
                    </a:ext>
                  </a:extLst>
                </a:hlinkClick>
              </a:rPr>
              <a:t> </a:t>
            </a:r>
            <a:r>
              <a:rPr lang="en-US"/>
              <a:t>| </a:t>
            </a:r>
            <a:fld id="{E012F146-47F9-A646-B182-8CC39B8AD32B}" type="slidenum">
              <a:rPr lang="x-none" smtClean="0"/>
              <a:pPr/>
              <a:t>‹#›</a:t>
            </a:fld>
            <a:endParaRPr lang="x-none"/>
          </a:p>
        </p:txBody>
      </p:sp>
    </p:spTree>
    <p:extLst>
      <p:ext uri="{BB962C8B-B14F-4D97-AF65-F5344CB8AC3E}">
        <p14:creationId xmlns:p14="http://schemas.microsoft.com/office/powerpoint/2010/main" val="24793256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Pictur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a:t>INSERT TITLE HERE</a:t>
            </a:r>
            <a:endParaRPr lang="en-VN"/>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3">
            <a:extLst>
              <a:ext uri="{FF2B5EF4-FFF2-40B4-BE49-F238E27FC236}">
                <a16:creationId xmlns:a16="http://schemas.microsoft.com/office/drawing/2014/main" id="{535CBA73-2EF9-6C43-93B2-AD209F35944E}"/>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16" name="Picture Placeholder 3">
            <a:extLst>
              <a:ext uri="{FF2B5EF4-FFF2-40B4-BE49-F238E27FC236}">
                <a16:creationId xmlns:a16="http://schemas.microsoft.com/office/drawing/2014/main" id="{81F59C7E-EAF8-48D8-BD6D-7F882BFAC290}"/>
              </a:ext>
            </a:extLst>
          </p:cNvPr>
          <p:cNvSpPr>
            <a:spLocks noGrp="1"/>
          </p:cNvSpPr>
          <p:nvPr>
            <p:ph type="pic" sz="quarter" idx="13"/>
          </p:nvPr>
        </p:nvSpPr>
        <p:spPr>
          <a:xfrm>
            <a:off x="5753100" y="965200"/>
            <a:ext cx="6438900" cy="5892800"/>
          </a:xfrm>
          <a:prstGeom prst="rect">
            <a:avLst/>
          </a:prstGeom>
          <a:solidFill>
            <a:schemeClr val="bg1">
              <a:lumMod val="95000"/>
            </a:schemeClr>
          </a:solidFill>
        </p:spPr>
        <p:txBody>
          <a:bodyPr/>
          <a:lstStyle/>
          <a:p>
            <a:endParaRPr lang="en-US"/>
          </a:p>
        </p:txBody>
      </p:sp>
      <p:sp>
        <p:nvSpPr>
          <p:cNvPr id="18" name="Text Placeholder 17">
            <a:extLst>
              <a:ext uri="{FF2B5EF4-FFF2-40B4-BE49-F238E27FC236}">
                <a16:creationId xmlns:a16="http://schemas.microsoft.com/office/drawing/2014/main" id="{B8D7FC30-8404-4884-9107-569302CF603E}"/>
              </a:ext>
            </a:extLst>
          </p:cNvPr>
          <p:cNvSpPr>
            <a:spLocks noGrp="1"/>
          </p:cNvSpPr>
          <p:nvPr>
            <p:ph type="body" sz="quarter" idx="15" hasCustomPrompt="1"/>
          </p:nvPr>
        </p:nvSpPr>
        <p:spPr>
          <a:xfrm>
            <a:off x="525463" y="1296989"/>
            <a:ext cx="47529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Heading Here</a:t>
            </a:r>
          </a:p>
        </p:txBody>
      </p:sp>
      <p:sp>
        <p:nvSpPr>
          <p:cNvPr id="19" name="Text Placeholder 17">
            <a:extLst>
              <a:ext uri="{FF2B5EF4-FFF2-40B4-BE49-F238E27FC236}">
                <a16:creationId xmlns:a16="http://schemas.microsoft.com/office/drawing/2014/main" id="{0A171719-15D5-4822-B95C-CE625735C9F0}"/>
              </a:ext>
            </a:extLst>
          </p:cNvPr>
          <p:cNvSpPr>
            <a:spLocks noGrp="1"/>
          </p:cNvSpPr>
          <p:nvPr>
            <p:ph type="body" sz="quarter" idx="16" hasCustomPrompt="1"/>
          </p:nvPr>
        </p:nvSpPr>
        <p:spPr>
          <a:xfrm>
            <a:off x="525463" y="2092854"/>
            <a:ext cx="4752975" cy="407645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Tree>
    <p:extLst>
      <p:ext uri="{BB962C8B-B14F-4D97-AF65-F5344CB8AC3E}">
        <p14:creationId xmlns:p14="http://schemas.microsoft.com/office/powerpoint/2010/main" val="4398855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a:t>INSERT TITLE HERE</a:t>
            </a:r>
            <a:endParaRPr lang="en-VN"/>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9"/>
            <a:ext cx="4935176"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5" y="2066926"/>
            <a:ext cx="4935174" cy="3509532"/>
          </a:xfrm>
          <a:prstGeom prst="rect">
            <a:avLst/>
          </a:prstGeom>
        </p:spPr>
        <p:txBody>
          <a:bodyPr/>
          <a:lstStyle>
            <a:lvl1pPr marL="0" indent="0">
              <a:buNone/>
              <a:defRPr sz="1800"/>
            </a:lvl1pPr>
          </a:lstStyle>
          <a:p>
            <a:pPr lvl="0"/>
            <a:r>
              <a:rPr lang="en-US"/>
              <a:t>Insert Content Here</a:t>
            </a:r>
            <a:endParaRPr lang="en-VN"/>
          </a:p>
        </p:txBody>
      </p:sp>
      <p:cxnSp>
        <p:nvCxnSpPr>
          <p:cNvPr id="32" name="Straight Connector 31">
            <a:extLst>
              <a:ext uri="{FF2B5EF4-FFF2-40B4-BE49-F238E27FC236}">
                <a16:creationId xmlns:a16="http://schemas.microsoft.com/office/drawing/2014/main" id="{2BED7DC2-76AB-149E-169B-638E82B69D21}"/>
              </a:ext>
            </a:extLst>
          </p:cNvPr>
          <p:cNvCxnSpPr/>
          <p:nvPr userDrawn="1"/>
        </p:nvCxnSpPr>
        <p:spPr>
          <a:xfrm>
            <a:off x="6096000"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6" name="Text Placeholder 17">
            <a:extLst>
              <a:ext uri="{FF2B5EF4-FFF2-40B4-BE49-F238E27FC236}">
                <a16:creationId xmlns:a16="http://schemas.microsoft.com/office/drawing/2014/main" id="{11A45035-5520-B283-FDAD-9AD7D3B2FED1}"/>
              </a:ext>
            </a:extLst>
          </p:cNvPr>
          <p:cNvSpPr>
            <a:spLocks noGrp="1"/>
          </p:cNvSpPr>
          <p:nvPr>
            <p:ph type="body" sz="quarter" idx="18" hasCustomPrompt="1"/>
          </p:nvPr>
        </p:nvSpPr>
        <p:spPr>
          <a:xfrm>
            <a:off x="6731360" y="1296989"/>
            <a:ext cx="4935176"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37" name="Content Placeholder 17">
            <a:extLst>
              <a:ext uri="{FF2B5EF4-FFF2-40B4-BE49-F238E27FC236}">
                <a16:creationId xmlns:a16="http://schemas.microsoft.com/office/drawing/2014/main" id="{771508A5-F6E8-37D0-C414-214BA7EF65C3}"/>
              </a:ext>
            </a:extLst>
          </p:cNvPr>
          <p:cNvSpPr>
            <a:spLocks noGrp="1"/>
          </p:cNvSpPr>
          <p:nvPr>
            <p:ph sz="quarter" idx="19" hasCustomPrompt="1"/>
          </p:nvPr>
        </p:nvSpPr>
        <p:spPr>
          <a:xfrm>
            <a:off x="6731361" y="2066926"/>
            <a:ext cx="4935174" cy="3509532"/>
          </a:xfrm>
          <a:prstGeom prst="rect">
            <a:avLst/>
          </a:prstGeom>
        </p:spPr>
        <p:txBody>
          <a:bodyPr/>
          <a:lstStyle>
            <a:lvl1pPr marL="0" indent="0">
              <a:buNone/>
              <a:defRPr sz="1800"/>
            </a:lvl1pPr>
          </a:lstStyle>
          <a:p>
            <a:pPr lvl="0"/>
            <a:r>
              <a:rPr lang="en-US"/>
              <a:t>Insert Content Here</a:t>
            </a:r>
            <a:endParaRPr lang="en-VN"/>
          </a:p>
        </p:txBody>
      </p:sp>
      <p:sp>
        <p:nvSpPr>
          <p:cNvPr id="41" name="Text Placeholder 40">
            <a:extLst>
              <a:ext uri="{FF2B5EF4-FFF2-40B4-BE49-F238E27FC236}">
                <a16:creationId xmlns:a16="http://schemas.microsoft.com/office/drawing/2014/main" id="{9B0E3C92-C6F1-B2D1-6CC0-B5F33FC28E97}"/>
              </a:ext>
            </a:extLst>
          </p:cNvPr>
          <p:cNvSpPr>
            <a:spLocks noGrp="1"/>
          </p:cNvSpPr>
          <p:nvPr>
            <p:ph type="body" sz="quarter" idx="22" hasCustomPrompt="1"/>
          </p:nvPr>
        </p:nvSpPr>
        <p:spPr>
          <a:xfrm>
            <a:off x="525463" y="5821363"/>
            <a:ext cx="4936074"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42" name="Text Placeholder 40">
            <a:extLst>
              <a:ext uri="{FF2B5EF4-FFF2-40B4-BE49-F238E27FC236}">
                <a16:creationId xmlns:a16="http://schemas.microsoft.com/office/drawing/2014/main" id="{7DD73F62-D8D1-4184-EDBC-FFFD68720E86}"/>
              </a:ext>
            </a:extLst>
          </p:cNvPr>
          <p:cNvSpPr>
            <a:spLocks noGrp="1"/>
          </p:cNvSpPr>
          <p:nvPr>
            <p:ph type="body" sz="quarter" idx="23" hasCustomPrompt="1"/>
          </p:nvPr>
        </p:nvSpPr>
        <p:spPr>
          <a:xfrm>
            <a:off x="6731067" y="5821363"/>
            <a:ext cx="4936074"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2" name="Slide Number Placeholder 3">
            <a:extLst>
              <a:ext uri="{FF2B5EF4-FFF2-40B4-BE49-F238E27FC236}">
                <a16:creationId xmlns:a16="http://schemas.microsoft.com/office/drawing/2014/main" id="{D31CD726-8FDB-5275-F690-4C1B04DA3A6A}"/>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Tree>
    <p:extLst>
      <p:ext uri="{BB962C8B-B14F-4D97-AF65-F5344CB8AC3E}">
        <p14:creationId xmlns:p14="http://schemas.microsoft.com/office/powerpoint/2010/main" val="2160037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a:t>INSERT TITLE HERE</a:t>
            </a:r>
            <a:endParaRPr lang="en-VN"/>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9"/>
            <a:ext cx="3201404"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5" y="2066926"/>
            <a:ext cx="3201403" cy="3509532"/>
          </a:xfrm>
          <a:prstGeom prst="rect">
            <a:avLst/>
          </a:prstGeom>
        </p:spPr>
        <p:txBody>
          <a:bodyPr/>
          <a:lstStyle>
            <a:lvl1pPr marL="0" indent="0">
              <a:buNone/>
              <a:defRPr sz="1800"/>
            </a:lvl1pPr>
          </a:lstStyle>
          <a:p>
            <a:pPr lvl="0"/>
            <a:r>
              <a:rPr lang="en-US"/>
              <a:t>Insert Content Here</a:t>
            </a:r>
            <a:endParaRPr lang="en-VN"/>
          </a:p>
        </p:txBody>
      </p:sp>
      <p:cxnSp>
        <p:nvCxnSpPr>
          <p:cNvPr id="32" name="Straight Connector 31">
            <a:extLst>
              <a:ext uri="{FF2B5EF4-FFF2-40B4-BE49-F238E27FC236}">
                <a16:creationId xmlns:a16="http://schemas.microsoft.com/office/drawing/2014/main" id="{2BED7DC2-76AB-149E-169B-638E82B69D21}"/>
              </a:ext>
            </a:extLst>
          </p:cNvPr>
          <p:cNvCxnSpPr/>
          <p:nvPr userDrawn="1"/>
        </p:nvCxnSpPr>
        <p:spPr>
          <a:xfrm>
            <a:off x="4135076"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C9B904E-5F5B-4FB7-1313-61BF4DABD08B}"/>
              </a:ext>
            </a:extLst>
          </p:cNvPr>
          <p:cNvCxnSpPr/>
          <p:nvPr userDrawn="1"/>
        </p:nvCxnSpPr>
        <p:spPr>
          <a:xfrm>
            <a:off x="8152895"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6" name="Text Placeholder 17">
            <a:extLst>
              <a:ext uri="{FF2B5EF4-FFF2-40B4-BE49-F238E27FC236}">
                <a16:creationId xmlns:a16="http://schemas.microsoft.com/office/drawing/2014/main" id="{11A45035-5520-B283-FDAD-9AD7D3B2FED1}"/>
              </a:ext>
            </a:extLst>
          </p:cNvPr>
          <p:cNvSpPr>
            <a:spLocks noGrp="1"/>
          </p:cNvSpPr>
          <p:nvPr>
            <p:ph type="body" sz="quarter" idx="18" hasCustomPrompt="1"/>
          </p:nvPr>
        </p:nvSpPr>
        <p:spPr>
          <a:xfrm>
            <a:off x="4543283" y="1296989"/>
            <a:ext cx="3201404"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37" name="Content Placeholder 17">
            <a:extLst>
              <a:ext uri="{FF2B5EF4-FFF2-40B4-BE49-F238E27FC236}">
                <a16:creationId xmlns:a16="http://schemas.microsoft.com/office/drawing/2014/main" id="{771508A5-F6E8-37D0-C414-214BA7EF65C3}"/>
              </a:ext>
            </a:extLst>
          </p:cNvPr>
          <p:cNvSpPr>
            <a:spLocks noGrp="1"/>
          </p:cNvSpPr>
          <p:nvPr>
            <p:ph sz="quarter" idx="19" hasCustomPrompt="1"/>
          </p:nvPr>
        </p:nvSpPr>
        <p:spPr>
          <a:xfrm>
            <a:off x="4543284" y="2066926"/>
            <a:ext cx="3201403" cy="3509532"/>
          </a:xfrm>
          <a:prstGeom prst="rect">
            <a:avLst/>
          </a:prstGeom>
        </p:spPr>
        <p:txBody>
          <a:bodyPr/>
          <a:lstStyle>
            <a:lvl1pPr marL="0" indent="0">
              <a:buNone/>
              <a:defRPr sz="1800"/>
            </a:lvl1pPr>
          </a:lstStyle>
          <a:p>
            <a:pPr lvl="0"/>
            <a:r>
              <a:rPr lang="en-US"/>
              <a:t>Insert Content Here</a:t>
            </a:r>
            <a:endParaRPr lang="en-VN"/>
          </a:p>
        </p:txBody>
      </p:sp>
      <p:sp>
        <p:nvSpPr>
          <p:cNvPr id="38" name="Text Placeholder 17">
            <a:extLst>
              <a:ext uri="{FF2B5EF4-FFF2-40B4-BE49-F238E27FC236}">
                <a16:creationId xmlns:a16="http://schemas.microsoft.com/office/drawing/2014/main" id="{69A1120F-CA6D-014A-2F49-6EFE4592E149}"/>
              </a:ext>
            </a:extLst>
          </p:cNvPr>
          <p:cNvSpPr>
            <a:spLocks noGrp="1"/>
          </p:cNvSpPr>
          <p:nvPr>
            <p:ph type="body" sz="quarter" idx="20" hasCustomPrompt="1"/>
          </p:nvPr>
        </p:nvSpPr>
        <p:spPr>
          <a:xfrm>
            <a:off x="8561102" y="1296989"/>
            <a:ext cx="3201404"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39" name="Content Placeholder 17">
            <a:extLst>
              <a:ext uri="{FF2B5EF4-FFF2-40B4-BE49-F238E27FC236}">
                <a16:creationId xmlns:a16="http://schemas.microsoft.com/office/drawing/2014/main" id="{8B3C1FCB-A254-560E-76AA-A1F612E30857}"/>
              </a:ext>
            </a:extLst>
          </p:cNvPr>
          <p:cNvSpPr>
            <a:spLocks noGrp="1"/>
          </p:cNvSpPr>
          <p:nvPr>
            <p:ph sz="quarter" idx="21" hasCustomPrompt="1"/>
          </p:nvPr>
        </p:nvSpPr>
        <p:spPr>
          <a:xfrm>
            <a:off x="8561102" y="2066926"/>
            <a:ext cx="3201403" cy="3509532"/>
          </a:xfrm>
          <a:prstGeom prst="rect">
            <a:avLst/>
          </a:prstGeom>
        </p:spPr>
        <p:txBody>
          <a:bodyPr/>
          <a:lstStyle>
            <a:lvl1pPr marL="0" indent="0">
              <a:buNone/>
              <a:defRPr sz="1800"/>
            </a:lvl1pPr>
          </a:lstStyle>
          <a:p>
            <a:pPr lvl="0"/>
            <a:r>
              <a:rPr lang="en-US"/>
              <a:t>Insert Content Here</a:t>
            </a:r>
            <a:endParaRPr lang="en-VN"/>
          </a:p>
        </p:txBody>
      </p:sp>
      <p:sp>
        <p:nvSpPr>
          <p:cNvPr id="41" name="Text Placeholder 40">
            <a:extLst>
              <a:ext uri="{FF2B5EF4-FFF2-40B4-BE49-F238E27FC236}">
                <a16:creationId xmlns:a16="http://schemas.microsoft.com/office/drawing/2014/main" id="{9B0E3C92-C6F1-B2D1-6CC0-B5F33FC28E97}"/>
              </a:ext>
            </a:extLst>
          </p:cNvPr>
          <p:cNvSpPr>
            <a:spLocks noGrp="1"/>
          </p:cNvSpPr>
          <p:nvPr>
            <p:ph type="body" sz="quarter" idx="22" hasCustomPrompt="1"/>
          </p:nvPr>
        </p:nvSpPr>
        <p:spPr>
          <a:xfrm>
            <a:off x="525463" y="5821363"/>
            <a:ext cx="3201987"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42" name="Text Placeholder 40">
            <a:extLst>
              <a:ext uri="{FF2B5EF4-FFF2-40B4-BE49-F238E27FC236}">
                <a16:creationId xmlns:a16="http://schemas.microsoft.com/office/drawing/2014/main" id="{7DD73F62-D8D1-4184-EDBC-FFFD68720E86}"/>
              </a:ext>
            </a:extLst>
          </p:cNvPr>
          <p:cNvSpPr>
            <a:spLocks noGrp="1"/>
          </p:cNvSpPr>
          <p:nvPr>
            <p:ph type="body" sz="quarter" idx="23" hasCustomPrompt="1"/>
          </p:nvPr>
        </p:nvSpPr>
        <p:spPr>
          <a:xfrm>
            <a:off x="4542990" y="5821363"/>
            <a:ext cx="3201987"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43" name="Text Placeholder 40">
            <a:extLst>
              <a:ext uri="{FF2B5EF4-FFF2-40B4-BE49-F238E27FC236}">
                <a16:creationId xmlns:a16="http://schemas.microsoft.com/office/drawing/2014/main" id="{84E8333A-E102-B090-1088-38CBC5F1C499}"/>
              </a:ext>
            </a:extLst>
          </p:cNvPr>
          <p:cNvSpPr>
            <a:spLocks noGrp="1"/>
          </p:cNvSpPr>
          <p:nvPr>
            <p:ph type="body" sz="quarter" idx="24" hasCustomPrompt="1"/>
          </p:nvPr>
        </p:nvSpPr>
        <p:spPr>
          <a:xfrm>
            <a:off x="8560518" y="5821363"/>
            <a:ext cx="3201987"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2" name="Slide Number Placeholder 3">
            <a:extLst>
              <a:ext uri="{FF2B5EF4-FFF2-40B4-BE49-F238E27FC236}">
                <a16:creationId xmlns:a16="http://schemas.microsoft.com/office/drawing/2014/main" id="{B3324DE1-3DD8-1889-2954-592975F9983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Tree>
    <p:extLst>
      <p:ext uri="{BB962C8B-B14F-4D97-AF65-F5344CB8AC3E}">
        <p14:creationId xmlns:p14="http://schemas.microsoft.com/office/powerpoint/2010/main" val="20214698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60BCA-CD84-4103-BDE1-5002DC975CC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3175"/>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mj-lt"/>
              </a:defRPr>
            </a:lvl1pPr>
          </a:lstStyle>
          <a:p>
            <a:r>
              <a:rPr lang="en-US"/>
              <a:t>INSERT TITLE HERE</a:t>
            </a:r>
            <a:endParaRPr lang="en-VN"/>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6" y="1891129"/>
            <a:ext cx="2336488" cy="3685329"/>
          </a:xfrm>
          <a:prstGeom prst="rect">
            <a:avLst/>
          </a:prstGeom>
        </p:spPr>
        <p:txBody>
          <a:bodyPr/>
          <a:lstStyle>
            <a:lvl1pPr marL="0" indent="0">
              <a:buNone/>
              <a:defRPr sz="1800"/>
            </a:lvl1pPr>
          </a:lstStyle>
          <a:p>
            <a:pPr lvl="0"/>
            <a:r>
              <a:rPr lang="en-US"/>
              <a:t>Insert Content Here</a:t>
            </a:r>
            <a:endParaRPr lang="en-VN"/>
          </a:p>
        </p:txBody>
      </p:sp>
      <p:cxnSp>
        <p:nvCxnSpPr>
          <p:cNvPr id="32" name="Straight Connector 31">
            <a:extLst>
              <a:ext uri="{FF2B5EF4-FFF2-40B4-BE49-F238E27FC236}">
                <a16:creationId xmlns:a16="http://schemas.microsoft.com/office/drawing/2014/main" id="{2BED7DC2-76AB-149E-169B-638E82B69D21}"/>
              </a:ext>
            </a:extLst>
          </p:cNvPr>
          <p:cNvCxnSpPr/>
          <p:nvPr userDrawn="1"/>
        </p:nvCxnSpPr>
        <p:spPr>
          <a:xfrm>
            <a:off x="3176146"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C9B904E-5F5B-4FB7-1313-61BF4DABD08B}"/>
              </a:ext>
            </a:extLst>
          </p:cNvPr>
          <p:cNvCxnSpPr/>
          <p:nvPr userDrawn="1"/>
        </p:nvCxnSpPr>
        <p:spPr>
          <a:xfrm>
            <a:off x="6141018"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Text Placeholder 40">
            <a:extLst>
              <a:ext uri="{FF2B5EF4-FFF2-40B4-BE49-F238E27FC236}">
                <a16:creationId xmlns:a16="http://schemas.microsoft.com/office/drawing/2014/main" id="{9B0E3C92-C6F1-B2D1-6CC0-B5F33FC28E97}"/>
              </a:ext>
            </a:extLst>
          </p:cNvPr>
          <p:cNvSpPr>
            <a:spLocks noGrp="1"/>
          </p:cNvSpPr>
          <p:nvPr>
            <p:ph type="body" sz="quarter" idx="22" hasCustomPrompt="1"/>
          </p:nvPr>
        </p:nvSpPr>
        <p:spPr>
          <a:xfrm>
            <a:off x="525464" y="5821363"/>
            <a:ext cx="2336914"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cxnSp>
        <p:nvCxnSpPr>
          <p:cNvPr id="2" name="Straight Connector 1">
            <a:extLst>
              <a:ext uri="{FF2B5EF4-FFF2-40B4-BE49-F238E27FC236}">
                <a16:creationId xmlns:a16="http://schemas.microsoft.com/office/drawing/2014/main" id="{EDB0BCBF-511D-DFD7-D566-008BD35F1FC9}"/>
              </a:ext>
            </a:extLst>
          </p:cNvPr>
          <p:cNvCxnSpPr/>
          <p:nvPr userDrawn="1"/>
        </p:nvCxnSpPr>
        <p:spPr>
          <a:xfrm>
            <a:off x="9105890"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17">
            <a:extLst>
              <a:ext uri="{FF2B5EF4-FFF2-40B4-BE49-F238E27FC236}">
                <a16:creationId xmlns:a16="http://schemas.microsoft.com/office/drawing/2014/main" id="{CB40C77F-546D-553A-E559-516E9D0FB8DA}"/>
              </a:ext>
            </a:extLst>
          </p:cNvPr>
          <p:cNvSpPr>
            <a:spLocks noGrp="1"/>
          </p:cNvSpPr>
          <p:nvPr>
            <p:ph sz="quarter" idx="23" hasCustomPrompt="1"/>
          </p:nvPr>
        </p:nvSpPr>
        <p:spPr>
          <a:xfrm>
            <a:off x="3490338" y="1891129"/>
            <a:ext cx="2336488" cy="3685329"/>
          </a:xfrm>
          <a:prstGeom prst="rect">
            <a:avLst/>
          </a:prstGeom>
        </p:spPr>
        <p:txBody>
          <a:bodyPr/>
          <a:lstStyle>
            <a:lvl1pPr marL="0" indent="0">
              <a:buNone/>
              <a:defRPr sz="1800"/>
            </a:lvl1pPr>
          </a:lstStyle>
          <a:p>
            <a:pPr lvl="0"/>
            <a:r>
              <a:rPr lang="en-US"/>
              <a:t>Insert Content Here</a:t>
            </a:r>
            <a:endParaRPr lang="en-VN"/>
          </a:p>
        </p:txBody>
      </p:sp>
      <p:sp>
        <p:nvSpPr>
          <p:cNvPr id="16" name="Content Placeholder 17">
            <a:extLst>
              <a:ext uri="{FF2B5EF4-FFF2-40B4-BE49-F238E27FC236}">
                <a16:creationId xmlns:a16="http://schemas.microsoft.com/office/drawing/2014/main" id="{7960E3A8-3245-0082-B8C1-F7185F834982}"/>
              </a:ext>
            </a:extLst>
          </p:cNvPr>
          <p:cNvSpPr>
            <a:spLocks noGrp="1"/>
          </p:cNvSpPr>
          <p:nvPr>
            <p:ph sz="quarter" idx="24" hasCustomPrompt="1"/>
          </p:nvPr>
        </p:nvSpPr>
        <p:spPr>
          <a:xfrm>
            <a:off x="6455210" y="1891129"/>
            <a:ext cx="2336488" cy="3685329"/>
          </a:xfrm>
          <a:prstGeom prst="rect">
            <a:avLst/>
          </a:prstGeom>
        </p:spPr>
        <p:txBody>
          <a:bodyPr/>
          <a:lstStyle>
            <a:lvl1pPr marL="0" indent="0">
              <a:buNone/>
              <a:defRPr sz="1800"/>
            </a:lvl1pPr>
          </a:lstStyle>
          <a:p>
            <a:pPr lvl="0"/>
            <a:r>
              <a:rPr lang="en-US"/>
              <a:t>Insert Content Here</a:t>
            </a:r>
            <a:endParaRPr lang="en-VN"/>
          </a:p>
        </p:txBody>
      </p:sp>
      <p:sp>
        <p:nvSpPr>
          <p:cNvPr id="17" name="Content Placeholder 17">
            <a:extLst>
              <a:ext uri="{FF2B5EF4-FFF2-40B4-BE49-F238E27FC236}">
                <a16:creationId xmlns:a16="http://schemas.microsoft.com/office/drawing/2014/main" id="{272E51E7-ACB2-E33A-A245-6B4E02D3A2A0}"/>
              </a:ext>
            </a:extLst>
          </p:cNvPr>
          <p:cNvSpPr>
            <a:spLocks noGrp="1"/>
          </p:cNvSpPr>
          <p:nvPr>
            <p:ph sz="quarter" idx="25" hasCustomPrompt="1"/>
          </p:nvPr>
        </p:nvSpPr>
        <p:spPr>
          <a:xfrm>
            <a:off x="9420085" y="1891129"/>
            <a:ext cx="2336488" cy="3685329"/>
          </a:xfrm>
          <a:prstGeom prst="rect">
            <a:avLst/>
          </a:prstGeom>
        </p:spPr>
        <p:txBody>
          <a:bodyPr/>
          <a:lstStyle>
            <a:lvl1pPr marL="0" indent="0">
              <a:buNone/>
              <a:defRPr sz="1800"/>
            </a:lvl1pPr>
          </a:lstStyle>
          <a:p>
            <a:pPr lvl="0"/>
            <a:r>
              <a:rPr lang="en-US"/>
              <a:t>Insert Content Here</a:t>
            </a:r>
            <a:endParaRPr lang="en-VN"/>
          </a:p>
        </p:txBody>
      </p:sp>
      <p:sp>
        <p:nvSpPr>
          <p:cNvPr id="19" name="Text Placeholder 17">
            <a:extLst>
              <a:ext uri="{FF2B5EF4-FFF2-40B4-BE49-F238E27FC236}">
                <a16:creationId xmlns:a16="http://schemas.microsoft.com/office/drawing/2014/main" id="{650DE883-044C-CCAC-DA75-24414351C8E5}"/>
              </a:ext>
            </a:extLst>
          </p:cNvPr>
          <p:cNvSpPr>
            <a:spLocks noGrp="1"/>
          </p:cNvSpPr>
          <p:nvPr>
            <p:ph type="body" sz="quarter" idx="26" hasCustomPrompt="1"/>
          </p:nvPr>
        </p:nvSpPr>
        <p:spPr>
          <a:xfrm>
            <a:off x="3470545"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20" name="Text Placeholder 17">
            <a:extLst>
              <a:ext uri="{FF2B5EF4-FFF2-40B4-BE49-F238E27FC236}">
                <a16:creationId xmlns:a16="http://schemas.microsoft.com/office/drawing/2014/main" id="{4C628426-8BA3-85BC-EA6A-418EB714BA33}"/>
              </a:ext>
            </a:extLst>
          </p:cNvPr>
          <p:cNvSpPr>
            <a:spLocks noGrp="1"/>
          </p:cNvSpPr>
          <p:nvPr>
            <p:ph type="body" sz="quarter" idx="27" hasCustomPrompt="1"/>
          </p:nvPr>
        </p:nvSpPr>
        <p:spPr>
          <a:xfrm>
            <a:off x="6451252"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21" name="Text Placeholder 17">
            <a:extLst>
              <a:ext uri="{FF2B5EF4-FFF2-40B4-BE49-F238E27FC236}">
                <a16:creationId xmlns:a16="http://schemas.microsoft.com/office/drawing/2014/main" id="{5A5ACC0C-A280-403A-DDE6-1AB2A143C527}"/>
              </a:ext>
            </a:extLst>
          </p:cNvPr>
          <p:cNvSpPr>
            <a:spLocks noGrp="1"/>
          </p:cNvSpPr>
          <p:nvPr>
            <p:ph type="body" sz="quarter" idx="28" hasCustomPrompt="1"/>
          </p:nvPr>
        </p:nvSpPr>
        <p:spPr>
          <a:xfrm>
            <a:off x="9420083"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a:t>Insert Text Here</a:t>
            </a:r>
          </a:p>
        </p:txBody>
      </p:sp>
      <p:sp>
        <p:nvSpPr>
          <p:cNvPr id="22" name="Text Placeholder 40">
            <a:extLst>
              <a:ext uri="{FF2B5EF4-FFF2-40B4-BE49-F238E27FC236}">
                <a16:creationId xmlns:a16="http://schemas.microsoft.com/office/drawing/2014/main" id="{4A460CC4-3D20-2636-DF17-50C8598CC183}"/>
              </a:ext>
            </a:extLst>
          </p:cNvPr>
          <p:cNvSpPr>
            <a:spLocks noGrp="1"/>
          </p:cNvSpPr>
          <p:nvPr>
            <p:ph type="body" sz="quarter" idx="29" hasCustomPrompt="1"/>
          </p:nvPr>
        </p:nvSpPr>
        <p:spPr>
          <a:xfrm>
            <a:off x="3470544" y="5821363"/>
            <a:ext cx="2336914"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23" name="Text Placeholder 40">
            <a:extLst>
              <a:ext uri="{FF2B5EF4-FFF2-40B4-BE49-F238E27FC236}">
                <a16:creationId xmlns:a16="http://schemas.microsoft.com/office/drawing/2014/main" id="{044D8F02-86A0-9385-42F0-47E5BE44A932}"/>
              </a:ext>
            </a:extLst>
          </p:cNvPr>
          <p:cNvSpPr>
            <a:spLocks noGrp="1"/>
          </p:cNvSpPr>
          <p:nvPr>
            <p:ph type="body" sz="quarter" idx="30" hasCustomPrompt="1"/>
          </p:nvPr>
        </p:nvSpPr>
        <p:spPr>
          <a:xfrm>
            <a:off x="6451251" y="5821363"/>
            <a:ext cx="2336914"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24" name="Text Placeholder 40">
            <a:extLst>
              <a:ext uri="{FF2B5EF4-FFF2-40B4-BE49-F238E27FC236}">
                <a16:creationId xmlns:a16="http://schemas.microsoft.com/office/drawing/2014/main" id="{EBB93CE2-BE01-EC6A-8CD4-78136C80B949}"/>
              </a:ext>
            </a:extLst>
          </p:cNvPr>
          <p:cNvSpPr>
            <a:spLocks noGrp="1"/>
          </p:cNvSpPr>
          <p:nvPr>
            <p:ph type="body" sz="quarter" idx="31" hasCustomPrompt="1"/>
          </p:nvPr>
        </p:nvSpPr>
        <p:spPr>
          <a:xfrm>
            <a:off x="9420082" y="5821363"/>
            <a:ext cx="2336914" cy="365125"/>
          </a:xfrm>
          <a:prstGeom prst="rect">
            <a:avLst/>
          </a:prstGeom>
        </p:spPr>
        <p:txBody>
          <a:bodyPr/>
          <a:lstStyle>
            <a:lvl1pPr marL="0" indent="0">
              <a:buNone/>
              <a:defRPr sz="1400">
                <a:solidFill>
                  <a:schemeClr val="bg1">
                    <a:lumMod val="50000"/>
                  </a:schemeClr>
                </a:solidFill>
              </a:defRPr>
            </a:lvl1pPr>
          </a:lstStyle>
          <a:p>
            <a:pPr lvl="0"/>
            <a:r>
              <a:rPr lang="en-US"/>
              <a:t>Optional Caption Here</a:t>
            </a:r>
            <a:endParaRPr lang="en-VN"/>
          </a:p>
        </p:txBody>
      </p:sp>
      <p:sp>
        <p:nvSpPr>
          <p:cNvPr id="25" name="Slide Number Placeholder 3">
            <a:extLst>
              <a:ext uri="{FF2B5EF4-FFF2-40B4-BE49-F238E27FC236}">
                <a16:creationId xmlns:a16="http://schemas.microsoft.com/office/drawing/2014/main" id="{0872A84E-4E7B-54C6-4C08-02E5B6015E38}"/>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Tree>
    <p:extLst>
      <p:ext uri="{BB962C8B-B14F-4D97-AF65-F5344CB8AC3E}">
        <p14:creationId xmlns:p14="http://schemas.microsoft.com/office/powerpoint/2010/main" val="1815731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996F11F-5A6A-7747-4104-3A97468A6B8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7724"/>
            <a:ext cx="12192000" cy="6913258"/>
          </a:xfrm>
          <a:prstGeom prst="rect">
            <a:avLst/>
          </a:prstGeom>
        </p:spPr>
      </p:pic>
      <p:sp>
        <p:nvSpPr>
          <p:cNvPr id="15" name="Rectangle 14">
            <a:extLst>
              <a:ext uri="{FF2B5EF4-FFF2-40B4-BE49-F238E27FC236}">
                <a16:creationId xmlns:a16="http://schemas.microsoft.com/office/drawing/2014/main" id="{9E02D71D-9947-0C07-DF27-76488DC14E74}"/>
              </a:ext>
            </a:extLst>
          </p:cNvPr>
          <p:cNvSpPr/>
          <p:nvPr userDrawn="1"/>
        </p:nvSpPr>
        <p:spPr>
          <a:xfrm>
            <a:off x="-19373" y="-37724"/>
            <a:ext cx="12211374" cy="6913258"/>
          </a:xfrm>
          <a:prstGeom prst="rect">
            <a:avLst/>
          </a:prstGeom>
          <a:gradFill flip="none" rotWithShape="1">
            <a:gsLst>
              <a:gs pos="0">
                <a:schemeClr val="tx2">
                  <a:lumMod val="50000"/>
                  <a:alpha val="59714"/>
                </a:schemeClr>
              </a:gs>
              <a:gs pos="66000">
                <a:schemeClr val="tx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endParaRPr>
          </a:p>
        </p:txBody>
      </p:sp>
      <p:sp>
        <p:nvSpPr>
          <p:cNvPr id="16" name="Rectangle 15">
            <a:extLst>
              <a:ext uri="{FF2B5EF4-FFF2-40B4-BE49-F238E27FC236}">
                <a16:creationId xmlns:a16="http://schemas.microsoft.com/office/drawing/2014/main" id="{1313DD92-7C3A-3FF2-1B34-C1B03ED3A30E}"/>
              </a:ext>
            </a:extLst>
          </p:cNvPr>
          <p:cNvSpPr/>
          <p:nvPr userDrawn="1"/>
        </p:nvSpPr>
        <p:spPr>
          <a:xfrm>
            <a:off x="0" y="-23446"/>
            <a:ext cx="12192000" cy="6913258"/>
          </a:xfrm>
          <a:prstGeom prst="rect">
            <a:avLst/>
          </a:prstGeom>
          <a:gradFill>
            <a:gsLst>
              <a:gs pos="0">
                <a:schemeClr val="tx1">
                  <a:alpha val="87626"/>
                </a:schemeClr>
              </a:gs>
              <a:gs pos="47000">
                <a:schemeClr val="tx1">
                  <a:alpha val="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endParaRPr>
          </a:p>
        </p:txBody>
      </p:sp>
      <p:sp>
        <p:nvSpPr>
          <p:cNvPr id="11" name="Text Placeholder 10">
            <a:extLst>
              <a:ext uri="{FF2B5EF4-FFF2-40B4-BE49-F238E27FC236}">
                <a16:creationId xmlns:a16="http://schemas.microsoft.com/office/drawing/2014/main" id="{4E8E6D85-2968-79FD-B0E3-46CE8A3762B7}"/>
              </a:ext>
            </a:extLst>
          </p:cNvPr>
          <p:cNvSpPr>
            <a:spLocks noGrp="1"/>
          </p:cNvSpPr>
          <p:nvPr>
            <p:ph type="body" sz="quarter" idx="10" hasCustomPrompt="1"/>
          </p:nvPr>
        </p:nvSpPr>
        <p:spPr>
          <a:xfrm>
            <a:off x="690059" y="3978761"/>
            <a:ext cx="4884737" cy="700368"/>
          </a:xfrm>
          <a:prstGeom prst="rect">
            <a:avLst/>
          </a:prstGeom>
        </p:spPr>
        <p:txBody>
          <a:bodyPr/>
          <a:lstStyle>
            <a:lvl1pPr marL="0" indent="0">
              <a:buNone/>
              <a:defRPr sz="5400" b="1">
                <a:solidFill>
                  <a:schemeClr val="bg1"/>
                </a:solidFill>
              </a:defRPr>
            </a:lvl1pPr>
          </a:lstStyle>
          <a:p>
            <a:pPr lvl="0"/>
            <a:r>
              <a:rPr lang="en-US"/>
              <a:t>THANK YOU!</a:t>
            </a:r>
            <a:endParaRPr lang="en-VN"/>
          </a:p>
        </p:txBody>
      </p:sp>
      <p:sp>
        <p:nvSpPr>
          <p:cNvPr id="13" name="Text Placeholder 10">
            <a:extLst>
              <a:ext uri="{FF2B5EF4-FFF2-40B4-BE49-F238E27FC236}">
                <a16:creationId xmlns:a16="http://schemas.microsoft.com/office/drawing/2014/main" id="{D8A0CC13-8840-7648-975D-D98300BB2328}"/>
              </a:ext>
            </a:extLst>
          </p:cNvPr>
          <p:cNvSpPr>
            <a:spLocks noGrp="1"/>
          </p:cNvSpPr>
          <p:nvPr>
            <p:ph type="body" sz="quarter" idx="11" hasCustomPrompt="1"/>
          </p:nvPr>
        </p:nvSpPr>
        <p:spPr>
          <a:xfrm>
            <a:off x="690059" y="4899767"/>
            <a:ext cx="4884737" cy="1668457"/>
          </a:xfrm>
          <a:prstGeom prst="rect">
            <a:avLst/>
          </a:prstGeom>
        </p:spPr>
        <p:txBody>
          <a:bodyPr/>
          <a:lstStyle>
            <a:lvl1pPr marL="0" indent="0">
              <a:buNone/>
              <a:defRPr sz="1800" b="1">
                <a:solidFill>
                  <a:schemeClr val="bg1"/>
                </a:solidFill>
              </a:defRPr>
            </a:lvl1pPr>
          </a:lstStyle>
          <a:p>
            <a:pPr lvl="0"/>
            <a:r>
              <a:rPr lang="en-US"/>
              <a:t>INSERT CONTACT INFO</a:t>
            </a:r>
            <a:r>
              <a:rPr lang="vi-VN"/>
              <a:t> HERE</a:t>
            </a:r>
            <a:endParaRPr lang="en-US"/>
          </a:p>
        </p:txBody>
      </p:sp>
      <p:pic>
        <p:nvPicPr>
          <p:cNvPr id="3" name="Picture 2">
            <a:extLst>
              <a:ext uri="{FF2B5EF4-FFF2-40B4-BE49-F238E27FC236}">
                <a16:creationId xmlns:a16="http://schemas.microsoft.com/office/drawing/2014/main" id="{D29F23AD-C7CB-99F6-52AA-2CA643BB88F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8328" y="491728"/>
            <a:ext cx="1123976" cy="729876"/>
          </a:xfrm>
          <a:prstGeom prst="rect">
            <a:avLst/>
          </a:prstGeom>
        </p:spPr>
      </p:pic>
    </p:spTree>
    <p:extLst>
      <p:ext uri="{BB962C8B-B14F-4D97-AF65-F5344CB8AC3E}">
        <p14:creationId xmlns:p14="http://schemas.microsoft.com/office/powerpoint/2010/main" val="3667218146"/>
      </p:ext>
    </p:extLst>
  </p:cSld>
  <p:clrMapOvr>
    <a:masterClrMapping/>
  </p:clrMapOvr>
</p:sldLayout>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32" Type="http://schemas.openxmlformats.org/officeDocument/2006/relationships/theme" Target="../theme/theme2.xml"/></Relationships>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637405"/>
            <a:ext cx="10515600" cy="1325563"/>
          </a:xfrm>
          <a:prstGeom prst="rect">
            <a:avLst/>
          </a:prstGeom>
        </p:spPr>
        <p:txBody>
          <a:bodyPr vert="horz" lIns="91440" tIns="45720" rIns="91440" bIns="45720" rtlCol="0" anchor="ctr">
            <a:normAutofit/>
          </a:bodyPr>
          <a:lstStyle/>
          <a:p>
            <a:r>
              <a:rPr lang="en-US"/>
              <a:t>FPT SOFTWARE – SLIDE MASTER</a:t>
            </a:r>
          </a:p>
        </p:txBody>
      </p:sp>
    </p:spTree>
    <p:extLst>
      <p:ext uri="{BB962C8B-B14F-4D97-AF65-F5344CB8AC3E}">
        <p14:creationId xmlns:p14="http://schemas.microsoft.com/office/powerpoint/2010/main" val="319409118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8" r:id="rId10"/>
    <p:sldLayoutId id="2147483689" r:id="rId11"/>
    <p:sldLayoutId id="2147483690" r:id="rId12"/>
    <p:sldLayoutId id="2147483695" r:id="rId17"/>
  </p:sldLayoutIdLst>
  <p:hf hdr="0" dt="0"/>
  <p:txStyles>
    <p:titleStyle>
      <a:lvl1pPr algn="ctr" defTabSz="914400" rtl="0" eaLnBrk="1" latinLnBrk="0" hangingPunct="1">
        <a:lnSpc>
          <a:spcPct val="90000"/>
        </a:lnSpc>
        <a:spcBef>
          <a:spcPct val="0"/>
        </a:spcBef>
        <a:buNone/>
        <a:defRPr sz="4400" b="1" kern="1200" baseline="0">
          <a:solidFill>
            <a:schemeClr val="tx1"/>
          </a:solidFill>
          <a:latin typeface="BR Omega VN"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 Id="rId16" Type="http://schemas.openxmlformats.org/officeDocument/2006/relationships/image" Target="../media/image54.png"/><Relationship Id="rId17" Type="http://schemas.openxmlformats.org/officeDocument/2006/relationships/image" Target="../media/image55.png"/><Relationship Id="rId18" Type="http://schemas.openxmlformats.org/officeDocument/2006/relationships/image" Target="../media/image56.png"/><Relationship Id="rId19" Type="http://schemas.openxmlformats.org/officeDocument/2006/relationships/image" Target="../media/image57.png"/><Relationship Id="rId20" Type="http://schemas.openxmlformats.org/officeDocument/2006/relationships/image" Target="../media/image5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0.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75.png"/><Relationship Id="rId4" Type="http://schemas.openxmlformats.org/officeDocument/2006/relationships/image" Target="../media/image38.png"/><Relationship Id="rId5" Type="http://schemas.openxmlformats.org/officeDocument/2006/relationships/image" Target="../media/image76.png"/><Relationship Id="rId6" Type="http://schemas.openxmlformats.org/officeDocument/2006/relationships/image" Target="../media/image7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7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78.png"/><Relationship Id="rId5" Type="http://schemas.openxmlformats.org/officeDocument/2006/relationships/image" Target="../media/image40.png"/><Relationship Id="rId6"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71.png"/><Relationship Id="rId4" Type="http://schemas.openxmlformats.org/officeDocument/2006/relationships/image" Target="../media/image79.png"/><Relationship Id="rId5" Type="http://schemas.openxmlformats.org/officeDocument/2006/relationships/image" Target="../media/image39.png"/><Relationship Id="rId6" Type="http://schemas.openxmlformats.org/officeDocument/2006/relationships/image" Target="../media/image36.png"/><Relationship Id="rId7" Type="http://schemas.openxmlformats.org/officeDocument/2006/relationships/image" Target="../media/image38.png"/><Relationship Id="rId8" Type="http://schemas.openxmlformats.org/officeDocument/2006/relationships/image" Target="../media/image80.png"/><Relationship Id="rId9" Type="http://schemas.openxmlformats.org/officeDocument/2006/relationships/image" Target="../media/image8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82.png"/><Relationship Id="rId4" Type="http://schemas.openxmlformats.org/officeDocument/2006/relationships/image" Target="../media/image36.png"/><Relationship Id="rId5" Type="http://schemas.openxmlformats.org/officeDocument/2006/relationships/image" Target="../media/image39.png"/><Relationship Id="rId6" Type="http://schemas.openxmlformats.org/officeDocument/2006/relationships/image" Target="../media/image83.png"/><Relationship Id="rId7" Type="http://schemas.openxmlformats.org/officeDocument/2006/relationships/image" Target="../media/image8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image" Target="../media/image8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8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9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9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9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 Id="rId3" Type="http://schemas.openxmlformats.org/officeDocument/2006/relationships/image" Target="../media/image9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 Id="rId3" Type="http://schemas.openxmlformats.org/officeDocument/2006/relationships/image" Target="../media/image9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 Id="rId3" Type="http://schemas.openxmlformats.org/officeDocument/2006/relationships/image" Target="../media/image9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 Id="rId3" Type="http://schemas.openxmlformats.org/officeDocument/2006/relationships/image" Target="../media/image10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109.png"/><Relationship Id="rId8" Type="http://schemas.openxmlformats.org/officeDocument/2006/relationships/image" Target="../media/image110.png"/><Relationship Id="rId9" Type="http://schemas.openxmlformats.org/officeDocument/2006/relationships/image" Target="../media/image111.png"/><Relationship Id="rId10" Type="http://schemas.openxmlformats.org/officeDocument/2006/relationships/image" Target="../media/image1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 Id="rId3" Type="http://schemas.openxmlformats.org/officeDocument/2006/relationships/image" Target="../media/image113.png"/><Relationship Id="rId4" Type="http://schemas.openxmlformats.org/officeDocument/2006/relationships/image" Target="../media/image1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 Id="rId3" Type="http://schemas.openxmlformats.org/officeDocument/2006/relationships/image" Target="../media/image115.png"/><Relationship Id="rId4" Type="http://schemas.openxmlformats.org/officeDocument/2006/relationships/image" Target="../media/image1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117.png"/><Relationship Id="rId4" Type="http://schemas.openxmlformats.org/officeDocument/2006/relationships/image" Target="../media/image1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1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 Id="rId3" Type="http://schemas.openxmlformats.org/officeDocument/2006/relationships/image" Target="../media/image126.png"/><Relationship Id="rId4" Type="http://schemas.openxmlformats.org/officeDocument/2006/relationships/image" Target="../media/image1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image" Target="../media/image1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image" Target="../media/image8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 Id="rId3" Type="http://schemas.openxmlformats.org/officeDocument/2006/relationships/image" Target="../media/image5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3.xml"/><Relationship Id="rId3" Type="http://schemas.openxmlformats.org/officeDocument/2006/relationships/image" Target="../media/image38.png"/><Relationship Id="rId4" Type="http://schemas.openxmlformats.org/officeDocument/2006/relationships/image" Target="../media/image36.png"/><Relationship Id="rId5" Type="http://schemas.openxmlformats.org/officeDocument/2006/relationships/image" Target="../media/image39.png"/><Relationship Id="rId6" Type="http://schemas.openxmlformats.org/officeDocument/2006/relationships/image" Target="../media/image79.png"/><Relationship Id="rId7" Type="http://schemas.openxmlformats.org/officeDocument/2006/relationships/image" Target="../media/image7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4.xml"/><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image" Target="../media/image141.png"/><Relationship Id="rId8" Type="http://schemas.openxmlformats.org/officeDocument/2006/relationships/image" Target="../media/image142.png"/><Relationship Id="rId9" Type="http://schemas.openxmlformats.org/officeDocument/2006/relationships/image" Target="../media/image143.pn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1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5.xml"/><Relationship Id="rId3" Type="http://schemas.openxmlformats.org/officeDocument/2006/relationships/image" Target="../media/image38.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6.xml"/><Relationship Id="rId3" Type="http://schemas.openxmlformats.org/officeDocument/2006/relationships/image" Target="../media/image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7.xml"/><Relationship Id="rId3" Type="http://schemas.openxmlformats.org/officeDocument/2006/relationships/image" Target="../media/image39.png"/><Relationship Id="rId4" Type="http://schemas.openxmlformats.org/officeDocument/2006/relationships/image" Target="../media/image145.png"/><Relationship Id="rId5" Type="http://schemas.openxmlformats.org/officeDocument/2006/relationships/image" Target="../media/image139.png"/><Relationship Id="rId6" Type="http://schemas.openxmlformats.org/officeDocument/2006/relationships/image" Target="../media/image1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 Id="rId3" Type="http://schemas.openxmlformats.org/officeDocument/2006/relationships/image" Target="../media/image79.png"/><Relationship Id="rId4" Type="http://schemas.openxmlformats.org/officeDocument/2006/relationships/image" Target="../media/image143.png"/><Relationship Id="rId5" Type="http://schemas.openxmlformats.org/officeDocument/2006/relationships/image" Target="../media/image142.png"/><Relationship Id="rId6" Type="http://schemas.openxmlformats.org/officeDocument/2006/relationships/image" Target="../media/image1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 Id="rId3" Type="http://schemas.openxmlformats.org/officeDocument/2006/relationships/image" Target="../media/image71.png"/><Relationship Id="rId4" Type="http://schemas.openxmlformats.org/officeDocument/2006/relationships/image" Target="../media/image146.png"/><Relationship Id="rId5" Type="http://schemas.openxmlformats.org/officeDocument/2006/relationships/image" Target="../media/image145.png"/><Relationship Id="rId6" Type="http://schemas.openxmlformats.org/officeDocument/2006/relationships/image" Target="../media/image1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 Id="rId3" Type="http://schemas.openxmlformats.org/officeDocument/2006/relationships/image" Target="../media/image147.png"/><Relationship Id="rId4" Type="http://schemas.openxmlformats.org/officeDocument/2006/relationships/image" Target="../media/image148.png"/><Relationship Id="rId5" Type="http://schemas.openxmlformats.org/officeDocument/2006/relationships/image" Target="../media/image149.png"/><Relationship Id="rId6" Type="http://schemas.openxmlformats.org/officeDocument/2006/relationships/image" Target="../media/image150.png"/><Relationship Id="rId7" Type="http://schemas.openxmlformats.org/officeDocument/2006/relationships/image" Target="../media/image151.png"/><Relationship Id="rId8" Type="http://schemas.openxmlformats.org/officeDocument/2006/relationships/image" Target="../media/image1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Data to AI</a:t>
            </a:r>
          </a:p>
        </p:txBody>
      </p:sp>
      <p:sp>
        <p:nvSpPr>
          <p:cNvPr id="3" name="Text Placeholder 2"/>
          <p:cNvSpPr>
            <a:spLocks noGrp="1"/>
          </p:cNvSpPr>
          <p:nvPr>
            <p:ph type="body" idx="11" sz="quarter"/>
          </p:nvPr>
        </p:nvSpPr>
        <p:spPr>
          <a:xfrm>
            <a:off x="676656" y="3438144"/>
            <a:ext cx="7772400" cy="914400"/>
          </a:xfrm>
        </p:spPr>
        <p:txBody>
          <a:bodyPr/>
          <a:lstStyle/>
          <a:p>
            <a:r>
              <a:rPr sz="2400"/>
              <a:t>Building an Intelligent Customer Support Application</a:t>
            </a:r>
          </a:p>
        </p:txBody>
      </p:sp>
      <p:sp>
        <p:nvSpPr>
          <p:cNvPr id="4" name="Text Placeholder 3"/>
          <p:cNvSpPr>
            <a:spLocks noGrp="1"/>
          </p:cNvSpPr>
          <p:nvPr>
            <p:ph type="body" idx="13" sz="quarter"/>
          </p:nvPr>
        </p:nvSpPr>
        <p:spPr>
          <a:xfrm>
            <a:off x="822960" y="5989320"/>
            <a:ext cx="4572000" cy="411480"/>
          </a:xfrm>
        </p:spPr>
        <p:txBody>
          <a:bodyPr/>
          <a:lstStyle/>
          <a:p>
            <a:r>
              <a:t>Morning talk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day in a support team</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TextBox 4"/>
          <p:cNvSpPr txBox="1"/>
          <p:nvPr/>
        </p:nvSpPr>
        <p:spPr>
          <a:xfrm>
            <a:off x="548640" y="1143000"/>
            <a:ext cx="5303520" cy="365760"/>
          </a:xfrm>
          <a:prstGeom prst="rect">
            <a:avLst/>
          </a:prstGeom>
          <a:noFill/>
        </p:spPr>
        <p:txBody>
          <a:bodyPr wrap="square" lIns="45720" rIns="45720" tIns="27432" bIns="27432" anchor="t">
            <a:spAutoFit/>
          </a:bodyPr>
          <a:lstStyle/>
          <a:p>
            <a:pPr algn="l"/>
            <a:r>
              <a:rPr sz="1600" b="1" i="0">
                <a:solidFill>
                  <a:srgbClr val="5F6B7A"/>
                </a:solidFill>
                <a:latin typeface="Arial"/>
              </a:rPr>
              <a:t>Tickets that arrive every day</a:t>
            </a:r>
          </a:p>
        </p:txBody>
      </p:sp>
      <p:sp>
        <p:nvSpPr>
          <p:cNvPr id="6" name="Rounded Rectangle 5"/>
          <p:cNvSpPr/>
          <p:nvPr/>
        </p:nvSpPr>
        <p:spPr>
          <a:xfrm>
            <a:off x="548640" y="1600200"/>
            <a:ext cx="5303520" cy="114300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600200"/>
            <a:ext cx="128016" cy="114300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1728216"/>
            <a:ext cx="4846320" cy="274320"/>
          </a:xfrm>
          <a:prstGeom prst="rect">
            <a:avLst/>
          </a:prstGeom>
          <a:noFill/>
        </p:spPr>
        <p:txBody>
          <a:bodyPr wrap="square" lIns="45720" rIns="45720" tIns="27432" bIns="27432" anchor="t">
            <a:spAutoFit/>
          </a:bodyPr>
          <a:lstStyle/>
          <a:p>
            <a:pPr algn="l"/>
            <a:r>
              <a:rPr sz="1100" b="1" i="0">
                <a:solidFill>
                  <a:srgbClr val="034EA2"/>
                </a:solidFill>
                <a:latin typeface="Arial"/>
              </a:rPr>
              <a:t>TECHNICAL ISSUE</a:t>
            </a:r>
          </a:p>
        </p:txBody>
      </p:sp>
      <p:sp>
        <p:nvSpPr>
          <p:cNvPr id="9" name="TextBox 8"/>
          <p:cNvSpPr txBox="1"/>
          <p:nvPr/>
        </p:nvSpPr>
        <p:spPr>
          <a:xfrm>
            <a:off x="868680" y="2039112"/>
            <a:ext cx="4023360" cy="640080"/>
          </a:xfrm>
          <a:prstGeom prst="rect">
            <a:avLst/>
          </a:prstGeom>
          <a:noFill/>
        </p:spPr>
        <p:txBody>
          <a:bodyPr wrap="square" lIns="45720" rIns="45720" tIns="27432" bIns="27432" anchor="t">
            <a:spAutoFit/>
          </a:bodyPr>
          <a:lstStyle/>
          <a:p>
            <a:pPr algn="l"/>
            <a:r>
              <a:rPr sz="1700" b="0" i="0">
                <a:solidFill>
                  <a:srgbClr val="0B0A0C"/>
                </a:solidFill>
                <a:latin typeface="Arial"/>
              </a:rPr>
              <a:t>"My headphones will not pair with my phone."</a:t>
            </a:r>
          </a:p>
        </p:txBody>
      </p:sp>
      <p:sp>
        <p:nvSpPr>
          <p:cNvPr id="10" name="Oval 9"/>
          <p:cNvSpPr/>
          <p:nvPr/>
        </p:nvSpPr>
        <p:spPr>
          <a:xfrm>
            <a:off x="5029200" y="1874519"/>
            <a:ext cx="594360" cy="59436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headphones_FFFFFF_2.0.png"/>
          <p:cNvPicPr>
            <a:picLocks noChangeAspect="1"/>
          </p:cNvPicPr>
          <p:nvPr/>
        </p:nvPicPr>
        <p:blipFill>
          <a:blip r:embed="rId3"/>
          <a:stretch>
            <a:fillRect/>
          </a:stretch>
        </p:blipFill>
        <p:spPr>
          <a:xfrm>
            <a:off x="5148072" y="1993391"/>
            <a:ext cx="356616" cy="356616"/>
          </a:xfrm>
          <a:prstGeom prst="rect">
            <a:avLst/>
          </a:prstGeom>
        </p:spPr>
      </p:pic>
      <p:sp>
        <p:nvSpPr>
          <p:cNvPr id="12" name="Rounded Rectangle 11"/>
          <p:cNvSpPr/>
          <p:nvPr/>
        </p:nvSpPr>
        <p:spPr>
          <a:xfrm>
            <a:off x="548640" y="2926080"/>
            <a:ext cx="5303520" cy="114300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926080"/>
            <a:ext cx="128016" cy="114300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680" y="3054096"/>
            <a:ext cx="4846320" cy="274320"/>
          </a:xfrm>
          <a:prstGeom prst="rect">
            <a:avLst/>
          </a:prstGeom>
          <a:noFill/>
        </p:spPr>
        <p:txBody>
          <a:bodyPr wrap="square" lIns="45720" rIns="45720" tIns="27432" bIns="27432" anchor="t">
            <a:spAutoFit/>
          </a:bodyPr>
          <a:lstStyle/>
          <a:p>
            <a:pPr algn="l"/>
            <a:r>
              <a:rPr sz="1100" b="1" i="0">
                <a:solidFill>
                  <a:srgbClr val="F37021"/>
                </a:solidFill>
                <a:latin typeface="Arial"/>
              </a:rPr>
              <a:t>REFUND REQUEST</a:t>
            </a:r>
          </a:p>
        </p:txBody>
      </p:sp>
      <p:sp>
        <p:nvSpPr>
          <p:cNvPr id="15" name="TextBox 14"/>
          <p:cNvSpPr txBox="1"/>
          <p:nvPr/>
        </p:nvSpPr>
        <p:spPr>
          <a:xfrm>
            <a:off x="868680" y="3364992"/>
            <a:ext cx="4023360" cy="640080"/>
          </a:xfrm>
          <a:prstGeom prst="rect">
            <a:avLst/>
          </a:prstGeom>
          <a:noFill/>
        </p:spPr>
        <p:txBody>
          <a:bodyPr wrap="square" lIns="45720" rIns="45720" tIns="27432" bIns="27432" anchor="t">
            <a:spAutoFit/>
          </a:bodyPr>
          <a:lstStyle/>
          <a:p>
            <a:pPr algn="l"/>
            <a:r>
              <a:rPr sz="1700" b="0" i="0">
                <a:solidFill>
                  <a:srgbClr val="0B0A0C"/>
                </a:solidFill>
                <a:latin typeface="Arial"/>
              </a:rPr>
              <a:t>"Where is my refund? It has been two weeks."</a:t>
            </a:r>
          </a:p>
        </p:txBody>
      </p:sp>
      <p:sp>
        <p:nvSpPr>
          <p:cNvPr id="16" name="Oval 15"/>
          <p:cNvSpPr/>
          <p:nvPr/>
        </p:nvSpPr>
        <p:spPr>
          <a:xfrm>
            <a:off x="5029200" y="3200400"/>
            <a:ext cx="594360" cy="59436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anknote_FFFFFF_2.0.png"/>
          <p:cNvPicPr>
            <a:picLocks noChangeAspect="1"/>
          </p:cNvPicPr>
          <p:nvPr/>
        </p:nvPicPr>
        <p:blipFill>
          <a:blip r:embed="rId4"/>
          <a:stretch>
            <a:fillRect/>
          </a:stretch>
        </p:blipFill>
        <p:spPr>
          <a:xfrm>
            <a:off x="5148072" y="3319272"/>
            <a:ext cx="356616" cy="356616"/>
          </a:xfrm>
          <a:prstGeom prst="rect">
            <a:avLst/>
          </a:prstGeom>
        </p:spPr>
      </p:pic>
      <p:sp>
        <p:nvSpPr>
          <p:cNvPr id="18" name="Rounded Rectangle 17"/>
          <p:cNvSpPr/>
          <p:nvPr/>
        </p:nvSpPr>
        <p:spPr>
          <a:xfrm>
            <a:off x="548640" y="4251960"/>
            <a:ext cx="5303520" cy="114300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8640" y="4251960"/>
            <a:ext cx="128016" cy="114300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8680" y="4379976"/>
            <a:ext cx="4846320" cy="274320"/>
          </a:xfrm>
          <a:prstGeom prst="rect">
            <a:avLst/>
          </a:prstGeom>
          <a:noFill/>
        </p:spPr>
        <p:txBody>
          <a:bodyPr wrap="square" lIns="45720" rIns="45720" tIns="27432" bIns="27432" anchor="t">
            <a:spAutoFit/>
          </a:bodyPr>
          <a:lstStyle/>
          <a:p>
            <a:pPr algn="l"/>
            <a:r>
              <a:rPr sz="1100" b="1" i="0">
                <a:solidFill>
                  <a:srgbClr val="50B848"/>
                </a:solidFill>
                <a:latin typeface="Arial"/>
              </a:rPr>
              <a:t>CANCELLATION REQUEST</a:t>
            </a:r>
          </a:p>
        </p:txBody>
      </p:sp>
      <p:sp>
        <p:nvSpPr>
          <p:cNvPr id="21" name="TextBox 20"/>
          <p:cNvSpPr txBox="1"/>
          <p:nvPr/>
        </p:nvSpPr>
        <p:spPr>
          <a:xfrm>
            <a:off x="868680" y="4690872"/>
            <a:ext cx="4023360" cy="640080"/>
          </a:xfrm>
          <a:prstGeom prst="rect">
            <a:avLst/>
          </a:prstGeom>
          <a:noFill/>
        </p:spPr>
        <p:txBody>
          <a:bodyPr wrap="square" lIns="45720" rIns="45720" tIns="27432" bIns="27432" anchor="t">
            <a:spAutoFit/>
          </a:bodyPr>
          <a:lstStyle/>
          <a:p>
            <a:pPr algn="l"/>
            <a:r>
              <a:rPr sz="1700" b="0" i="0">
                <a:solidFill>
                  <a:srgbClr val="0B0A0C"/>
                </a:solidFill>
                <a:latin typeface="Arial"/>
              </a:rPr>
              <a:t>"Please cancel my plan at the end of the month."</a:t>
            </a:r>
          </a:p>
        </p:txBody>
      </p:sp>
      <p:sp>
        <p:nvSpPr>
          <p:cNvPr id="22" name="Oval 21"/>
          <p:cNvSpPr/>
          <p:nvPr/>
        </p:nvSpPr>
        <p:spPr>
          <a:xfrm>
            <a:off x="5029200" y="4526280"/>
            <a:ext cx="594360" cy="59436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ircle-x_FFFFFF_2.0.png"/>
          <p:cNvPicPr>
            <a:picLocks noChangeAspect="1"/>
          </p:cNvPicPr>
          <p:nvPr/>
        </p:nvPicPr>
        <p:blipFill>
          <a:blip r:embed="rId5"/>
          <a:stretch>
            <a:fillRect/>
          </a:stretch>
        </p:blipFill>
        <p:spPr>
          <a:xfrm>
            <a:off x="5148072" y="4645152"/>
            <a:ext cx="356616" cy="356616"/>
          </a:xfrm>
          <a:prstGeom prst="rect">
            <a:avLst/>
          </a:prstGeom>
        </p:spPr>
      </p:pic>
      <p:sp>
        <p:nvSpPr>
          <p:cNvPr id="24" name="TextBox 23"/>
          <p:cNvSpPr txBox="1"/>
          <p:nvPr/>
        </p:nvSpPr>
        <p:spPr>
          <a:xfrm>
            <a:off x="6309360" y="1143000"/>
            <a:ext cx="5303520" cy="365760"/>
          </a:xfrm>
          <a:prstGeom prst="rect">
            <a:avLst/>
          </a:prstGeom>
          <a:noFill/>
        </p:spPr>
        <p:txBody>
          <a:bodyPr wrap="square" lIns="45720" rIns="45720" tIns="27432" bIns="27432" anchor="t">
            <a:spAutoFit/>
          </a:bodyPr>
          <a:lstStyle/>
          <a:p>
            <a:pPr algn="l"/>
            <a:r>
              <a:rPr sz="1600" b="1" i="0">
                <a:solidFill>
                  <a:srgbClr val="5F6B7A"/>
                </a:solidFill>
                <a:latin typeface="Arial"/>
              </a:rPr>
              <a:t>Questions the manager asks</a:t>
            </a:r>
          </a:p>
        </p:txBody>
      </p:sp>
      <p:sp>
        <p:nvSpPr>
          <p:cNvPr id="25" name="Rounded Rectangle 24"/>
          <p:cNvSpPr/>
          <p:nvPr/>
        </p:nvSpPr>
        <p:spPr>
          <a:xfrm>
            <a:off x="6309360" y="1600200"/>
            <a:ext cx="5330952" cy="114300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46520" y="1783080"/>
            <a:ext cx="1417320" cy="310896"/>
          </a:xfrm>
          <a:prstGeom prst="roundRect">
            <a:avLst>
              <a:gd name="adj" fmla="val 12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a:solidFill>
                  <a:srgbClr val="FFFFFF"/>
                </a:solidFill>
                <a:latin typeface="Arial"/>
              </a:rPr>
              <a:t>NUMBERS</a:t>
            </a:r>
          </a:p>
        </p:txBody>
      </p:sp>
      <p:sp>
        <p:nvSpPr>
          <p:cNvPr id="27" name="TextBox 26"/>
          <p:cNvSpPr txBox="1"/>
          <p:nvPr/>
        </p:nvSpPr>
        <p:spPr>
          <a:xfrm>
            <a:off x="6446520" y="2148840"/>
            <a:ext cx="4297680" cy="548640"/>
          </a:xfrm>
          <a:prstGeom prst="rect">
            <a:avLst/>
          </a:prstGeom>
          <a:noFill/>
        </p:spPr>
        <p:txBody>
          <a:bodyPr wrap="square" lIns="45720" rIns="45720" tIns="27432" bIns="27432" anchor="t">
            <a:spAutoFit/>
          </a:bodyPr>
          <a:lstStyle/>
          <a:p>
            <a:pPr algn="l"/>
            <a:r>
              <a:rPr sz="1700" b="1" i="0">
                <a:solidFill>
                  <a:srgbClr val="0B0A0C"/>
                </a:solidFill>
                <a:latin typeface="Arial"/>
              </a:rPr>
              <a:t>How many tickets did we get this week?</a:t>
            </a:r>
          </a:p>
        </p:txBody>
      </p:sp>
      <p:sp>
        <p:nvSpPr>
          <p:cNvPr id="28" name="Oval 27"/>
          <p:cNvSpPr/>
          <p:nvPr/>
        </p:nvSpPr>
        <p:spPr>
          <a:xfrm>
            <a:off x="10881360" y="1874519"/>
            <a:ext cx="640080" cy="64008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art-column_FFFFFF_2.0.png"/>
          <p:cNvPicPr>
            <a:picLocks noChangeAspect="1"/>
          </p:cNvPicPr>
          <p:nvPr/>
        </p:nvPicPr>
        <p:blipFill>
          <a:blip r:embed="rId6"/>
          <a:stretch>
            <a:fillRect/>
          </a:stretch>
        </p:blipFill>
        <p:spPr>
          <a:xfrm>
            <a:off x="11009376" y="2002536"/>
            <a:ext cx="384048" cy="384048"/>
          </a:xfrm>
          <a:prstGeom prst="rect">
            <a:avLst/>
          </a:prstGeom>
        </p:spPr>
      </p:pic>
      <p:sp>
        <p:nvSpPr>
          <p:cNvPr id="30" name="Rounded Rectangle 29"/>
          <p:cNvSpPr/>
          <p:nvPr/>
        </p:nvSpPr>
        <p:spPr>
          <a:xfrm>
            <a:off x="6309360" y="2926080"/>
            <a:ext cx="5330952" cy="114300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446520" y="3108960"/>
            <a:ext cx="1417320" cy="310896"/>
          </a:xfrm>
          <a:prstGeom prst="roundRect">
            <a:avLst>
              <a:gd name="adj" fmla="val 12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a:solidFill>
                  <a:srgbClr val="FFFFFF"/>
                </a:solidFill>
                <a:latin typeface="Arial"/>
              </a:rPr>
              <a:t>NUMBERS</a:t>
            </a:r>
          </a:p>
        </p:txBody>
      </p:sp>
      <p:sp>
        <p:nvSpPr>
          <p:cNvPr id="32" name="TextBox 31"/>
          <p:cNvSpPr txBox="1"/>
          <p:nvPr/>
        </p:nvSpPr>
        <p:spPr>
          <a:xfrm>
            <a:off x="6446520" y="3474720"/>
            <a:ext cx="4297680" cy="548640"/>
          </a:xfrm>
          <a:prstGeom prst="rect">
            <a:avLst/>
          </a:prstGeom>
          <a:noFill/>
        </p:spPr>
        <p:txBody>
          <a:bodyPr wrap="square" lIns="45720" rIns="45720" tIns="27432" bIns="27432" anchor="t">
            <a:spAutoFit/>
          </a:bodyPr>
          <a:lstStyle/>
          <a:p>
            <a:pPr algn="l"/>
            <a:r>
              <a:rPr sz="1700" b="1" i="0">
                <a:solidFill>
                  <a:srgbClr val="0B0A0C"/>
                </a:solidFill>
                <a:latin typeface="Arial"/>
              </a:rPr>
              <a:t>Which ticket type is slowest to resolve?</a:t>
            </a:r>
          </a:p>
        </p:txBody>
      </p:sp>
      <p:sp>
        <p:nvSpPr>
          <p:cNvPr id="33" name="Oval 32"/>
          <p:cNvSpPr/>
          <p:nvPr/>
        </p:nvSpPr>
        <p:spPr>
          <a:xfrm>
            <a:off x="10881360" y="3200400"/>
            <a:ext cx="640080" cy="64008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chart-column_FFFFFF_2.0.png"/>
          <p:cNvPicPr>
            <a:picLocks noChangeAspect="1"/>
          </p:cNvPicPr>
          <p:nvPr/>
        </p:nvPicPr>
        <p:blipFill>
          <a:blip r:embed="rId6"/>
          <a:stretch>
            <a:fillRect/>
          </a:stretch>
        </p:blipFill>
        <p:spPr>
          <a:xfrm>
            <a:off x="11009376" y="3328416"/>
            <a:ext cx="384048" cy="384048"/>
          </a:xfrm>
          <a:prstGeom prst="rect">
            <a:avLst/>
          </a:prstGeom>
        </p:spPr>
      </p:pic>
      <p:sp>
        <p:nvSpPr>
          <p:cNvPr id="35" name="Rounded Rectangle 34"/>
          <p:cNvSpPr/>
          <p:nvPr/>
        </p:nvSpPr>
        <p:spPr>
          <a:xfrm>
            <a:off x="6309360" y="4251960"/>
            <a:ext cx="5330952" cy="1143000"/>
          </a:xfrm>
          <a:prstGeom prst="roundRect">
            <a:avLst>
              <a:gd name="adj" fmla="val 10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446520" y="4434840"/>
            <a:ext cx="1417320" cy="310896"/>
          </a:xfrm>
          <a:prstGeom prst="roundRect">
            <a:avLst>
              <a:gd name="adj" fmla="val 12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a:solidFill>
                  <a:srgbClr val="FFFFFF"/>
                </a:solidFill>
                <a:latin typeface="Arial"/>
              </a:rPr>
              <a:t>KNOWLEDGE</a:t>
            </a:r>
          </a:p>
        </p:txBody>
      </p:sp>
      <p:sp>
        <p:nvSpPr>
          <p:cNvPr id="37" name="TextBox 36"/>
          <p:cNvSpPr txBox="1"/>
          <p:nvPr/>
        </p:nvSpPr>
        <p:spPr>
          <a:xfrm>
            <a:off x="6446520" y="4800600"/>
            <a:ext cx="4297680" cy="548640"/>
          </a:xfrm>
          <a:prstGeom prst="rect">
            <a:avLst/>
          </a:prstGeom>
          <a:noFill/>
        </p:spPr>
        <p:txBody>
          <a:bodyPr wrap="square" lIns="45720" rIns="45720" tIns="27432" bIns="27432" anchor="t">
            <a:spAutoFit/>
          </a:bodyPr>
          <a:lstStyle/>
          <a:p>
            <a:pPr algn="l"/>
            <a:r>
              <a:rPr sz="1700" b="1" i="0">
                <a:solidFill>
                  <a:srgbClr val="0B0A0C"/>
                </a:solidFill>
                <a:latin typeface="Arial"/>
              </a:rPr>
              <a:t>What should the agent tell this customer?</a:t>
            </a:r>
          </a:p>
        </p:txBody>
      </p:sp>
      <p:sp>
        <p:nvSpPr>
          <p:cNvPr id="38" name="Oval 37"/>
          <p:cNvSpPr/>
          <p:nvPr/>
        </p:nvSpPr>
        <p:spPr>
          <a:xfrm>
            <a:off x="10881360" y="4526280"/>
            <a:ext cx="640080" cy="64008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book-open_FFFFFF_2.0.png"/>
          <p:cNvPicPr>
            <a:picLocks noChangeAspect="1"/>
          </p:cNvPicPr>
          <p:nvPr/>
        </p:nvPicPr>
        <p:blipFill>
          <a:blip r:embed="rId7"/>
          <a:stretch>
            <a:fillRect/>
          </a:stretch>
        </p:blipFill>
        <p:spPr>
          <a:xfrm>
            <a:off x="11009376" y="4654296"/>
            <a:ext cx="384048" cy="384048"/>
          </a:xfrm>
          <a:prstGeom prst="rect">
            <a:avLst/>
          </a:prstGeom>
        </p:spPr>
      </p:pic>
      <p:sp>
        <p:nvSpPr>
          <p:cNvPr id="40" name="Rounded Rectangle 39"/>
          <p:cNvSpPr/>
          <p:nvPr/>
        </p:nvSpPr>
        <p:spPr>
          <a:xfrm>
            <a:off x="548640" y="566928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Numbers come from data. Answers come from knowledge. Today you learn how to get both.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AI in one sentence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822960" y="2011680"/>
            <a:ext cx="3108960" cy="2194560"/>
          </a:xfrm>
          <a:prstGeom prst="roundRect">
            <a:avLst>
              <a:gd name="adj" fmla="val 8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3000" b="1">
                <a:solidFill>
                  <a:srgbClr val="FFFFFF"/>
                </a:solidFill>
                <a:latin typeface="Arial"/>
              </a:rPr>
              <a:t>DATA</a:t>
            </a:r>
          </a:p>
          <a:p>
            <a:pPr algn="ctr"/>
            <a:r>
              <a:rPr sz="1600" b="0">
                <a:solidFill>
                  <a:srgbClr val="FFFFFF"/>
                </a:solidFill>
                <a:latin typeface="Arial"/>
              </a:rPr>
              <a:t>the facts we collect</a:t>
            </a:r>
          </a:p>
          <a:p>
            <a:pPr algn="ctr"/>
            <a:r>
              <a:rPr sz="1400" b="0">
                <a:solidFill>
                  <a:srgbClr val="FFFFFF"/>
                </a:solidFill>
                <a:latin typeface="Arial"/>
              </a:rPr>
              <a:t>rows, text, clicks, sensor readings</a:t>
            </a:r>
          </a:p>
        </p:txBody>
      </p:sp>
      <p:pic>
        <p:nvPicPr>
          <p:cNvPr id="6" name="Picture 5" descr="database_FFFFFF_2.0.png"/>
          <p:cNvPicPr>
            <a:picLocks noChangeAspect="1"/>
          </p:cNvPicPr>
          <p:nvPr/>
        </p:nvPicPr>
        <p:blipFill>
          <a:blip r:embed="rId3"/>
          <a:stretch>
            <a:fillRect/>
          </a:stretch>
        </p:blipFill>
        <p:spPr>
          <a:xfrm>
            <a:off x="2057400" y="2194560"/>
            <a:ext cx="640080" cy="640080"/>
          </a:xfrm>
          <a:prstGeom prst="rect">
            <a:avLst/>
          </a:prstGeom>
        </p:spPr>
      </p:pic>
      <p:sp>
        <p:nvSpPr>
          <p:cNvPr id="7" name="TextBox 6"/>
          <p:cNvSpPr txBox="1"/>
          <p:nvPr/>
        </p:nvSpPr>
        <p:spPr>
          <a:xfrm>
            <a:off x="4023360" y="2560320"/>
            <a:ext cx="822960" cy="1097280"/>
          </a:xfrm>
          <a:prstGeom prst="rect">
            <a:avLst/>
          </a:prstGeom>
          <a:noFill/>
        </p:spPr>
        <p:txBody>
          <a:bodyPr wrap="square" lIns="45720" rIns="45720" tIns="27432" bIns="27432" anchor="t">
            <a:spAutoFit/>
          </a:bodyPr>
          <a:lstStyle/>
          <a:p>
            <a:pPr algn="ctr"/>
            <a:r>
              <a:rPr sz="6000" b="1" i="0">
                <a:solidFill>
                  <a:srgbClr val="5F6B7A"/>
                </a:solidFill>
                <a:latin typeface="Arial"/>
              </a:rPr>
              <a:t>+</a:t>
            </a:r>
          </a:p>
        </p:txBody>
      </p:sp>
      <p:sp>
        <p:nvSpPr>
          <p:cNvPr id="8" name="Rounded Rectangle 7"/>
          <p:cNvSpPr/>
          <p:nvPr/>
        </p:nvSpPr>
        <p:spPr>
          <a:xfrm>
            <a:off x="4937760" y="2011680"/>
            <a:ext cx="3108960" cy="2194560"/>
          </a:xfrm>
          <a:prstGeom prst="roundRect">
            <a:avLst>
              <a:gd name="adj" fmla="val 8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3000" b="1">
                <a:solidFill>
                  <a:srgbClr val="FFFFFF"/>
                </a:solidFill>
                <a:latin typeface="Arial"/>
              </a:rPr>
              <a:t>AI</a:t>
            </a:r>
          </a:p>
          <a:p>
            <a:pPr algn="ctr"/>
            <a:r>
              <a:rPr sz="1600" b="0">
                <a:solidFill>
                  <a:srgbClr val="FFFFFF"/>
                </a:solidFill>
                <a:latin typeface="Arial"/>
              </a:rPr>
              <a:t>software that finds patterns</a:t>
            </a:r>
          </a:p>
          <a:p>
            <a:pPr algn="ctr"/>
            <a:r>
              <a:rPr sz="1400" b="0">
                <a:solidFill>
                  <a:srgbClr val="FFFFFF"/>
                </a:solidFill>
                <a:latin typeface="Arial"/>
              </a:rPr>
              <a:t>and writes answers from them</a:t>
            </a:r>
          </a:p>
        </p:txBody>
      </p:sp>
      <p:pic>
        <p:nvPicPr>
          <p:cNvPr id="9" name="Picture 8" descr="brain-circuit_FFFFFF_2.0.png"/>
          <p:cNvPicPr>
            <a:picLocks noChangeAspect="1"/>
          </p:cNvPicPr>
          <p:nvPr/>
        </p:nvPicPr>
        <p:blipFill>
          <a:blip r:embed="rId4"/>
          <a:stretch>
            <a:fillRect/>
          </a:stretch>
        </p:blipFill>
        <p:spPr>
          <a:xfrm>
            <a:off x="6172200" y="2194560"/>
            <a:ext cx="640080" cy="640080"/>
          </a:xfrm>
          <a:prstGeom prst="rect">
            <a:avLst/>
          </a:prstGeom>
        </p:spPr>
      </p:pic>
      <p:sp>
        <p:nvSpPr>
          <p:cNvPr id="10" name="TextBox 9"/>
          <p:cNvSpPr txBox="1"/>
          <p:nvPr/>
        </p:nvSpPr>
        <p:spPr>
          <a:xfrm>
            <a:off x="8138160" y="2560320"/>
            <a:ext cx="822960" cy="1097280"/>
          </a:xfrm>
          <a:prstGeom prst="rect">
            <a:avLst/>
          </a:prstGeom>
          <a:noFill/>
        </p:spPr>
        <p:txBody>
          <a:bodyPr wrap="square" lIns="45720" rIns="45720" tIns="27432" bIns="27432" anchor="t">
            <a:spAutoFit/>
          </a:bodyPr>
          <a:lstStyle/>
          <a:p>
            <a:pPr algn="ctr"/>
            <a:r>
              <a:rPr sz="6000" b="1" i="0">
                <a:solidFill>
                  <a:srgbClr val="5F6B7A"/>
                </a:solidFill>
                <a:latin typeface="Arial"/>
              </a:rPr>
              <a:t>=</a:t>
            </a:r>
          </a:p>
        </p:txBody>
      </p:sp>
      <p:sp>
        <p:nvSpPr>
          <p:cNvPr id="11" name="Rounded Rectangle 10"/>
          <p:cNvSpPr/>
          <p:nvPr/>
        </p:nvSpPr>
        <p:spPr>
          <a:xfrm>
            <a:off x="9052560" y="2011680"/>
            <a:ext cx="2651760" cy="2194560"/>
          </a:xfrm>
          <a:prstGeom prst="roundRect">
            <a:avLst>
              <a:gd name="adj" fmla="val 8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2400" b="1">
                <a:solidFill>
                  <a:srgbClr val="FFFFFF"/>
                </a:solidFill>
                <a:latin typeface="Arial"/>
              </a:rPr>
              <a:t>DECISIONS</a:t>
            </a:r>
          </a:p>
          <a:p>
            <a:pPr algn="ctr"/>
            <a:r>
              <a:rPr sz="2400" b="1">
                <a:solidFill>
                  <a:srgbClr val="FFFFFF"/>
                </a:solidFill>
                <a:latin typeface="Arial"/>
              </a:rPr>
              <a:t>and ANSWERS</a:t>
            </a:r>
          </a:p>
          <a:p>
            <a:pPr algn="ctr"/>
            <a:r>
              <a:rPr sz="1400" b="0">
                <a:solidFill>
                  <a:srgbClr val="FFFFFF"/>
                </a:solidFill>
                <a:latin typeface="Arial"/>
              </a:rPr>
              <a:t>that people can trust</a:t>
            </a:r>
          </a:p>
        </p:txBody>
      </p:sp>
      <p:pic>
        <p:nvPicPr>
          <p:cNvPr id="12" name="Picture 11" descr="lightbulb_FFFFFF_2.0.png"/>
          <p:cNvPicPr>
            <a:picLocks noChangeAspect="1"/>
          </p:cNvPicPr>
          <p:nvPr/>
        </p:nvPicPr>
        <p:blipFill>
          <a:blip r:embed="rId5"/>
          <a:stretch>
            <a:fillRect/>
          </a:stretch>
        </p:blipFill>
        <p:spPr>
          <a:xfrm>
            <a:off x="10058400" y="2194560"/>
            <a:ext cx="640080" cy="640080"/>
          </a:xfrm>
          <a:prstGeom prst="rect">
            <a:avLst/>
          </a:prstGeom>
        </p:spPr>
      </p:pic>
      <p:sp>
        <p:nvSpPr>
          <p:cNvPr id="13" name="Rounded Rectangle 12"/>
          <p:cNvSpPr/>
          <p:nvPr/>
        </p:nvSpPr>
        <p:spPr>
          <a:xfrm>
            <a:off x="822960" y="4572000"/>
            <a:ext cx="10881360" cy="1005840"/>
          </a:xfrm>
          <a:prstGeom prst="roundRect">
            <a:avLst>
              <a:gd name="adj" fmla="val 10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19226D"/>
                </a:solidFill>
                <a:latin typeface="Arial"/>
              </a:rPr>
              <a:t>Garbage in, garbage out: AI is only as good as the data behind it, and the way we connect the two.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data landscape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2606040" cy="457200"/>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FFFFFF"/>
                </a:solidFill>
                <a:latin typeface="Arial"/>
              </a:rPr>
              <a:t>WHERE IT COMES FROM</a:t>
            </a:r>
          </a:p>
        </p:txBody>
      </p:sp>
      <p:pic>
        <p:nvPicPr>
          <p:cNvPr id="6" name="Picture 5" descr="folder-input_FFFFFF_2.0.png"/>
          <p:cNvPicPr>
            <a:picLocks noChangeAspect="1"/>
          </p:cNvPicPr>
          <p:nvPr/>
        </p:nvPicPr>
        <p:blipFill>
          <a:blip r:embed="rId3"/>
          <a:stretch>
            <a:fillRect/>
          </a:stretch>
        </p:blipFill>
        <p:spPr>
          <a:xfrm>
            <a:off x="640080" y="1289304"/>
            <a:ext cx="256032" cy="256032"/>
          </a:xfrm>
          <a:prstGeom prst="rect">
            <a:avLst/>
          </a:prstGeom>
        </p:spPr>
      </p:pic>
      <p:sp>
        <p:nvSpPr>
          <p:cNvPr id="7" name="Rounded Rectangle 6"/>
          <p:cNvSpPr/>
          <p:nvPr/>
        </p:nvSpPr>
        <p:spPr>
          <a:xfrm>
            <a:off x="548640" y="17830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783080"/>
            <a:ext cx="91440" cy="804672"/>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lobe_034EA2_2.0.png"/>
          <p:cNvPicPr>
            <a:picLocks noChangeAspect="1"/>
          </p:cNvPicPr>
          <p:nvPr/>
        </p:nvPicPr>
        <p:blipFill>
          <a:blip r:embed="rId4"/>
          <a:stretch>
            <a:fillRect/>
          </a:stretch>
        </p:blipFill>
        <p:spPr>
          <a:xfrm>
            <a:off x="731520" y="1965960"/>
            <a:ext cx="411480" cy="411480"/>
          </a:xfrm>
          <a:prstGeom prst="rect">
            <a:avLst/>
          </a:prstGeom>
        </p:spPr>
      </p:pic>
      <p:sp>
        <p:nvSpPr>
          <p:cNvPr id="10" name="TextBox 9"/>
          <p:cNvSpPr txBox="1"/>
          <p:nvPr/>
        </p:nvSpPr>
        <p:spPr>
          <a:xfrm>
            <a:off x="1234440" y="1874519"/>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Apps, websites</a:t>
            </a:r>
          </a:p>
        </p:txBody>
      </p:sp>
      <p:sp>
        <p:nvSpPr>
          <p:cNvPr id="11" name="TextBox 10"/>
          <p:cNvSpPr txBox="1"/>
          <p:nvPr/>
        </p:nvSpPr>
        <p:spPr>
          <a:xfrm>
            <a:off x="1234440" y="22402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clicks, orders</a:t>
            </a:r>
          </a:p>
        </p:txBody>
      </p:sp>
      <p:sp>
        <p:nvSpPr>
          <p:cNvPr id="12" name="Rounded Rectangle 11"/>
          <p:cNvSpPr/>
          <p:nvPr/>
        </p:nvSpPr>
        <p:spPr>
          <a:xfrm>
            <a:off x="548640" y="26974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697480"/>
            <a:ext cx="91440" cy="804672"/>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pu_034EA2_2.0.png"/>
          <p:cNvPicPr>
            <a:picLocks noChangeAspect="1"/>
          </p:cNvPicPr>
          <p:nvPr/>
        </p:nvPicPr>
        <p:blipFill>
          <a:blip r:embed="rId5"/>
          <a:stretch>
            <a:fillRect/>
          </a:stretch>
        </p:blipFill>
        <p:spPr>
          <a:xfrm>
            <a:off x="731520" y="2880360"/>
            <a:ext cx="411480" cy="411480"/>
          </a:xfrm>
          <a:prstGeom prst="rect">
            <a:avLst/>
          </a:prstGeom>
        </p:spPr>
      </p:pic>
      <p:sp>
        <p:nvSpPr>
          <p:cNvPr id="15" name="TextBox 14"/>
          <p:cNvSpPr txBox="1"/>
          <p:nvPr/>
        </p:nvSpPr>
        <p:spPr>
          <a:xfrm>
            <a:off x="1234440" y="27889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Sensors, devices</a:t>
            </a:r>
          </a:p>
        </p:txBody>
      </p:sp>
      <p:sp>
        <p:nvSpPr>
          <p:cNvPr id="16" name="TextBox 15"/>
          <p:cNvSpPr txBox="1"/>
          <p:nvPr/>
        </p:nvSpPr>
        <p:spPr>
          <a:xfrm>
            <a:off x="1234440" y="31546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readings, logs</a:t>
            </a:r>
          </a:p>
        </p:txBody>
      </p:sp>
      <p:sp>
        <p:nvSpPr>
          <p:cNvPr id="17" name="Rounded Rectangle 16"/>
          <p:cNvSpPr/>
          <p:nvPr/>
        </p:nvSpPr>
        <p:spPr>
          <a:xfrm>
            <a:off x="548640" y="36118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3611880"/>
            <a:ext cx="91440" cy="804672"/>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mail_034EA2_2.0.png"/>
          <p:cNvPicPr>
            <a:picLocks noChangeAspect="1"/>
          </p:cNvPicPr>
          <p:nvPr/>
        </p:nvPicPr>
        <p:blipFill>
          <a:blip r:embed="rId6"/>
          <a:stretch>
            <a:fillRect/>
          </a:stretch>
        </p:blipFill>
        <p:spPr>
          <a:xfrm>
            <a:off x="731520" y="3794760"/>
            <a:ext cx="411480" cy="411480"/>
          </a:xfrm>
          <a:prstGeom prst="rect">
            <a:avLst/>
          </a:prstGeom>
        </p:spPr>
      </p:pic>
      <p:sp>
        <p:nvSpPr>
          <p:cNvPr id="20" name="TextBox 19"/>
          <p:cNvSpPr txBox="1"/>
          <p:nvPr/>
        </p:nvSpPr>
        <p:spPr>
          <a:xfrm>
            <a:off x="1234440" y="37033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Tickets, emails</a:t>
            </a:r>
          </a:p>
        </p:txBody>
      </p:sp>
      <p:sp>
        <p:nvSpPr>
          <p:cNvPr id="21" name="TextBox 20"/>
          <p:cNvSpPr txBox="1"/>
          <p:nvPr/>
        </p:nvSpPr>
        <p:spPr>
          <a:xfrm>
            <a:off x="1234440" y="40690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customer messages</a:t>
            </a:r>
          </a:p>
        </p:txBody>
      </p:sp>
      <p:sp>
        <p:nvSpPr>
          <p:cNvPr id="22" name="Rounded Rectangle 21"/>
          <p:cNvSpPr/>
          <p:nvPr/>
        </p:nvSpPr>
        <p:spPr>
          <a:xfrm>
            <a:off x="2423160" y="3493008"/>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1</a:t>
            </a:r>
          </a:p>
        </p:txBody>
      </p:sp>
      <p:sp>
        <p:nvSpPr>
          <p:cNvPr id="23" name="Rounded Rectangle 22"/>
          <p:cNvSpPr/>
          <p:nvPr/>
        </p:nvSpPr>
        <p:spPr>
          <a:xfrm>
            <a:off x="548640" y="45262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4526280"/>
            <a:ext cx="91440" cy="804672"/>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e-text_034EA2_2.0.png"/>
          <p:cNvPicPr>
            <a:picLocks noChangeAspect="1"/>
          </p:cNvPicPr>
          <p:nvPr/>
        </p:nvPicPr>
        <p:blipFill>
          <a:blip r:embed="rId7"/>
          <a:stretch>
            <a:fillRect/>
          </a:stretch>
        </p:blipFill>
        <p:spPr>
          <a:xfrm>
            <a:off x="731520" y="4709160"/>
            <a:ext cx="411480" cy="411480"/>
          </a:xfrm>
          <a:prstGeom prst="rect">
            <a:avLst/>
          </a:prstGeom>
        </p:spPr>
      </p:pic>
      <p:sp>
        <p:nvSpPr>
          <p:cNvPr id="26" name="TextBox 25"/>
          <p:cNvSpPr txBox="1"/>
          <p:nvPr/>
        </p:nvSpPr>
        <p:spPr>
          <a:xfrm>
            <a:off x="1234440" y="46177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Documents, media</a:t>
            </a:r>
          </a:p>
        </p:txBody>
      </p:sp>
      <p:sp>
        <p:nvSpPr>
          <p:cNvPr id="27" name="TextBox 26"/>
          <p:cNvSpPr txBox="1"/>
          <p:nvPr/>
        </p:nvSpPr>
        <p:spPr>
          <a:xfrm>
            <a:off x="1234440" y="49834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manuals, PDFs</a:t>
            </a:r>
          </a:p>
        </p:txBody>
      </p:sp>
      <p:cxnSp>
        <p:nvCxnSpPr>
          <p:cNvPr id="28" name="Connector 27"/>
          <p:cNvCxnSpPr/>
          <p:nvPr/>
        </p:nvCxnSpPr>
        <p:spPr>
          <a:xfrm>
            <a:off x="3163824" y="1417320"/>
            <a:ext cx="173736"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346704" y="1188720"/>
            <a:ext cx="2606040" cy="457200"/>
          </a:xfrm>
          <a:prstGeom prst="roundRect">
            <a:avLst>
              <a:gd name="adj" fmla="val 20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FFFFFF"/>
                </a:solidFill>
                <a:latin typeface="Arial"/>
              </a:rPr>
              <a:t>WHAT SHAPE IT HAS</a:t>
            </a:r>
          </a:p>
        </p:txBody>
      </p:sp>
      <p:pic>
        <p:nvPicPr>
          <p:cNvPr id="30" name="Picture 29" descr="table-2_FFFFFF_2.0.png"/>
          <p:cNvPicPr>
            <a:picLocks noChangeAspect="1"/>
          </p:cNvPicPr>
          <p:nvPr/>
        </p:nvPicPr>
        <p:blipFill>
          <a:blip r:embed="rId8"/>
          <a:stretch>
            <a:fillRect/>
          </a:stretch>
        </p:blipFill>
        <p:spPr>
          <a:xfrm>
            <a:off x="3438144" y="1289304"/>
            <a:ext cx="256032" cy="256032"/>
          </a:xfrm>
          <a:prstGeom prst="rect">
            <a:avLst/>
          </a:prstGeom>
        </p:spPr>
      </p:pic>
      <p:sp>
        <p:nvSpPr>
          <p:cNvPr id="31" name="Rounded Rectangle 30"/>
          <p:cNvSpPr/>
          <p:nvPr/>
        </p:nvSpPr>
        <p:spPr>
          <a:xfrm>
            <a:off x="3346704" y="17830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346704" y="1783080"/>
            <a:ext cx="91440" cy="804672"/>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table_50B848_2.0.png"/>
          <p:cNvPicPr>
            <a:picLocks noChangeAspect="1"/>
          </p:cNvPicPr>
          <p:nvPr/>
        </p:nvPicPr>
        <p:blipFill>
          <a:blip r:embed="rId9"/>
          <a:stretch>
            <a:fillRect/>
          </a:stretch>
        </p:blipFill>
        <p:spPr>
          <a:xfrm>
            <a:off x="3529584" y="1965960"/>
            <a:ext cx="411480" cy="411480"/>
          </a:xfrm>
          <a:prstGeom prst="rect">
            <a:avLst/>
          </a:prstGeom>
        </p:spPr>
      </p:pic>
      <p:sp>
        <p:nvSpPr>
          <p:cNvPr id="34" name="TextBox 33"/>
          <p:cNvSpPr txBox="1"/>
          <p:nvPr/>
        </p:nvSpPr>
        <p:spPr>
          <a:xfrm>
            <a:off x="4032504" y="1874519"/>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Structured</a:t>
            </a:r>
          </a:p>
        </p:txBody>
      </p:sp>
      <p:sp>
        <p:nvSpPr>
          <p:cNvPr id="35" name="TextBox 34"/>
          <p:cNvSpPr txBox="1"/>
          <p:nvPr/>
        </p:nvSpPr>
        <p:spPr>
          <a:xfrm>
            <a:off x="4032504" y="22402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rows and columns</a:t>
            </a:r>
          </a:p>
        </p:txBody>
      </p:sp>
      <p:sp>
        <p:nvSpPr>
          <p:cNvPr id="36" name="Rounded Rectangle 35"/>
          <p:cNvSpPr/>
          <p:nvPr/>
        </p:nvSpPr>
        <p:spPr>
          <a:xfrm>
            <a:off x="5221224" y="1664207"/>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1</a:t>
            </a:r>
          </a:p>
        </p:txBody>
      </p:sp>
      <p:sp>
        <p:nvSpPr>
          <p:cNvPr id="37" name="Rounded Rectangle 36"/>
          <p:cNvSpPr/>
          <p:nvPr/>
        </p:nvSpPr>
        <p:spPr>
          <a:xfrm>
            <a:off x="3346704" y="26974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346704" y="2697480"/>
            <a:ext cx="91440" cy="804672"/>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braces_50B848_2.0.png"/>
          <p:cNvPicPr>
            <a:picLocks noChangeAspect="1"/>
          </p:cNvPicPr>
          <p:nvPr/>
        </p:nvPicPr>
        <p:blipFill>
          <a:blip r:embed="rId10"/>
          <a:stretch>
            <a:fillRect/>
          </a:stretch>
        </p:blipFill>
        <p:spPr>
          <a:xfrm>
            <a:off x="3529584" y="2880360"/>
            <a:ext cx="411480" cy="411480"/>
          </a:xfrm>
          <a:prstGeom prst="rect">
            <a:avLst/>
          </a:prstGeom>
        </p:spPr>
      </p:pic>
      <p:sp>
        <p:nvSpPr>
          <p:cNvPr id="40" name="TextBox 39"/>
          <p:cNvSpPr txBox="1"/>
          <p:nvPr/>
        </p:nvSpPr>
        <p:spPr>
          <a:xfrm>
            <a:off x="4032504" y="27889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Semi-structured</a:t>
            </a:r>
          </a:p>
        </p:txBody>
      </p:sp>
      <p:sp>
        <p:nvSpPr>
          <p:cNvPr id="41" name="TextBox 40"/>
          <p:cNvSpPr txBox="1"/>
          <p:nvPr/>
        </p:nvSpPr>
        <p:spPr>
          <a:xfrm>
            <a:off x="4032504" y="31546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JSON, XML, logs</a:t>
            </a:r>
          </a:p>
        </p:txBody>
      </p:sp>
      <p:sp>
        <p:nvSpPr>
          <p:cNvPr id="42" name="Rounded Rectangle 41"/>
          <p:cNvSpPr/>
          <p:nvPr/>
        </p:nvSpPr>
        <p:spPr>
          <a:xfrm>
            <a:off x="3346704" y="36118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3346704" y="3611880"/>
            <a:ext cx="91440" cy="804672"/>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image_50B848_2.0.png"/>
          <p:cNvPicPr>
            <a:picLocks noChangeAspect="1"/>
          </p:cNvPicPr>
          <p:nvPr/>
        </p:nvPicPr>
        <p:blipFill>
          <a:blip r:embed="rId11"/>
          <a:stretch>
            <a:fillRect/>
          </a:stretch>
        </p:blipFill>
        <p:spPr>
          <a:xfrm>
            <a:off x="3529584" y="3794760"/>
            <a:ext cx="411480" cy="411480"/>
          </a:xfrm>
          <a:prstGeom prst="rect">
            <a:avLst/>
          </a:prstGeom>
        </p:spPr>
      </p:pic>
      <p:sp>
        <p:nvSpPr>
          <p:cNvPr id="45" name="TextBox 44"/>
          <p:cNvSpPr txBox="1"/>
          <p:nvPr/>
        </p:nvSpPr>
        <p:spPr>
          <a:xfrm>
            <a:off x="4032504" y="37033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Unstructured</a:t>
            </a:r>
          </a:p>
        </p:txBody>
      </p:sp>
      <p:sp>
        <p:nvSpPr>
          <p:cNvPr id="46" name="TextBox 45"/>
          <p:cNvSpPr txBox="1"/>
          <p:nvPr/>
        </p:nvSpPr>
        <p:spPr>
          <a:xfrm>
            <a:off x="4032504" y="40690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text, images, audio</a:t>
            </a:r>
          </a:p>
        </p:txBody>
      </p:sp>
      <p:sp>
        <p:nvSpPr>
          <p:cNvPr id="47" name="Rounded Rectangle 46"/>
          <p:cNvSpPr/>
          <p:nvPr/>
        </p:nvSpPr>
        <p:spPr>
          <a:xfrm>
            <a:off x="5221224" y="3493008"/>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3</a:t>
            </a:r>
          </a:p>
        </p:txBody>
      </p:sp>
      <p:cxnSp>
        <p:nvCxnSpPr>
          <p:cNvPr id="48" name="Connector 47"/>
          <p:cNvCxnSpPr/>
          <p:nvPr/>
        </p:nvCxnSpPr>
        <p:spPr>
          <a:xfrm>
            <a:off x="5961888" y="1417320"/>
            <a:ext cx="173736"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144768" y="1188720"/>
            <a:ext cx="2606040" cy="457200"/>
          </a:xfrm>
          <a:prstGeom prst="roundRect">
            <a:avLst>
              <a:gd name="adj" fmla="val 2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FFFFFF"/>
                </a:solidFill>
                <a:latin typeface="Arial"/>
              </a:rPr>
              <a:t>WHERE IT LIVES</a:t>
            </a:r>
          </a:p>
        </p:txBody>
      </p:sp>
      <p:pic>
        <p:nvPicPr>
          <p:cNvPr id="50" name="Picture 49" descr="server_FFFFFF_2.0.png"/>
          <p:cNvPicPr>
            <a:picLocks noChangeAspect="1"/>
          </p:cNvPicPr>
          <p:nvPr/>
        </p:nvPicPr>
        <p:blipFill>
          <a:blip r:embed="rId12"/>
          <a:stretch>
            <a:fillRect/>
          </a:stretch>
        </p:blipFill>
        <p:spPr>
          <a:xfrm>
            <a:off x="6236207" y="1289304"/>
            <a:ext cx="256032" cy="256032"/>
          </a:xfrm>
          <a:prstGeom prst="rect">
            <a:avLst/>
          </a:prstGeom>
        </p:spPr>
      </p:pic>
      <p:sp>
        <p:nvSpPr>
          <p:cNvPr id="51" name="Rounded Rectangle 50"/>
          <p:cNvSpPr/>
          <p:nvPr/>
        </p:nvSpPr>
        <p:spPr>
          <a:xfrm>
            <a:off x="6144768" y="17830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6144768" y="1783080"/>
            <a:ext cx="91440" cy="804672"/>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database_F37021_2.0.png"/>
          <p:cNvPicPr>
            <a:picLocks noChangeAspect="1"/>
          </p:cNvPicPr>
          <p:nvPr/>
        </p:nvPicPr>
        <p:blipFill>
          <a:blip r:embed="rId13"/>
          <a:stretch>
            <a:fillRect/>
          </a:stretch>
        </p:blipFill>
        <p:spPr>
          <a:xfrm>
            <a:off x="6327648" y="1965960"/>
            <a:ext cx="411480" cy="411480"/>
          </a:xfrm>
          <a:prstGeom prst="rect">
            <a:avLst/>
          </a:prstGeom>
        </p:spPr>
      </p:pic>
      <p:sp>
        <p:nvSpPr>
          <p:cNvPr id="54" name="TextBox 53"/>
          <p:cNvSpPr txBox="1"/>
          <p:nvPr/>
        </p:nvSpPr>
        <p:spPr>
          <a:xfrm>
            <a:off x="6830568" y="1874519"/>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Relational DB</a:t>
            </a:r>
          </a:p>
        </p:txBody>
      </p:sp>
      <p:sp>
        <p:nvSpPr>
          <p:cNvPr id="55" name="TextBox 54"/>
          <p:cNvSpPr txBox="1"/>
          <p:nvPr/>
        </p:nvSpPr>
        <p:spPr>
          <a:xfrm>
            <a:off x="6830568" y="22402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tables, queried with SQL</a:t>
            </a:r>
          </a:p>
        </p:txBody>
      </p:sp>
      <p:sp>
        <p:nvSpPr>
          <p:cNvPr id="56" name="Rounded Rectangle 55"/>
          <p:cNvSpPr/>
          <p:nvPr/>
        </p:nvSpPr>
        <p:spPr>
          <a:xfrm>
            <a:off x="8019288" y="1664207"/>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1</a:t>
            </a:r>
          </a:p>
        </p:txBody>
      </p:sp>
      <p:sp>
        <p:nvSpPr>
          <p:cNvPr id="57" name="Rounded Rectangle 56"/>
          <p:cNvSpPr/>
          <p:nvPr/>
        </p:nvSpPr>
        <p:spPr>
          <a:xfrm>
            <a:off x="6144768" y="26974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144768" y="2697480"/>
            <a:ext cx="91440" cy="804672"/>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icture 58" descr="warehouse_F37021_2.0.png"/>
          <p:cNvPicPr>
            <a:picLocks noChangeAspect="1"/>
          </p:cNvPicPr>
          <p:nvPr/>
        </p:nvPicPr>
        <p:blipFill>
          <a:blip r:embed="rId14"/>
          <a:stretch>
            <a:fillRect/>
          </a:stretch>
        </p:blipFill>
        <p:spPr>
          <a:xfrm>
            <a:off x="6327648" y="2880360"/>
            <a:ext cx="411480" cy="411480"/>
          </a:xfrm>
          <a:prstGeom prst="rect">
            <a:avLst/>
          </a:prstGeom>
        </p:spPr>
      </p:pic>
      <p:sp>
        <p:nvSpPr>
          <p:cNvPr id="60" name="TextBox 59"/>
          <p:cNvSpPr txBox="1"/>
          <p:nvPr/>
        </p:nvSpPr>
        <p:spPr>
          <a:xfrm>
            <a:off x="6830568" y="27889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Data warehouse</a:t>
            </a:r>
          </a:p>
        </p:txBody>
      </p:sp>
      <p:sp>
        <p:nvSpPr>
          <p:cNvPr id="61" name="TextBox 60"/>
          <p:cNvSpPr txBox="1"/>
          <p:nvPr/>
        </p:nvSpPr>
        <p:spPr>
          <a:xfrm>
            <a:off x="6830568" y="31546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prepared for analysis</a:t>
            </a:r>
          </a:p>
        </p:txBody>
      </p:sp>
      <p:sp>
        <p:nvSpPr>
          <p:cNvPr id="62" name="Rounded Rectangle 61"/>
          <p:cNvSpPr/>
          <p:nvPr/>
        </p:nvSpPr>
        <p:spPr>
          <a:xfrm>
            <a:off x="6144768" y="36118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6144768" y="3611880"/>
            <a:ext cx="91440" cy="804672"/>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waves_F37021_2.0.png"/>
          <p:cNvPicPr>
            <a:picLocks noChangeAspect="1"/>
          </p:cNvPicPr>
          <p:nvPr/>
        </p:nvPicPr>
        <p:blipFill>
          <a:blip r:embed="rId15"/>
          <a:stretch>
            <a:fillRect/>
          </a:stretch>
        </p:blipFill>
        <p:spPr>
          <a:xfrm>
            <a:off x="6327648" y="3794760"/>
            <a:ext cx="411480" cy="411480"/>
          </a:xfrm>
          <a:prstGeom prst="rect">
            <a:avLst/>
          </a:prstGeom>
        </p:spPr>
      </p:pic>
      <p:sp>
        <p:nvSpPr>
          <p:cNvPr id="65" name="TextBox 64"/>
          <p:cNvSpPr txBox="1"/>
          <p:nvPr/>
        </p:nvSpPr>
        <p:spPr>
          <a:xfrm>
            <a:off x="6830568" y="37033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Data lake</a:t>
            </a:r>
          </a:p>
        </p:txBody>
      </p:sp>
      <p:sp>
        <p:nvSpPr>
          <p:cNvPr id="66" name="TextBox 65"/>
          <p:cNvSpPr txBox="1"/>
          <p:nvPr/>
        </p:nvSpPr>
        <p:spPr>
          <a:xfrm>
            <a:off x="6830568" y="40690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raw files, any kind</a:t>
            </a:r>
          </a:p>
        </p:txBody>
      </p:sp>
      <p:sp>
        <p:nvSpPr>
          <p:cNvPr id="67" name="Rounded Rectangle 66"/>
          <p:cNvSpPr/>
          <p:nvPr/>
        </p:nvSpPr>
        <p:spPr>
          <a:xfrm>
            <a:off x="6144768" y="45262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6144768" y="4526280"/>
            <a:ext cx="91440" cy="804672"/>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chart-scatter_F37021_2.0.png"/>
          <p:cNvPicPr>
            <a:picLocks noChangeAspect="1"/>
          </p:cNvPicPr>
          <p:nvPr/>
        </p:nvPicPr>
        <p:blipFill>
          <a:blip r:embed="rId16"/>
          <a:stretch>
            <a:fillRect/>
          </a:stretch>
        </p:blipFill>
        <p:spPr>
          <a:xfrm>
            <a:off x="6327648" y="4709160"/>
            <a:ext cx="411480" cy="411480"/>
          </a:xfrm>
          <a:prstGeom prst="rect">
            <a:avLst/>
          </a:prstGeom>
        </p:spPr>
      </p:pic>
      <p:sp>
        <p:nvSpPr>
          <p:cNvPr id="70" name="TextBox 69"/>
          <p:cNvSpPr txBox="1"/>
          <p:nvPr/>
        </p:nvSpPr>
        <p:spPr>
          <a:xfrm>
            <a:off x="6830568" y="46177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Vector database</a:t>
            </a:r>
          </a:p>
        </p:txBody>
      </p:sp>
      <p:sp>
        <p:nvSpPr>
          <p:cNvPr id="71" name="TextBox 70"/>
          <p:cNvSpPr txBox="1"/>
          <p:nvPr/>
        </p:nvSpPr>
        <p:spPr>
          <a:xfrm>
            <a:off x="6830568" y="49834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search by meaning</a:t>
            </a:r>
          </a:p>
        </p:txBody>
      </p:sp>
      <p:sp>
        <p:nvSpPr>
          <p:cNvPr id="72" name="Rounded Rectangle 71"/>
          <p:cNvSpPr/>
          <p:nvPr/>
        </p:nvSpPr>
        <p:spPr>
          <a:xfrm>
            <a:off x="8019288" y="4407408"/>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3</a:t>
            </a:r>
          </a:p>
        </p:txBody>
      </p:sp>
      <p:cxnSp>
        <p:nvCxnSpPr>
          <p:cNvPr id="73" name="Connector 72"/>
          <p:cNvCxnSpPr/>
          <p:nvPr/>
        </p:nvCxnSpPr>
        <p:spPr>
          <a:xfrm>
            <a:off x="8759952" y="1417320"/>
            <a:ext cx="173736"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8942832" y="1188720"/>
            <a:ext cx="2606040" cy="457200"/>
          </a:xfrm>
          <a:prstGeom prst="roundRect">
            <a:avLst>
              <a:gd name="adj" fmla="val 20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FFFFFF"/>
                </a:solidFill>
                <a:latin typeface="Arial"/>
              </a:rPr>
              <a:t>WHAT WE DO WITH IT</a:t>
            </a:r>
          </a:p>
        </p:txBody>
      </p:sp>
      <p:pic>
        <p:nvPicPr>
          <p:cNvPr id="75" name="Picture 74" descr="rocket_FFFFFF_2.0.png"/>
          <p:cNvPicPr>
            <a:picLocks noChangeAspect="1"/>
          </p:cNvPicPr>
          <p:nvPr/>
        </p:nvPicPr>
        <p:blipFill>
          <a:blip r:embed="rId17"/>
          <a:stretch>
            <a:fillRect/>
          </a:stretch>
        </p:blipFill>
        <p:spPr>
          <a:xfrm>
            <a:off x="9034272" y="1289304"/>
            <a:ext cx="256032" cy="256032"/>
          </a:xfrm>
          <a:prstGeom prst="rect">
            <a:avLst/>
          </a:prstGeom>
        </p:spPr>
      </p:pic>
      <p:sp>
        <p:nvSpPr>
          <p:cNvPr id="76" name="Rounded Rectangle 75"/>
          <p:cNvSpPr/>
          <p:nvPr/>
        </p:nvSpPr>
        <p:spPr>
          <a:xfrm>
            <a:off x="8942832" y="17830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8942832" y="1783080"/>
            <a:ext cx="91440" cy="804672"/>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8" name="Picture 77" descr="layout-dashboard_19226D_2.0.png"/>
          <p:cNvPicPr>
            <a:picLocks noChangeAspect="1"/>
          </p:cNvPicPr>
          <p:nvPr/>
        </p:nvPicPr>
        <p:blipFill>
          <a:blip r:embed="rId18"/>
          <a:stretch>
            <a:fillRect/>
          </a:stretch>
        </p:blipFill>
        <p:spPr>
          <a:xfrm>
            <a:off x="9125711" y="1965960"/>
            <a:ext cx="411480" cy="411480"/>
          </a:xfrm>
          <a:prstGeom prst="rect">
            <a:avLst/>
          </a:prstGeom>
        </p:spPr>
      </p:pic>
      <p:sp>
        <p:nvSpPr>
          <p:cNvPr id="79" name="TextBox 78"/>
          <p:cNvSpPr txBox="1"/>
          <p:nvPr/>
        </p:nvSpPr>
        <p:spPr>
          <a:xfrm>
            <a:off x="9628632" y="1874519"/>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Dashboards</a:t>
            </a:r>
          </a:p>
        </p:txBody>
      </p:sp>
      <p:sp>
        <p:nvSpPr>
          <p:cNvPr id="80" name="TextBox 79"/>
          <p:cNvSpPr txBox="1"/>
          <p:nvPr/>
        </p:nvSpPr>
        <p:spPr>
          <a:xfrm>
            <a:off x="9628632" y="22402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KPIs and charts</a:t>
            </a:r>
          </a:p>
        </p:txBody>
      </p:sp>
      <p:sp>
        <p:nvSpPr>
          <p:cNvPr id="81" name="Rounded Rectangle 80"/>
          <p:cNvSpPr/>
          <p:nvPr/>
        </p:nvSpPr>
        <p:spPr>
          <a:xfrm>
            <a:off x="10817351" y="1664207"/>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2</a:t>
            </a:r>
          </a:p>
        </p:txBody>
      </p:sp>
      <p:sp>
        <p:nvSpPr>
          <p:cNvPr id="82" name="Rounded Rectangle 81"/>
          <p:cNvSpPr/>
          <p:nvPr/>
        </p:nvSpPr>
        <p:spPr>
          <a:xfrm>
            <a:off x="8942832" y="26974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8942832" y="2697480"/>
            <a:ext cx="91440" cy="804672"/>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4" name="Picture 83" descr="brain_19226D_2.0.png"/>
          <p:cNvPicPr>
            <a:picLocks noChangeAspect="1"/>
          </p:cNvPicPr>
          <p:nvPr/>
        </p:nvPicPr>
        <p:blipFill>
          <a:blip r:embed="rId19"/>
          <a:stretch>
            <a:fillRect/>
          </a:stretch>
        </p:blipFill>
        <p:spPr>
          <a:xfrm>
            <a:off x="9125711" y="2880360"/>
            <a:ext cx="411480" cy="411480"/>
          </a:xfrm>
          <a:prstGeom prst="rect">
            <a:avLst/>
          </a:prstGeom>
        </p:spPr>
      </p:pic>
      <p:sp>
        <p:nvSpPr>
          <p:cNvPr id="85" name="TextBox 84"/>
          <p:cNvSpPr txBox="1"/>
          <p:nvPr/>
        </p:nvSpPr>
        <p:spPr>
          <a:xfrm>
            <a:off x="9628632" y="27889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Machine learning</a:t>
            </a:r>
          </a:p>
        </p:txBody>
      </p:sp>
      <p:sp>
        <p:nvSpPr>
          <p:cNvPr id="86" name="TextBox 85"/>
          <p:cNvSpPr txBox="1"/>
          <p:nvPr/>
        </p:nvSpPr>
        <p:spPr>
          <a:xfrm>
            <a:off x="9628632" y="31546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predict and classify</a:t>
            </a:r>
          </a:p>
        </p:txBody>
      </p:sp>
      <p:sp>
        <p:nvSpPr>
          <p:cNvPr id="87" name="Rounded Rectangle 86"/>
          <p:cNvSpPr/>
          <p:nvPr/>
        </p:nvSpPr>
        <p:spPr>
          <a:xfrm>
            <a:off x="8942832" y="3611880"/>
            <a:ext cx="2606040" cy="804672"/>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942832" y="3611880"/>
            <a:ext cx="91440" cy="804672"/>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9" name="Picture 88" descr="bot_19226D_2.0.png"/>
          <p:cNvPicPr>
            <a:picLocks noChangeAspect="1"/>
          </p:cNvPicPr>
          <p:nvPr/>
        </p:nvPicPr>
        <p:blipFill>
          <a:blip r:embed="rId20"/>
          <a:stretch>
            <a:fillRect/>
          </a:stretch>
        </p:blipFill>
        <p:spPr>
          <a:xfrm>
            <a:off x="9125711" y="3794760"/>
            <a:ext cx="411480" cy="411480"/>
          </a:xfrm>
          <a:prstGeom prst="rect">
            <a:avLst/>
          </a:prstGeom>
        </p:spPr>
      </p:pic>
      <p:sp>
        <p:nvSpPr>
          <p:cNvPr id="90" name="TextBox 89"/>
          <p:cNvSpPr txBox="1"/>
          <p:nvPr/>
        </p:nvSpPr>
        <p:spPr>
          <a:xfrm>
            <a:off x="9628632" y="3703320"/>
            <a:ext cx="1874519" cy="365760"/>
          </a:xfrm>
          <a:prstGeom prst="rect">
            <a:avLst/>
          </a:prstGeom>
          <a:noFill/>
        </p:spPr>
        <p:txBody>
          <a:bodyPr wrap="square" lIns="45720" rIns="45720" tIns="27432" bIns="27432" anchor="t">
            <a:spAutoFit/>
          </a:bodyPr>
          <a:lstStyle/>
          <a:p>
            <a:pPr algn="l"/>
            <a:r>
              <a:rPr sz="1300" b="1" i="0">
                <a:solidFill>
                  <a:srgbClr val="0B0A0C"/>
                </a:solidFill>
                <a:latin typeface="Arial"/>
              </a:rPr>
              <a:t>AI assistants</a:t>
            </a:r>
          </a:p>
        </p:txBody>
      </p:sp>
      <p:sp>
        <p:nvSpPr>
          <p:cNvPr id="91" name="TextBox 90"/>
          <p:cNvSpPr txBox="1"/>
          <p:nvPr/>
        </p:nvSpPr>
        <p:spPr>
          <a:xfrm>
            <a:off x="9628632" y="4069080"/>
            <a:ext cx="1874519" cy="320040"/>
          </a:xfrm>
          <a:prstGeom prst="rect">
            <a:avLst/>
          </a:prstGeom>
          <a:noFill/>
        </p:spPr>
        <p:txBody>
          <a:bodyPr wrap="square" lIns="45720" rIns="45720" tIns="27432" bIns="27432" anchor="t">
            <a:spAutoFit/>
          </a:bodyPr>
          <a:lstStyle/>
          <a:p>
            <a:pPr algn="l"/>
            <a:r>
              <a:rPr sz="1100" b="0" i="0">
                <a:solidFill>
                  <a:srgbClr val="5F6B7A"/>
                </a:solidFill>
                <a:latin typeface="Arial"/>
              </a:rPr>
              <a:t>answer from knowledge</a:t>
            </a:r>
          </a:p>
        </p:txBody>
      </p:sp>
      <p:sp>
        <p:nvSpPr>
          <p:cNvPr id="92" name="Rounded Rectangle 91"/>
          <p:cNvSpPr/>
          <p:nvPr/>
        </p:nvSpPr>
        <p:spPr>
          <a:xfrm>
            <a:off x="10817351" y="3493008"/>
            <a:ext cx="694944" cy="246888"/>
          </a:xfrm>
          <a:prstGeom prst="roundRect">
            <a:avLst>
              <a:gd name="adj" fmla="val 5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00" b="1">
                <a:solidFill>
                  <a:srgbClr val="FFFFFF"/>
                </a:solidFill>
                <a:latin typeface="Arial"/>
              </a:rPr>
              <a:t>Lab 3</a:t>
            </a:r>
          </a:p>
        </p:txBody>
      </p:sp>
      <p:sp>
        <p:nvSpPr>
          <p:cNvPr id="93" name="Rounded Rectangle 92"/>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Data comes in many shapes and homes. Knowing which tool fits which shape is the real skill.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AI landscape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ai_landscape.png"/>
          <p:cNvPicPr>
            <a:picLocks noChangeAspect="1"/>
          </p:cNvPicPr>
          <p:nvPr/>
        </p:nvPicPr>
        <p:blipFill>
          <a:blip r:embed="rId3"/>
          <a:stretch>
            <a:fillRect/>
          </a:stretch>
        </p:blipFill>
        <p:spPr>
          <a:xfrm>
            <a:off x="605117" y="1097280"/>
            <a:ext cx="6745044" cy="5212080"/>
          </a:xfrm>
          <a:prstGeom prst="rect">
            <a:avLst/>
          </a:prstGeom>
        </p:spPr>
      </p:pic>
      <p:sp>
        <p:nvSpPr>
          <p:cNvPr id="6" name="Rounded Rectangle 5"/>
          <p:cNvSpPr/>
          <p:nvPr/>
        </p:nvSpPr>
        <p:spPr>
          <a:xfrm>
            <a:off x="7772400" y="1188720"/>
            <a:ext cx="3867912" cy="841248"/>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0" y="1188720"/>
            <a:ext cx="109728" cy="841248"/>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01000" y="1261872"/>
            <a:ext cx="3017520" cy="320040"/>
          </a:xfrm>
          <a:prstGeom prst="rect">
            <a:avLst/>
          </a:prstGeom>
          <a:noFill/>
        </p:spPr>
        <p:txBody>
          <a:bodyPr wrap="square" lIns="45720" rIns="45720" tIns="27432" bIns="27432" anchor="t">
            <a:spAutoFit/>
          </a:bodyPr>
          <a:lstStyle/>
          <a:p>
            <a:pPr algn="l"/>
            <a:r>
              <a:rPr sz="1500" b="1" i="0">
                <a:solidFill>
                  <a:srgbClr val="034EA2"/>
                </a:solidFill>
                <a:latin typeface="Arial"/>
              </a:rPr>
              <a:t>Artificial intelligence</a:t>
            </a:r>
          </a:p>
        </p:txBody>
      </p:sp>
      <p:sp>
        <p:nvSpPr>
          <p:cNvPr id="9" name="TextBox 8"/>
          <p:cNvSpPr txBox="1"/>
          <p:nvPr/>
        </p:nvSpPr>
        <p:spPr>
          <a:xfrm>
            <a:off x="8001000" y="1600200"/>
            <a:ext cx="3017520" cy="411480"/>
          </a:xfrm>
          <a:prstGeom prst="rect">
            <a:avLst/>
          </a:prstGeom>
          <a:noFill/>
        </p:spPr>
        <p:txBody>
          <a:bodyPr wrap="square" lIns="45720" rIns="45720" tIns="27432" bIns="27432" anchor="t">
            <a:spAutoFit/>
          </a:bodyPr>
          <a:lstStyle/>
          <a:p>
            <a:pPr algn="l"/>
            <a:r>
              <a:rPr sz="1200" b="0" i="0">
                <a:solidFill>
                  <a:srgbClr val="0B0A0C"/>
                </a:solidFill>
                <a:latin typeface="Arial"/>
              </a:rPr>
              <a:t>the umbrella: software that behaves intelligently</a:t>
            </a:r>
          </a:p>
        </p:txBody>
      </p:sp>
      <p:pic>
        <p:nvPicPr>
          <p:cNvPr id="10" name="Picture 9" descr="brain-circuit_034EA2_2.0.png"/>
          <p:cNvPicPr>
            <a:picLocks noChangeAspect="1"/>
          </p:cNvPicPr>
          <p:nvPr/>
        </p:nvPicPr>
        <p:blipFill>
          <a:blip r:embed="rId4"/>
          <a:stretch>
            <a:fillRect/>
          </a:stretch>
        </p:blipFill>
        <p:spPr>
          <a:xfrm>
            <a:off x="11064240" y="1371600"/>
            <a:ext cx="457200" cy="457200"/>
          </a:xfrm>
          <a:prstGeom prst="rect">
            <a:avLst/>
          </a:prstGeom>
        </p:spPr>
      </p:pic>
      <p:sp>
        <p:nvSpPr>
          <p:cNvPr id="11" name="Rounded Rectangle 10"/>
          <p:cNvSpPr/>
          <p:nvPr/>
        </p:nvSpPr>
        <p:spPr>
          <a:xfrm>
            <a:off x="7772400" y="2148840"/>
            <a:ext cx="3867912" cy="841248"/>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0" y="2148840"/>
            <a:ext cx="109728" cy="841248"/>
          </a:xfrm>
          <a:prstGeom prst="rect">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01000" y="2221992"/>
            <a:ext cx="3017520" cy="320040"/>
          </a:xfrm>
          <a:prstGeom prst="rect">
            <a:avLst/>
          </a:prstGeom>
          <a:noFill/>
        </p:spPr>
        <p:txBody>
          <a:bodyPr wrap="square" lIns="45720" rIns="45720" tIns="27432" bIns="27432" anchor="t">
            <a:spAutoFit/>
          </a:bodyPr>
          <a:lstStyle/>
          <a:p>
            <a:pPr algn="l"/>
            <a:r>
              <a:rPr sz="1500" b="1" i="0">
                <a:solidFill>
                  <a:srgbClr val="33B2C1"/>
                </a:solidFill>
                <a:latin typeface="Arial"/>
              </a:rPr>
              <a:t>Machine learning</a:t>
            </a:r>
          </a:p>
        </p:txBody>
      </p:sp>
      <p:sp>
        <p:nvSpPr>
          <p:cNvPr id="14" name="TextBox 13"/>
          <p:cNvSpPr txBox="1"/>
          <p:nvPr/>
        </p:nvSpPr>
        <p:spPr>
          <a:xfrm>
            <a:off x="8001000" y="2560320"/>
            <a:ext cx="3017520" cy="411480"/>
          </a:xfrm>
          <a:prstGeom prst="rect">
            <a:avLst/>
          </a:prstGeom>
          <a:noFill/>
        </p:spPr>
        <p:txBody>
          <a:bodyPr wrap="square" lIns="45720" rIns="45720" tIns="27432" bIns="27432" anchor="t">
            <a:spAutoFit/>
          </a:bodyPr>
          <a:lstStyle/>
          <a:p>
            <a:pPr algn="l"/>
            <a:r>
              <a:rPr sz="1200" b="0" i="0">
                <a:solidFill>
                  <a:srgbClr val="0B0A0C"/>
                </a:solidFill>
                <a:latin typeface="Arial"/>
              </a:rPr>
              <a:t>learns patterns from data instead of hand-written rules</a:t>
            </a:r>
          </a:p>
        </p:txBody>
      </p:sp>
      <p:pic>
        <p:nvPicPr>
          <p:cNvPr id="15" name="Picture 14" descr="trending-up_33B2C1_2.0.png"/>
          <p:cNvPicPr>
            <a:picLocks noChangeAspect="1"/>
          </p:cNvPicPr>
          <p:nvPr/>
        </p:nvPicPr>
        <p:blipFill>
          <a:blip r:embed="rId5"/>
          <a:stretch>
            <a:fillRect/>
          </a:stretch>
        </p:blipFill>
        <p:spPr>
          <a:xfrm>
            <a:off x="11064240" y="2331720"/>
            <a:ext cx="457200" cy="457200"/>
          </a:xfrm>
          <a:prstGeom prst="rect">
            <a:avLst/>
          </a:prstGeom>
        </p:spPr>
      </p:pic>
      <p:sp>
        <p:nvSpPr>
          <p:cNvPr id="16" name="Rounded Rectangle 15"/>
          <p:cNvSpPr/>
          <p:nvPr/>
        </p:nvSpPr>
        <p:spPr>
          <a:xfrm>
            <a:off x="7772400" y="3108960"/>
            <a:ext cx="3867912" cy="841248"/>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0" y="3108960"/>
            <a:ext cx="109728" cy="841248"/>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01000" y="3182112"/>
            <a:ext cx="3017520" cy="320040"/>
          </a:xfrm>
          <a:prstGeom prst="rect">
            <a:avLst/>
          </a:prstGeom>
          <a:noFill/>
        </p:spPr>
        <p:txBody>
          <a:bodyPr wrap="square" lIns="45720" rIns="45720" tIns="27432" bIns="27432" anchor="t">
            <a:spAutoFit/>
          </a:bodyPr>
          <a:lstStyle/>
          <a:p>
            <a:pPr algn="l"/>
            <a:r>
              <a:rPr sz="1500" b="1" i="0">
                <a:solidFill>
                  <a:srgbClr val="F37021"/>
                </a:solidFill>
                <a:latin typeface="Arial"/>
              </a:rPr>
              <a:t>Deep learning</a:t>
            </a:r>
          </a:p>
        </p:txBody>
      </p:sp>
      <p:sp>
        <p:nvSpPr>
          <p:cNvPr id="19" name="TextBox 18"/>
          <p:cNvSpPr txBox="1"/>
          <p:nvPr/>
        </p:nvSpPr>
        <p:spPr>
          <a:xfrm>
            <a:off x="8001000" y="3520440"/>
            <a:ext cx="3017520" cy="411480"/>
          </a:xfrm>
          <a:prstGeom prst="rect">
            <a:avLst/>
          </a:prstGeom>
          <a:noFill/>
        </p:spPr>
        <p:txBody>
          <a:bodyPr wrap="square" lIns="45720" rIns="45720" tIns="27432" bIns="27432" anchor="t">
            <a:spAutoFit/>
          </a:bodyPr>
          <a:lstStyle/>
          <a:p>
            <a:pPr algn="l"/>
            <a:r>
              <a:rPr sz="1200" b="0" i="0">
                <a:solidFill>
                  <a:srgbClr val="0B0A0C"/>
                </a:solidFill>
                <a:latin typeface="Arial"/>
              </a:rPr>
              <a:t>many-layered neural networks</a:t>
            </a:r>
          </a:p>
        </p:txBody>
      </p:sp>
      <p:pic>
        <p:nvPicPr>
          <p:cNvPr id="20" name="Picture 19" descr="layers_F37021_2.0.png"/>
          <p:cNvPicPr>
            <a:picLocks noChangeAspect="1"/>
          </p:cNvPicPr>
          <p:nvPr/>
        </p:nvPicPr>
        <p:blipFill>
          <a:blip r:embed="rId6"/>
          <a:stretch>
            <a:fillRect/>
          </a:stretch>
        </p:blipFill>
        <p:spPr>
          <a:xfrm>
            <a:off x="11064240" y="3291840"/>
            <a:ext cx="457200" cy="457200"/>
          </a:xfrm>
          <a:prstGeom prst="rect">
            <a:avLst/>
          </a:prstGeom>
        </p:spPr>
      </p:pic>
      <p:sp>
        <p:nvSpPr>
          <p:cNvPr id="21" name="Rounded Rectangle 20"/>
          <p:cNvSpPr/>
          <p:nvPr/>
        </p:nvSpPr>
        <p:spPr>
          <a:xfrm>
            <a:off x="7772400" y="4069080"/>
            <a:ext cx="3867912" cy="841248"/>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0" y="4069080"/>
            <a:ext cx="109728" cy="841248"/>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001000" y="4142232"/>
            <a:ext cx="3017520" cy="320040"/>
          </a:xfrm>
          <a:prstGeom prst="rect">
            <a:avLst/>
          </a:prstGeom>
          <a:noFill/>
        </p:spPr>
        <p:txBody>
          <a:bodyPr wrap="square" lIns="45720" rIns="45720" tIns="27432" bIns="27432" anchor="t">
            <a:spAutoFit/>
          </a:bodyPr>
          <a:lstStyle/>
          <a:p>
            <a:pPr algn="l"/>
            <a:r>
              <a:rPr sz="1500" b="1" i="0">
                <a:solidFill>
                  <a:srgbClr val="50B848"/>
                </a:solidFill>
                <a:latin typeface="Arial"/>
              </a:rPr>
              <a:t>Generative AI</a:t>
            </a:r>
          </a:p>
        </p:txBody>
      </p:sp>
      <p:sp>
        <p:nvSpPr>
          <p:cNvPr id="24" name="TextBox 23"/>
          <p:cNvSpPr txBox="1"/>
          <p:nvPr/>
        </p:nvSpPr>
        <p:spPr>
          <a:xfrm>
            <a:off x="8001000" y="4480560"/>
            <a:ext cx="3017520" cy="411480"/>
          </a:xfrm>
          <a:prstGeom prst="rect">
            <a:avLst/>
          </a:prstGeom>
          <a:noFill/>
        </p:spPr>
        <p:txBody>
          <a:bodyPr wrap="square" lIns="45720" rIns="45720" tIns="27432" bIns="27432" anchor="t">
            <a:spAutoFit/>
          </a:bodyPr>
          <a:lstStyle/>
          <a:p>
            <a:pPr algn="l"/>
            <a:r>
              <a:rPr sz="1200" b="0" i="0">
                <a:solidFill>
                  <a:srgbClr val="0B0A0C"/>
                </a:solidFill>
                <a:latin typeface="Arial"/>
              </a:rPr>
              <a:t>creates text, code and images: LLMs live here</a:t>
            </a:r>
          </a:p>
        </p:txBody>
      </p:sp>
      <p:pic>
        <p:nvPicPr>
          <p:cNvPr id="25" name="Picture 24" descr="sparkles_50B848_2.0.png"/>
          <p:cNvPicPr>
            <a:picLocks noChangeAspect="1"/>
          </p:cNvPicPr>
          <p:nvPr/>
        </p:nvPicPr>
        <p:blipFill>
          <a:blip r:embed="rId7"/>
          <a:stretch>
            <a:fillRect/>
          </a:stretch>
        </p:blipFill>
        <p:spPr>
          <a:xfrm>
            <a:off x="11064240" y="4251960"/>
            <a:ext cx="457200" cy="457200"/>
          </a:xfrm>
          <a:prstGeom prst="rect">
            <a:avLst/>
          </a:prstGeom>
        </p:spPr>
      </p:pic>
      <p:sp>
        <p:nvSpPr>
          <p:cNvPr id="26" name="Rounded Rectangle 25"/>
          <p:cNvSpPr/>
          <p:nvPr/>
        </p:nvSpPr>
        <p:spPr>
          <a:xfrm>
            <a:off x="7772400" y="5120640"/>
            <a:ext cx="3867912" cy="685800"/>
          </a:xfrm>
          <a:prstGeom prst="roundRect">
            <a:avLst>
              <a:gd name="adj" fmla="val 15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FFFFFF"/>
                </a:solidFill>
                <a:latin typeface="Arial"/>
              </a:rPr>
              <a:t>This workshop: LLM + embeddings + RAG</a:t>
            </a:r>
          </a:p>
        </p:txBody>
      </p:sp>
      <p:sp>
        <p:nvSpPr>
          <p:cNvPr id="27" name="TextBox 26"/>
          <p:cNvSpPr txBox="1"/>
          <p:nvPr/>
        </p:nvSpPr>
        <p:spPr>
          <a:xfrm>
            <a:off x="3931920" y="6446520"/>
            <a:ext cx="6949440" cy="274320"/>
          </a:xfrm>
          <a:prstGeom prst="rect">
            <a:avLst/>
          </a:prstGeom>
          <a:noFill/>
        </p:spPr>
        <p:txBody>
          <a:bodyPr wrap="square" lIns="45720" rIns="45720" tIns="27432" bIns="27432" anchor="t">
            <a:spAutoFit/>
          </a:bodyPr>
          <a:lstStyle/>
          <a:p>
            <a:pPr algn="r"/>
            <a:r>
              <a:rPr sz="900" b="0" i="0">
                <a:solidFill>
                  <a:srgbClr val="5F6B7A"/>
                </a:solidFill>
                <a:latin typeface="Arial"/>
              </a:rPr>
              <a:t>Image: "Unraveling AI Complexity" by Lily Popova Zhuhadar, Wikimedia Commons, CC BY-SA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enterprises care about data</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325880"/>
            <a:ext cx="210312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25880"/>
            <a:ext cx="2103120" cy="132588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1800" b="1">
                <a:solidFill>
                  <a:srgbClr val="FFFFFF"/>
                </a:solidFill>
                <a:latin typeface="Arial"/>
              </a:rPr>
              <a:t>Better decisions</a:t>
            </a:r>
          </a:p>
        </p:txBody>
      </p:sp>
      <p:pic>
        <p:nvPicPr>
          <p:cNvPr id="7" name="Picture 6" descr="lightbulb_FFFFFF_2.0.png"/>
          <p:cNvPicPr>
            <a:picLocks noChangeAspect="1"/>
          </p:cNvPicPr>
          <p:nvPr/>
        </p:nvPicPr>
        <p:blipFill>
          <a:blip r:embed="rId3"/>
          <a:stretch>
            <a:fillRect/>
          </a:stretch>
        </p:blipFill>
        <p:spPr>
          <a:xfrm>
            <a:off x="1325880" y="1444752"/>
            <a:ext cx="548640" cy="548640"/>
          </a:xfrm>
          <a:prstGeom prst="rect">
            <a:avLst/>
          </a:prstGeom>
        </p:spPr>
      </p:pic>
      <p:sp>
        <p:nvSpPr>
          <p:cNvPr id="8" name="TextBox 7"/>
          <p:cNvSpPr txBox="1"/>
          <p:nvPr/>
        </p:nvSpPr>
        <p:spPr>
          <a:xfrm>
            <a:off x="685800" y="2834640"/>
            <a:ext cx="1828800" cy="2011680"/>
          </a:xfrm>
          <a:prstGeom prst="rect">
            <a:avLst/>
          </a:prstGeom>
          <a:noFill/>
        </p:spPr>
        <p:txBody>
          <a:bodyPr wrap="square" lIns="45720" rIns="45720" tIns="27432" bIns="27432" anchor="t">
            <a:spAutoFit/>
          </a:bodyPr>
          <a:lstStyle/>
          <a:p>
            <a:pPr algn="l"/>
            <a:r>
              <a:rPr sz="1700" b="0" i="0">
                <a:solidFill>
                  <a:srgbClr val="0B0A0C"/>
                </a:solidFill>
                <a:latin typeface="Arial"/>
              </a:rPr>
              <a:t>Accurate data drives smarter, faster business decisions.</a:t>
            </a:r>
          </a:p>
        </p:txBody>
      </p:sp>
      <p:sp>
        <p:nvSpPr>
          <p:cNvPr id="9" name="Rounded Rectangle 8"/>
          <p:cNvSpPr/>
          <p:nvPr/>
        </p:nvSpPr>
        <p:spPr>
          <a:xfrm>
            <a:off x="2798064" y="1325880"/>
            <a:ext cx="210312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798064" y="1325880"/>
            <a:ext cx="2103120" cy="132588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1800" b="1">
                <a:solidFill>
                  <a:srgbClr val="FFFFFF"/>
                </a:solidFill>
                <a:latin typeface="Arial"/>
              </a:rPr>
              <a:t>Competitive edge</a:t>
            </a:r>
          </a:p>
        </p:txBody>
      </p:sp>
      <p:pic>
        <p:nvPicPr>
          <p:cNvPr id="11" name="Picture 10" descr="trophy_FFFFFF_2.0.png"/>
          <p:cNvPicPr>
            <a:picLocks noChangeAspect="1"/>
          </p:cNvPicPr>
          <p:nvPr/>
        </p:nvPicPr>
        <p:blipFill>
          <a:blip r:embed="rId4"/>
          <a:stretch>
            <a:fillRect/>
          </a:stretch>
        </p:blipFill>
        <p:spPr>
          <a:xfrm>
            <a:off x="3575304" y="1444752"/>
            <a:ext cx="548640" cy="548640"/>
          </a:xfrm>
          <a:prstGeom prst="rect">
            <a:avLst/>
          </a:prstGeom>
        </p:spPr>
      </p:pic>
      <p:sp>
        <p:nvSpPr>
          <p:cNvPr id="12" name="TextBox 11"/>
          <p:cNvSpPr txBox="1"/>
          <p:nvPr/>
        </p:nvSpPr>
        <p:spPr>
          <a:xfrm>
            <a:off x="2935224" y="2834640"/>
            <a:ext cx="1828800" cy="2011680"/>
          </a:xfrm>
          <a:prstGeom prst="rect">
            <a:avLst/>
          </a:prstGeom>
          <a:noFill/>
        </p:spPr>
        <p:txBody>
          <a:bodyPr wrap="square" lIns="45720" rIns="45720" tIns="27432" bIns="27432" anchor="t">
            <a:spAutoFit/>
          </a:bodyPr>
          <a:lstStyle/>
          <a:p>
            <a:pPr algn="l"/>
            <a:r>
              <a:rPr sz="1700" b="0" i="0">
                <a:solidFill>
                  <a:srgbClr val="0B0A0C"/>
                </a:solidFill>
                <a:latin typeface="Arial"/>
              </a:rPr>
              <a:t>Harness data to stay ahead of market trends and customer needs.</a:t>
            </a:r>
          </a:p>
        </p:txBody>
      </p:sp>
      <p:sp>
        <p:nvSpPr>
          <p:cNvPr id="13" name="Rounded Rectangle 12"/>
          <p:cNvSpPr/>
          <p:nvPr/>
        </p:nvSpPr>
        <p:spPr>
          <a:xfrm>
            <a:off x="5047488" y="1325880"/>
            <a:ext cx="210312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47488" y="1325880"/>
            <a:ext cx="2103120" cy="132588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1800" b="1">
                <a:solidFill>
                  <a:srgbClr val="FFFFFF"/>
                </a:solidFill>
                <a:latin typeface="Arial"/>
              </a:rPr>
              <a:t>Operational efficiency</a:t>
            </a:r>
          </a:p>
        </p:txBody>
      </p:sp>
      <p:pic>
        <p:nvPicPr>
          <p:cNvPr id="15" name="Picture 14" descr="gauge_FFFFFF_2.0.png"/>
          <p:cNvPicPr>
            <a:picLocks noChangeAspect="1"/>
          </p:cNvPicPr>
          <p:nvPr/>
        </p:nvPicPr>
        <p:blipFill>
          <a:blip r:embed="rId5"/>
          <a:stretch>
            <a:fillRect/>
          </a:stretch>
        </p:blipFill>
        <p:spPr>
          <a:xfrm>
            <a:off x="5824727" y="1444752"/>
            <a:ext cx="548640" cy="548640"/>
          </a:xfrm>
          <a:prstGeom prst="rect">
            <a:avLst/>
          </a:prstGeom>
        </p:spPr>
      </p:pic>
      <p:sp>
        <p:nvSpPr>
          <p:cNvPr id="16" name="TextBox 15"/>
          <p:cNvSpPr txBox="1"/>
          <p:nvPr/>
        </p:nvSpPr>
        <p:spPr>
          <a:xfrm>
            <a:off x="5184648" y="2834640"/>
            <a:ext cx="1828800" cy="2011680"/>
          </a:xfrm>
          <a:prstGeom prst="rect">
            <a:avLst/>
          </a:prstGeom>
          <a:noFill/>
        </p:spPr>
        <p:txBody>
          <a:bodyPr wrap="square" lIns="45720" rIns="45720" tIns="27432" bIns="27432" anchor="t">
            <a:spAutoFit/>
          </a:bodyPr>
          <a:lstStyle/>
          <a:p>
            <a:pPr algn="l"/>
            <a:r>
              <a:rPr sz="1700" b="0" i="0">
                <a:solidFill>
                  <a:srgbClr val="0B0A0C"/>
                </a:solidFill>
                <a:latin typeface="Arial"/>
              </a:rPr>
              <a:t>Find bottlenecks early and automate repetitive work.</a:t>
            </a:r>
          </a:p>
        </p:txBody>
      </p:sp>
      <p:sp>
        <p:nvSpPr>
          <p:cNvPr id="17" name="Rounded Rectangle 16"/>
          <p:cNvSpPr/>
          <p:nvPr/>
        </p:nvSpPr>
        <p:spPr>
          <a:xfrm>
            <a:off x="7296912" y="1325880"/>
            <a:ext cx="210312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96912" y="1325880"/>
            <a:ext cx="2103120" cy="1325880"/>
          </a:xfrm>
          <a:prstGeom prst="rect">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1800" b="1">
                <a:solidFill>
                  <a:srgbClr val="FFFFFF"/>
                </a:solidFill>
                <a:latin typeface="Arial"/>
              </a:rPr>
              <a:t>Risk and compliance</a:t>
            </a:r>
          </a:p>
        </p:txBody>
      </p:sp>
      <p:pic>
        <p:nvPicPr>
          <p:cNvPr id="19" name="Picture 18" descr="shield-check_FFFFFF_2.0.png"/>
          <p:cNvPicPr>
            <a:picLocks noChangeAspect="1"/>
          </p:cNvPicPr>
          <p:nvPr/>
        </p:nvPicPr>
        <p:blipFill>
          <a:blip r:embed="rId6"/>
          <a:stretch>
            <a:fillRect/>
          </a:stretch>
        </p:blipFill>
        <p:spPr>
          <a:xfrm>
            <a:off x="8074152" y="1444752"/>
            <a:ext cx="548640" cy="548640"/>
          </a:xfrm>
          <a:prstGeom prst="rect">
            <a:avLst/>
          </a:prstGeom>
        </p:spPr>
      </p:pic>
      <p:sp>
        <p:nvSpPr>
          <p:cNvPr id="20" name="TextBox 19"/>
          <p:cNvSpPr txBox="1"/>
          <p:nvPr/>
        </p:nvSpPr>
        <p:spPr>
          <a:xfrm>
            <a:off x="7434071" y="2834640"/>
            <a:ext cx="1828800" cy="2011680"/>
          </a:xfrm>
          <a:prstGeom prst="rect">
            <a:avLst/>
          </a:prstGeom>
          <a:noFill/>
        </p:spPr>
        <p:txBody>
          <a:bodyPr wrap="square" lIns="45720" rIns="45720" tIns="27432" bIns="27432" anchor="t">
            <a:spAutoFit/>
          </a:bodyPr>
          <a:lstStyle/>
          <a:p>
            <a:pPr algn="l"/>
            <a:r>
              <a:rPr sz="1700" b="0" i="0">
                <a:solidFill>
                  <a:srgbClr val="0B0A0C"/>
                </a:solidFill>
                <a:latin typeface="Arial"/>
              </a:rPr>
              <a:t>Know where sensitive data lives and follow privacy rules.</a:t>
            </a:r>
          </a:p>
        </p:txBody>
      </p:sp>
      <p:sp>
        <p:nvSpPr>
          <p:cNvPr id="21" name="Rounded Rectangle 20"/>
          <p:cNvSpPr/>
          <p:nvPr/>
        </p:nvSpPr>
        <p:spPr>
          <a:xfrm>
            <a:off x="9546336" y="1325880"/>
            <a:ext cx="210312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546336" y="1325880"/>
            <a:ext cx="2103120" cy="1325880"/>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1800" b="1">
                <a:solidFill>
                  <a:srgbClr val="FFFFFF"/>
                </a:solidFill>
                <a:latin typeface="Arial"/>
              </a:rPr>
              <a:t>Customer experience</a:t>
            </a:r>
          </a:p>
        </p:txBody>
      </p:sp>
      <p:pic>
        <p:nvPicPr>
          <p:cNvPr id="23" name="Picture 22" descr="heart-handshake_FFFFFF_2.0.png"/>
          <p:cNvPicPr>
            <a:picLocks noChangeAspect="1"/>
          </p:cNvPicPr>
          <p:nvPr/>
        </p:nvPicPr>
        <p:blipFill>
          <a:blip r:embed="rId7"/>
          <a:stretch>
            <a:fillRect/>
          </a:stretch>
        </p:blipFill>
        <p:spPr>
          <a:xfrm>
            <a:off x="10323576" y="1444752"/>
            <a:ext cx="548640" cy="548640"/>
          </a:xfrm>
          <a:prstGeom prst="rect">
            <a:avLst/>
          </a:prstGeom>
        </p:spPr>
      </p:pic>
      <p:sp>
        <p:nvSpPr>
          <p:cNvPr id="24" name="TextBox 23"/>
          <p:cNvSpPr txBox="1"/>
          <p:nvPr/>
        </p:nvSpPr>
        <p:spPr>
          <a:xfrm>
            <a:off x="9683496" y="2834640"/>
            <a:ext cx="1828800" cy="2011680"/>
          </a:xfrm>
          <a:prstGeom prst="rect">
            <a:avLst/>
          </a:prstGeom>
          <a:noFill/>
        </p:spPr>
        <p:txBody>
          <a:bodyPr wrap="square" lIns="45720" rIns="45720" tIns="27432" bIns="27432" anchor="t">
            <a:spAutoFit/>
          </a:bodyPr>
          <a:lstStyle/>
          <a:p>
            <a:pPr algn="l"/>
            <a:r>
              <a:rPr sz="1700" b="0" i="0">
                <a:solidFill>
                  <a:srgbClr val="0B0A0C"/>
                </a:solidFill>
                <a:latin typeface="Arial"/>
              </a:rPr>
              <a:t>Use insights to deliver personalised, improved services.</a:t>
            </a:r>
          </a:p>
        </p:txBody>
      </p:sp>
      <p:sp>
        <p:nvSpPr>
          <p:cNvPr id="25" name="Rounded Rectangle 24"/>
          <p:cNvSpPr/>
          <p:nvPr/>
        </p:nvSpPr>
        <p:spPr>
          <a:xfrm>
            <a:off x="548640" y="521208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Data is the cornerstone of digital transformation, new business models and innovation.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Garbage in, garbage out</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234440"/>
            <a:ext cx="2468880" cy="685800"/>
          </a:xfrm>
          <a:prstGeom prst="roundRect">
            <a:avLst>
              <a:gd name="adj" fmla="val 15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Dirty data</a:t>
            </a:r>
          </a:p>
        </p:txBody>
      </p:sp>
      <p:pic>
        <p:nvPicPr>
          <p:cNvPr id="6" name="Picture 5" descr="trash-2_FFFFFF_2.0.png"/>
          <p:cNvPicPr>
            <a:picLocks noChangeAspect="1"/>
          </p:cNvPicPr>
          <p:nvPr/>
        </p:nvPicPr>
        <p:blipFill>
          <a:blip r:embed="rId3"/>
          <a:stretch>
            <a:fillRect/>
          </a:stretch>
        </p:blipFill>
        <p:spPr>
          <a:xfrm>
            <a:off x="621792" y="1408176"/>
            <a:ext cx="329184" cy="329184"/>
          </a:xfrm>
          <a:prstGeom prst="rect">
            <a:avLst/>
          </a:prstGeom>
        </p:spPr>
      </p:pic>
      <p:sp>
        <p:nvSpPr>
          <p:cNvPr id="7" name="TextBox 6"/>
          <p:cNvSpPr txBox="1"/>
          <p:nvPr/>
        </p:nvSpPr>
        <p:spPr>
          <a:xfrm>
            <a:off x="548640" y="2011680"/>
            <a:ext cx="2468880" cy="914400"/>
          </a:xfrm>
          <a:prstGeom prst="rect">
            <a:avLst/>
          </a:prstGeom>
          <a:noFill/>
        </p:spPr>
        <p:txBody>
          <a:bodyPr wrap="square" lIns="45720" rIns="45720" tIns="27432" bIns="27432" anchor="t">
            <a:spAutoFit/>
          </a:bodyPr>
          <a:lstStyle/>
          <a:p>
            <a:pPr algn="ctr"/>
            <a:r>
              <a:rPr sz="1400" b="0" i="0">
                <a:solidFill>
                  <a:srgbClr val="0B0A0C"/>
                </a:solidFill>
                <a:latin typeface="Arial"/>
              </a:rPr>
              <a:t>a ticket counted twice, missing IDs, "closed" and "Closed"</a:t>
            </a:r>
          </a:p>
        </p:txBody>
      </p:sp>
      <p:cxnSp>
        <p:nvCxnSpPr>
          <p:cNvPr id="8" name="Connector 7"/>
          <p:cNvCxnSpPr/>
          <p:nvPr/>
        </p:nvCxnSpPr>
        <p:spPr>
          <a:xfrm>
            <a:off x="3035808" y="1572768"/>
            <a:ext cx="292608" cy="0"/>
          </a:xfrm>
          <a:prstGeom prst="line">
            <a:avLst/>
          </a:prstGeom>
          <a:ln w="381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46704" y="1234440"/>
            <a:ext cx="2468880" cy="685800"/>
          </a:xfrm>
          <a:prstGeom prst="roundRect">
            <a:avLst>
              <a:gd name="adj" fmla="val 15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Wrong numbers</a:t>
            </a:r>
          </a:p>
        </p:txBody>
      </p:sp>
      <p:pic>
        <p:nvPicPr>
          <p:cNvPr id="10" name="Picture 9" descr="calculator_FFFFFF_2.0.png"/>
          <p:cNvPicPr>
            <a:picLocks noChangeAspect="1"/>
          </p:cNvPicPr>
          <p:nvPr/>
        </p:nvPicPr>
        <p:blipFill>
          <a:blip r:embed="rId4"/>
          <a:stretch>
            <a:fillRect/>
          </a:stretch>
        </p:blipFill>
        <p:spPr>
          <a:xfrm>
            <a:off x="3419856" y="1408176"/>
            <a:ext cx="329184" cy="329184"/>
          </a:xfrm>
          <a:prstGeom prst="rect">
            <a:avLst/>
          </a:prstGeom>
        </p:spPr>
      </p:pic>
      <p:sp>
        <p:nvSpPr>
          <p:cNvPr id="11" name="TextBox 10"/>
          <p:cNvSpPr txBox="1"/>
          <p:nvPr/>
        </p:nvSpPr>
        <p:spPr>
          <a:xfrm>
            <a:off x="3346704" y="2011680"/>
            <a:ext cx="2468880" cy="914400"/>
          </a:xfrm>
          <a:prstGeom prst="rect">
            <a:avLst/>
          </a:prstGeom>
          <a:noFill/>
        </p:spPr>
        <p:txBody>
          <a:bodyPr wrap="square" lIns="45720" rIns="45720" tIns="27432" bIns="27432" anchor="t">
            <a:spAutoFit/>
          </a:bodyPr>
          <a:lstStyle/>
          <a:p>
            <a:pPr algn="ctr"/>
            <a:r>
              <a:rPr sz="1400" b="0" i="0">
                <a:solidFill>
                  <a:srgbClr val="0B0A0C"/>
                </a:solidFill>
                <a:latin typeface="Arial"/>
              </a:rPr>
              <a:t>the closed rate and the counts are off</a:t>
            </a:r>
          </a:p>
        </p:txBody>
      </p:sp>
      <p:cxnSp>
        <p:nvCxnSpPr>
          <p:cNvPr id="12" name="Connector 11"/>
          <p:cNvCxnSpPr/>
          <p:nvPr/>
        </p:nvCxnSpPr>
        <p:spPr>
          <a:xfrm>
            <a:off x="5833872" y="1572768"/>
            <a:ext cx="292608" cy="0"/>
          </a:xfrm>
          <a:prstGeom prst="line">
            <a:avLst/>
          </a:prstGeom>
          <a:ln w="381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44768" y="1234440"/>
            <a:ext cx="2468880" cy="685800"/>
          </a:xfrm>
          <a:prstGeom prst="roundRect">
            <a:avLst>
              <a:gd name="adj" fmla="val 15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Wrong decision</a:t>
            </a:r>
          </a:p>
        </p:txBody>
      </p:sp>
      <p:pic>
        <p:nvPicPr>
          <p:cNvPr id="14" name="Picture 13" descr="triangle-alert_FFFFFF_2.0.png"/>
          <p:cNvPicPr>
            <a:picLocks noChangeAspect="1"/>
          </p:cNvPicPr>
          <p:nvPr/>
        </p:nvPicPr>
        <p:blipFill>
          <a:blip r:embed="rId5"/>
          <a:stretch>
            <a:fillRect/>
          </a:stretch>
        </p:blipFill>
        <p:spPr>
          <a:xfrm>
            <a:off x="6217920" y="1408176"/>
            <a:ext cx="329184" cy="329184"/>
          </a:xfrm>
          <a:prstGeom prst="rect">
            <a:avLst/>
          </a:prstGeom>
        </p:spPr>
      </p:pic>
      <p:sp>
        <p:nvSpPr>
          <p:cNvPr id="15" name="TextBox 14"/>
          <p:cNvSpPr txBox="1"/>
          <p:nvPr/>
        </p:nvSpPr>
        <p:spPr>
          <a:xfrm>
            <a:off x="6144768" y="2011680"/>
            <a:ext cx="2468880" cy="914400"/>
          </a:xfrm>
          <a:prstGeom prst="rect">
            <a:avLst/>
          </a:prstGeom>
          <a:noFill/>
        </p:spPr>
        <p:txBody>
          <a:bodyPr wrap="square" lIns="45720" rIns="45720" tIns="27432" bIns="27432" anchor="t">
            <a:spAutoFit/>
          </a:bodyPr>
          <a:lstStyle/>
          <a:p>
            <a:pPr algn="ctr"/>
            <a:r>
              <a:rPr sz="1400" b="0" i="0">
                <a:solidFill>
                  <a:srgbClr val="0B0A0C"/>
                </a:solidFill>
                <a:latin typeface="Arial"/>
              </a:rPr>
              <a:t>the team is staffed for the wrong problem</a:t>
            </a:r>
          </a:p>
        </p:txBody>
      </p:sp>
      <p:cxnSp>
        <p:nvCxnSpPr>
          <p:cNvPr id="16" name="Connector 15"/>
          <p:cNvCxnSpPr/>
          <p:nvPr/>
        </p:nvCxnSpPr>
        <p:spPr>
          <a:xfrm>
            <a:off x="8631936" y="1572768"/>
            <a:ext cx="292608" cy="0"/>
          </a:xfrm>
          <a:prstGeom prst="line">
            <a:avLst/>
          </a:prstGeom>
          <a:ln w="381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942832" y="1234440"/>
            <a:ext cx="2468880" cy="685800"/>
          </a:xfrm>
          <a:prstGeom prst="roundRect">
            <a:avLst>
              <a:gd name="adj" fmla="val 15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AI repeats it</a:t>
            </a:r>
          </a:p>
        </p:txBody>
      </p:sp>
      <p:pic>
        <p:nvPicPr>
          <p:cNvPr id="18" name="Picture 17" descr="bot_FFFFFF_2.0.png"/>
          <p:cNvPicPr>
            <a:picLocks noChangeAspect="1"/>
          </p:cNvPicPr>
          <p:nvPr/>
        </p:nvPicPr>
        <p:blipFill>
          <a:blip r:embed="rId6"/>
          <a:stretch>
            <a:fillRect/>
          </a:stretch>
        </p:blipFill>
        <p:spPr>
          <a:xfrm>
            <a:off x="9015984" y="1408176"/>
            <a:ext cx="329184" cy="329184"/>
          </a:xfrm>
          <a:prstGeom prst="rect">
            <a:avLst/>
          </a:prstGeom>
        </p:spPr>
      </p:pic>
      <p:sp>
        <p:nvSpPr>
          <p:cNvPr id="19" name="TextBox 18"/>
          <p:cNvSpPr txBox="1"/>
          <p:nvPr/>
        </p:nvSpPr>
        <p:spPr>
          <a:xfrm>
            <a:off x="8942832" y="2011680"/>
            <a:ext cx="2468880" cy="914400"/>
          </a:xfrm>
          <a:prstGeom prst="rect">
            <a:avLst/>
          </a:prstGeom>
          <a:noFill/>
        </p:spPr>
        <p:txBody>
          <a:bodyPr wrap="square" lIns="45720" rIns="45720" tIns="27432" bIns="27432" anchor="t">
            <a:spAutoFit/>
          </a:bodyPr>
          <a:lstStyle/>
          <a:p>
            <a:pPr algn="ctr"/>
            <a:r>
              <a:rPr sz="1400" b="0" i="0">
                <a:solidFill>
                  <a:srgbClr val="0B0A0C"/>
                </a:solidFill>
                <a:latin typeface="Arial"/>
              </a:rPr>
              <a:t>a confident answer from an old or wrong article</a:t>
            </a:r>
          </a:p>
        </p:txBody>
      </p:sp>
      <p:sp>
        <p:nvSpPr>
          <p:cNvPr id="20" name="TextBox 19"/>
          <p:cNvSpPr txBox="1"/>
          <p:nvPr/>
        </p:nvSpPr>
        <p:spPr>
          <a:xfrm>
            <a:off x="548640" y="3063240"/>
            <a:ext cx="11064240" cy="365760"/>
          </a:xfrm>
          <a:prstGeom prst="rect">
            <a:avLst/>
          </a:prstGeom>
          <a:noFill/>
        </p:spPr>
        <p:txBody>
          <a:bodyPr wrap="square" lIns="45720" rIns="45720" tIns="27432" bIns="27432" anchor="t">
            <a:spAutoFit/>
          </a:bodyPr>
          <a:lstStyle/>
          <a:p>
            <a:pPr algn="l"/>
            <a:r>
              <a:rPr sz="1300" b="1" i="0">
                <a:solidFill>
                  <a:srgbClr val="5F6B7A"/>
                </a:solidFill>
                <a:latin typeface="Arial"/>
              </a:rPr>
              <a:t>REAL-WORLD DATA PROBLEMS EVERY COMPANY MEETS</a:t>
            </a:r>
          </a:p>
        </p:txBody>
      </p:sp>
      <p:sp>
        <p:nvSpPr>
          <p:cNvPr id="21" name="Rounded Rectangle 20"/>
          <p:cNvSpPr/>
          <p:nvPr/>
        </p:nvSpPr>
        <p:spPr>
          <a:xfrm>
            <a:off x="548640" y="3520440"/>
            <a:ext cx="3611880" cy="178308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3520440"/>
            <a:ext cx="3611880" cy="109728"/>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1520" y="3749039"/>
            <a:ext cx="2743200" cy="411480"/>
          </a:xfrm>
          <a:prstGeom prst="rect">
            <a:avLst/>
          </a:prstGeom>
          <a:noFill/>
        </p:spPr>
        <p:txBody>
          <a:bodyPr wrap="square" lIns="45720" rIns="45720" tIns="27432" bIns="27432" anchor="t">
            <a:spAutoFit/>
          </a:bodyPr>
          <a:lstStyle/>
          <a:p>
            <a:pPr algn="l"/>
            <a:r>
              <a:rPr sz="1800" b="1" i="0">
                <a:solidFill>
                  <a:srgbClr val="F37021"/>
                </a:solidFill>
                <a:latin typeface="Arial"/>
              </a:rPr>
              <a:t>Poor data quality</a:t>
            </a:r>
          </a:p>
        </p:txBody>
      </p:sp>
      <p:pic>
        <p:nvPicPr>
          <p:cNvPr id="24" name="Picture 23" descr="badge-alert_F37021_2.0.png"/>
          <p:cNvPicPr>
            <a:picLocks noChangeAspect="1"/>
          </p:cNvPicPr>
          <p:nvPr/>
        </p:nvPicPr>
        <p:blipFill>
          <a:blip r:embed="rId7"/>
          <a:stretch>
            <a:fillRect/>
          </a:stretch>
        </p:blipFill>
        <p:spPr>
          <a:xfrm>
            <a:off x="3566160" y="3749039"/>
            <a:ext cx="411480" cy="411480"/>
          </a:xfrm>
          <a:prstGeom prst="rect">
            <a:avLst/>
          </a:prstGeom>
        </p:spPr>
      </p:pic>
      <p:sp>
        <p:nvSpPr>
          <p:cNvPr id="25" name="TextBox 24"/>
          <p:cNvSpPr txBox="1"/>
          <p:nvPr/>
        </p:nvSpPr>
        <p:spPr>
          <a:xfrm>
            <a:off x="731520" y="4297680"/>
            <a:ext cx="3246120" cy="960120"/>
          </a:xfrm>
          <a:prstGeom prst="rect">
            <a:avLst/>
          </a:prstGeom>
          <a:noFill/>
        </p:spPr>
        <p:txBody>
          <a:bodyPr wrap="square" lIns="45720" rIns="45720" tIns="27432" bIns="27432" anchor="t">
            <a:spAutoFit/>
          </a:bodyPr>
          <a:lstStyle/>
          <a:p>
            <a:pPr algn="l"/>
            <a:r>
              <a:rPr sz="1500" b="0" i="0">
                <a:solidFill>
                  <a:srgbClr val="0B0A0C"/>
                </a:solidFill>
                <a:latin typeface="Arial"/>
              </a:rPr>
              <a:t>Inaccurate or incomplete data leads to flawed analysis and decisions.</a:t>
            </a:r>
          </a:p>
        </p:txBody>
      </p:sp>
      <p:sp>
        <p:nvSpPr>
          <p:cNvPr id="26" name="Rounded Rectangle 25"/>
          <p:cNvSpPr/>
          <p:nvPr/>
        </p:nvSpPr>
        <p:spPr>
          <a:xfrm>
            <a:off x="4297679" y="3520440"/>
            <a:ext cx="3611880" cy="178308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297679" y="3520440"/>
            <a:ext cx="3611880" cy="109728"/>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80559" y="3749039"/>
            <a:ext cx="2743200" cy="411480"/>
          </a:xfrm>
          <a:prstGeom prst="rect">
            <a:avLst/>
          </a:prstGeom>
          <a:noFill/>
        </p:spPr>
        <p:txBody>
          <a:bodyPr wrap="square" lIns="45720" rIns="45720" tIns="27432" bIns="27432" anchor="t">
            <a:spAutoFit/>
          </a:bodyPr>
          <a:lstStyle/>
          <a:p>
            <a:pPr algn="l"/>
            <a:r>
              <a:rPr sz="1800" b="1" i="0">
                <a:solidFill>
                  <a:srgbClr val="034EA2"/>
                </a:solidFill>
                <a:latin typeface="Arial"/>
              </a:rPr>
              <a:t>Data silos</a:t>
            </a:r>
          </a:p>
        </p:txBody>
      </p:sp>
      <p:pic>
        <p:nvPicPr>
          <p:cNvPr id="29" name="Picture 28" descr="unlink_034EA2_2.0.png"/>
          <p:cNvPicPr>
            <a:picLocks noChangeAspect="1"/>
          </p:cNvPicPr>
          <p:nvPr/>
        </p:nvPicPr>
        <p:blipFill>
          <a:blip r:embed="rId8"/>
          <a:stretch>
            <a:fillRect/>
          </a:stretch>
        </p:blipFill>
        <p:spPr>
          <a:xfrm>
            <a:off x="7315199" y="3749039"/>
            <a:ext cx="411480" cy="411480"/>
          </a:xfrm>
          <a:prstGeom prst="rect">
            <a:avLst/>
          </a:prstGeom>
        </p:spPr>
      </p:pic>
      <p:sp>
        <p:nvSpPr>
          <p:cNvPr id="30" name="TextBox 29"/>
          <p:cNvSpPr txBox="1"/>
          <p:nvPr/>
        </p:nvSpPr>
        <p:spPr>
          <a:xfrm>
            <a:off x="4480559" y="4297680"/>
            <a:ext cx="3246120" cy="960120"/>
          </a:xfrm>
          <a:prstGeom prst="rect">
            <a:avLst/>
          </a:prstGeom>
          <a:noFill/>
        </p:spPr>
        <p:txBody>
          <a:bodyPr wrap="square" lIns="45720" rIns="45720" tIns="27432" bIns="27432" anchor="t">
            <a:spAutoFit/>
          </a:bodyPr>
          <a:lstStyle/>
          <a:p>
            <a:pPr algn="l"/>
            <a:r>
              <a:rPr sz="1500" b="0" i="0">
                <a:solidFill>
                  <a:srgbClr val="0B0A0C"/>
                </a:solidFill>
                <a:latin typeface="Arial"/>
              </a:rPr>
              <a:t>Data stuck in separate systems is hard to find, join and trust.</a:t>
            </a:r>
          </a:p>
        </p:txBody>
      </p:sp>
      <p:sp>
        <p:nvSpPr>
          <p:cNvPr id="31" name="Rounded Rectangle 30"/>
          <p:cNvSpPr/>
          <p:nvPr/>
        </p:nvSpPr>
        <p:spPr>
          <a:xfrm>
            <a:off x="8046719" y="3520440"/>
            <a:ext cx="3611880" cy="178308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046719" y="3520440"/>
            <a:ext cx="3611880" cy="109728"/>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599" y="3749039"/>
            <a:ext cx="2743200" cy="411480"/>
          </a:xfrm>
          <a:prstGeom prst="rect">
            <a:avLst/>
          </a:prstGeom>
          <a:noFill/>
        </p:spPr>
        <p:txBody>
          <a:bodyPr wrap="square" lIns="45720" rIns="45720" tIns="27432" bIns="27432" anchor="t">
            <a:spAutoFit/>
          </a:bodyPr>
          <a:lstStyle/>
          <a:p>
            <a:pPr algn="l"/>
            <a:r>
              <a:rPr sz="1800" b="1" i="0">
                <a:solidFill>
                  <a:srgbClr val="19226D"/>
                </a:solidFill>
                <a:latin typeface="Arial"/>
              </a:rPr>
              <a:t>Data security</a:t>
            </a:r>
          </a:p>
        </p:txBody>
      </p:sp>
      <p:pic>
        <p:nvPicPr>
          <p:cNvPr id="34" name="Picture 33" descr="lock_19226D_2.0.png"/>
          <p:cNvPicPr>
            <a:picLocks noChangeAspect="1"/>
          </p:cNvPicPr>
          <p:nvPr/>
        </p:nvPicPr>
        <p:blipFill>
          <a:blip r:embed="rId9"/>
          <a:stretch>
            <a:fillRect/>
          </a:stretch>
        </p:blipFill>
        <p:spPr>
          <a:xfrm>
            <a:off x="11064239" y="3749039"/>
            <a:ext cx="411480" cy="411480"/>
          </a:xfrm>
          <a:prstGeom prst="rect">
            <a:avLst/>
          </a:prstGeom>
        </p:spPr>
      </p:pic>
      <p:sp>
        <p:nvSpPr>
          <p:cNvPr id="35" name="TextBox 34"/>
          <p:cNvSpPr txBox="1"/>
          <p:nvPr/>
        </p:nvSpPr>
        <p:spPr>
          <a:xfrm>
            <a:off x="8229599" y="4297680"/>
            <a:ext cx="3246120" cy="960120"/>
          </a:xfrm>
          <a:prstGeom prst="rect">
            <a:avLst/>
          </a:prstGeom>
          <a:noFill/>
        </p:spPr>
        <p:txBody>
          <a:bodyPr wrap="square" lIns="45720" rIns="45720" tIns="27432" bIns="27432" anchor="t">
            <a:spAutoFit/>
          </a:bodyPr>
          <a:lstStyle/>
          <a:p>
            <a:pPr algn="l"/>
            <a:r>
              <a:rPr sz="1500" b="0" i="0">
                <a:solidFill>
                  <a:srgbClr val="0B0A0C"/>
                </a:solidFill>
                <a:latin typeface="Arial"/>
              </a:rPr>
              <a:t>Data must be protected from unauthorised access and use.</a:t>
            </a:r>
          </a:p>
        </p:txBody>
      </p:sp>
      <p:sp>
        <p:nvSpPr>
          <p:cNvPr id="36" name="Rounded Rectangle 35"/>
          <p:cNvSpPr/>
          <p:nvPr/>
        </p:nvSpPr>
        <p:spPr>
          <a:xfrm>
            <a:off x="548640" y="5669280"/>
            <a:ext cx="11091672" cy="566928"/>
          </a:xfrm>
          <a:prstGeom prst="roundRect">
            <a:avLst>
              <a:gd name="adj" fmla="val 2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Good AI starts with good data. That is why Lab 1 comes first.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will build this afternoon</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WELCOME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nb4_app_anatomy.png"/>
          <p:cNvPicPr>
            <a:picLocks noChangeAspect="1"/>
          </p:cNvPicPr>
          <p:nvPr/>
        </p:nvPicPr>
        <p:blipFill>
          <a:blip r:embed="rId3"/>
          <a:stretch>
            <a:fillRect/>
          </a:stretch>
        </p:blipFill>
        <p:spPr>
          <a:xfrm>
            <a:off x="457200" y="1572310"/>
            <a:ext cx="7223760" cy="4262018"/>
          </a:xfrm>
          <a:prstGeom prst="rect">
            <a:avLst/>
          </a:prstGeom>
        </p:spPr>
      </p:pic>
      <p:sp>
        <p:nvSpPr>
          <p:cNvPr id="6" name="TextBox 5"/>
          <p:cNvSpPr txBox="1"/>
          <p:nvPr/>
        </p:nvSpPr>
        <p:spPr>
          <a:xfrm>
            <a:off x="7955279" y="1280160"/>
            <a:ext cx="3749039" cy="365760"/>
          </a:xfrm>
          <a:prstGeom prst="rect">
            <a:avLst/>
          </a:prstGeom>
          <a:noFill/>
        </p:spPr>
        <p:txBody>
          <a:bodyPr wrap="square" lIns="45720" rIns="45720" tIns="27432" bIns="27432" anchor="t">
            <a:spAutoFit/>
          </a:bodyPr>
          <a:lstStyle/>
          <a:p>
            <a:pPr algn="l"/>
            <a:r>
              <a:rPr sz="1400" b="1" i="0">
                <a:solidFill>
                  <a:srgbClr val="5F6B7A"/>
                </a:solidFill>
                <a:latin typeface="Arial"/>
              </a:rPr>
              <a:t>By the end of the day</a:t>
            </a:r>
          </a:p>
        </p:txBody>
      </p:sp>
      <p:sp>
        <p:nvSpPr>
          <p:cNvPr id="7" name="Rounded Rectangle 6"/>
          <p:cNvSpPr/>
          <p:nvPr/>
        </p:nvSpPr>
        <p:spPr>
          <a:xfrm>
            <a:off x="7955279" y="1737360"/>
            <a:ext cx="3703320" cy="118872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955279" y="1737360"/>
            <a:ext cx="109728" cy="118872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0" y="1874519"/>
            <a:ext cx="2560320" cy="365760"/>
          </a:xfrm>
          <a:prstGeom prst="rect">
            <a:avLst/>
          </a:prstGeom>
          <a:noFill/>
        </p:spPr>
        <p:txBody>
          <a:bodyPr wrap="square" lIns="45720" rIns="45720" tIns="27432" bIns="27432" anchor="t">
            <a:spAutoFit/>
          </a:bodyPr>
          <a:lstStyle/>
          <a:p>
            <a:pPr algn="l"/>
            <a:r>
              <a:rPr sz="1800" b="1" i="0">
                <a:solidFill>
                  <a:srgbClr val="034EA2"/>
                </a:solidFill>
                <a:latin typeface="Arial"/>
              </a:rPr>
              <a:t>A database</a:t>
            </a:r>
          </a:p>
        </p:txBody>
      </p:sp>
      <p:sp>
        <p:nvSpPr>
          <p:cNvPr id="10" name="TextBox 9"/>
          <p:cNvSpPr txBox="1"/>
          <p:nvPr/>
        </p:nvSpPr>
        <p:spPr>
          <a:xfrm>
            <a:off x="8229600" y="2286000"/>
            <a:ext cx="2560320" cy="594360"/>
          </a:xfrm>
          <a:prstGeom prst="rect">
            <a:avLst/>
          </a:prstGeom>
          <a:noFill/>
        </p:spPr>
        <p:txBody>
          <a:bodyPr wrap="square" lIns="45720" rIns="45720" tIns="27432" bIns="27432" anchor="t">
            <a:spAutoFit/>
          </a:bodyPr>
          <a:lstStyle/>
          <a:p>
            <a:pPr algn="l"/>
            <a:r>
              <a:rPr sz="1400" b="0" i="0">
                <a:solidFill>
                  <a:srgbClr val="0B0A0C"/>
                </a:solidFill>
                <a:latin typeface="Arial"/>
              </a:rPr>
              <a:t>with your own cleaned support tickets</a:t>
            </a:r>
          </a:p>
        </p:txBody>
      </p:sp>
      <p:sp>
        <p:nvSpPr>
          <p:cNvPr id="11" name="Oval 10"/>
          <p:cNvSpPr/>
          <p:nvPr/>
        </p:nvSpPr>
        <p:spPr>
          <a:xfrm>
            <a:off x="10835640" y="2011679"/>
            <a:ext cx="640080" cy="64008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atabase_FFFFFF_2.0.png"/>
          <p:cNvPicPr>
            <a:picLocks noChangeAspect="1"/>
          </p:cNvPicPr>
          <p:nvPr/>
        </p:nvPicPr>
        <p:blipFill>
          <a:blip r:embed="rId4"/>
          <a:stretch>
            <a:fillRect/>
          </a:stretch>
        </p:blipFill>
        <p:spPr>
          <a:xfrm>
            <a:off x="10963656" y="2139696"/>
            <a:ext cx="384048" cy="384048"/>
          </a:xfrm>
          <a:prstGeom prst="rect">
            <a:avLst/>
          </a:prstGeom>
        </p:spPr>
      </p:pic>
      <p:sp>
        <p:nvSpPr>
          <p:cNvPr id="13" name="Rounded Rectangle 12"/>
          <p:cNvSpPr/>
          <p:nvPr/>
        </p:nvSpPr>
        <p:spPr>
          <a:xfrm>
            <a:off x="7955279" y="3108960"/>
            <a:ext cx="3703320" cy="118872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955279" y="3108960"/>
            <a:ext cx="109728" cy="118872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0" y="3246120"/>
            <a:ext cx="2560320" cy="365760"/>
          </a:xfrm>
          <a:prstGeom prst="rect">
            <a:avLst/>
          </a:prstGeom>
          <a:noFill/>
        </p:spPr>
        <p:txBody>
          <a:bodyPr wrap="square" lIns="45720" rIns="45720" tIns="27432" bIns="27432" anchor="t">
            <a:spAutoFit/>
          </a:bodyPr>
          <a:lstStyle/>
          <a:p>
            <a:pPr algn="l"/>
            <a:r>
              <a:rPr sz="1800" b="1" i="0">
                <a:solidFill>
                  <a:srgbClr val="50B848"/>
                </a:solidFill>
                <a:latin typeface="Arial"/>
              </a:rPr>
              <a:t>A dashboard</a:t>
            </a:r>
          </a:p>
        </p:txBody>
      </p:sp>
      <p:sp>
        <p:nvSpPr>
          <p:cNvPr id="16" name="TextBox 15"/>
          <p:cNvSpPr txBox="1"/>
          <p:nvPr/>
        </p:nvSpPr>
        <p:spPr>
          <a:xfrm>
            <a:off x="8229600" y="3657600"/>
            <a:ext cx="2560320" cy="594360"/>
          </a:xfrm>
          <a:prstGeom prst="rect">
            <a:avLst/>
          </a:prstGeom>
          <a:noFill/>
        </p:spPr>
        <p:txBody>
          <a:bodyPr wrap="square" lIns="45720" rIns="45720" tIns="27432" bIns="27432" anchor="t">
            <a:spAutoFit/>
          </a:bodyPr>
          <a:lstStyle/>
          <a:p>
            <a:pPr algn="l"/>
            <a:r>
              <a:rPr sz="1400" b="0" i="0">
                <a:solidFill>
                  <a:srgbClr val="0B0A0C"/>
                </a:solidFill>
                <a:latin typeface="Arial"/>
              </a:rPr>
              <a:t>with KPIs and charts you can explain</a:t>
            </a:r>
          </a:p>
        </p:txBody>
      </p:sp>
      <p:sp>
        <p:nvSpPr>
          <p:cNvPr id="17" name="Oval 16"/>
          <p:cNvSpPr/>
          <p:nvPr/>
        </p:nvSpPr>
        <p:spPr>
          <a:xfrm>
            <a:off x="10835640" y="3383279"/>
            <a:ext cx="640080" cy="64008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ayout-dashboard_FFFFFF_2.0.png"/>
          <p:cNvPicPr>
            <a:picLocks noChangeAspect="1"/>
          </p:cNvPicPr>
          <p:nvPr/>
        </p:nvPicPr>
        <p:blipFill>
          <a:blip r:embed="rId5"/>
          <a:stretch>
            <a:fillRect/>
          </a:stretch>
        </p:blipFill>
        <p:spPr>
          <a:xfrm>
            <a:off x="10963656" y="3511296"/>
            <a:ext cx="384048" cy="384048"/>
          </a:xfrm>
          <a:prstGeom prst="rect">
            <a:avLst/>
          </a:prstGeom>
        </p:spPr>
      </p:pic>
      <p:sp>
        <p:nvSpPr>
          <p:cNvPr id="19" name="Rounded Rectangle 18"/>
          <p:cNvSpPr/>
          <p:nvPr/>
        </p:nvSpPr>
        <p:spPr>
          <a:xfrm>
            <a:off x="7955279" y="4480560"/>
            <a:ext cx="3703320" cy="118872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955279" y="4480560"/>
            <a:ext cx="109728" cy="118872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600" y="4617720"/>
            <a:ext cx="2560320" cy="365760"/>
          </a:xfrm>
          <a:prstGeom prst="rect">
            <a:avLst/>
          </a:prstGeom>
          <a:noFill/>
        </p:spPr>
        <p:txBody>
          <a:bodyPr wrap="square" lIns="45720" rIns="45720" tIns="27432" bIns="27432" anchor="t">
            <a:spAutoFit/>
          </a:bodyPr>
          <a:lstStyle/>
          <a:p>
            <a:pPr algn="l"/>
            <a:r>
              <a:rPr sz="1800" b="1" i="0">
                <a:solidFill>
                  <a:srgbClr val="F37021"/>
                </a:solidFill>
                <a:latin typeface="Arial"/>
              </a:rPr>
              <a:t>An AI assistant</a:t>
            </a:r>
          </a:p>
        </p:txBody>
      </p:sp>
      <p:sp>
        <p:nvSpPr>
          <p:cNvPr id="22" name="TextBox 21"/>
          <p:cNvSpPr txBox="1"/>
          <p:nvPr/>
        </p:nvSpPr>
        <p:spPr>
          <a:xfrm>
            <a:off x="8229600" y="5029200"/>
            <a:ext cx="2560320" cy="594360"/>
          </a:xfrm>
          <a:prstGeom prst="rect">
            <a:avLst/>
          </a:prstGeom>
          <a:noFill/>
        </p:spPr>
        <p:txBody>
          <a:bodyPr wrap="square" lIns="45720" rIns="45720" tIns="27432" bIns="27432" anchor="t">
            <a:spAutoFit/>
          </a:bodyPr>
          <a:lstStyle/>
          <a:p>
            <a:pPr algn="l"/>
            <a:r>
              <a:rPr sz="1400" b="0" i="0">
                <a:solidFill>
                  <a:srgbClr val="0B0A0C"/>
                </a:solidFill>
                <a:latin typeface="Arial"/>
              </a:rPr>
              <a:t>that answers from a knowledge base, with sources</a:t>
            </a:r>
          </a:p>
        </p:txBody>
      </p:sp>
      <p:sp>
        <p:nvSpPr>
          <p:cNvPr id="23" name="Oval 22"/>
          <p:cNvSpPr/>
          <p:nvPr/>
        </p:nvSpPr>
        <p:spPr>
          <a:xfrm>
            <a:off x="10835640" y="4754880"/>
            <a:ext cx="640080" cy="64008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bot_FFFFFF_2.0.png"/>
          <p:cNvPicPr>
            <a:picLocks noChangeAspect="1"/>
          </p:cNvPicPr>
          <p:nvPr/>
        </p:nvPicPr>
        <p:blipFill>
          <a:blip r:embed="rId6"/>
          <a:stretch>
            <a:fillRect/>
          </a:stretch>
        </p:blipFill>
        <p:spPr>
          <a:xfrm>
            <a:off x="10963656" y="4882896"/>
            <a:ext cx="384048" cy="38404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9224" y="1463040"/>
            <a:ext cx="9601200" cy="1737360"/>
          </a:xfrm>
        </p:spPr>
        <p:txBody>
          <a:bodyPr/>
          <a:lstStyle/>
          <a:p>
            <a:r>
              <a:t>Overall picture</a:t>
            </a:r>
          </a:p>
        </p:txBody>
      </p:sp>
      <p:sp>
        <p:nvSpPr>
          <p:cNvPr id="3" name="Text Placeholder 2"/>
          <p:cNvSpPr>
            <a:spLocks noGrp="1"/>
          </p:cNvSpPr>
          <p:nvPr>
            <p:ph type="body" idx="11" sz="quarter"/>
          </p:nvPr>
        </p:nvSpPr>
        <p:spPr>
          <a:xfrm>
            <a:off x="676656" y="3383280"/>
            <a:ext cx="7772400" cy="1097280"/>
          </a:xfrm>
        </p:spPr>
        <p:txBody>
          <a:bodyPr/>
          <a:lstStyle/>
          <a:p>
            <a:r>
              <a:rPr sz="2400"/>
              <a:t>Where do data and AI fit, and who builds them?</a:t>
            </a:r>
          </a:p>
        </p:txBody>
      </p:sp>
      <p:sp>
        <p:nvSpPr>
          <p:cNvPr id="4" name="Text Placeholder 3"/>
          <p:cNvSpPr>
            <a:spLocks noGrp="1"/>
          </p:cNvSpPr>
          <p:nvPr>
            <p:ph type="body" idx="13" sz="quarter"/>
          </p:nvPr>
        </p:nvSpPr>
        <p:spPr>
          <a:xfrm>
            <a:off x="822960" y="5669280"/>
            <a:ext cx="6400800" cy="411480"/>
          </a:xfrm>
        </p:spPr>
        <p:txBody>
          <a:bodyPr/>
          <a:lstStyle/>
          <a:p>
            <a:r>
              <a:t>Part 1 of 6  ·  The whole day</a:t>
            </a:r>
          </a:p>
        </p:txBody>
      </p:sp>
      <p:sp>
        <p:nvSpPr>
          <p:cNvPr id="5" name="Rectangle 4"/>
          <p:cNvSpPr/>
          <p:nvPr/>
        </p:nvSpPr>
        <p:spPr>
          <a:xfrm>
            <a:off x="822960" y="6263640"/>
            <a:ext cx="676656" cy="8229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72768"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22576"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072384"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822191"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0"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875520" y="4023360"/>
            <a:ext cx="1371600" cy="13716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ayers_FFFFFF_2.0.png"/>
          <p:cNvPicPr>
            <a:picLocks noChangeAspect="1"/>
          </p:cNvPicPr>
          <p:nvPr/>
        </p:nvPicPr>
        <p:blipFill>
          <a:blip r:embed="rId3"/>
          <a:stretch>
            <a:fillRect/>
          </a:stretch>
        </p:blipFill>
        <p:spPr>
          <a:xfrm>
            <a:off x="10232136" y="4379976"/>
            <a:ext cx="658368" cy="65836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data to decision</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1 · OVERALL PICTURE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ectangle 4"/>
          <p:cNvSpPr/>
          <p:nvPr/>
        </p:nvSpPr>
        <p:spPr>
          <a:xfrm>
            <a:off x="731520" y="4114800"/>
            <a:ext cx="2651760" cy="1371600"/>
          </a:xfrm>
          <a:prstGeom prst="rect">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ctr">
              <a:spcAft>
                <a:spcPts val="600"/>
              </a:spcAft>
            </a:pPr>
            <a:r>
              <a:rPr sz="2000" b="1">
                <a:solidFill>
                  <a:srgbClr val="FFFFFF"/>
                </a:solidFill>
                <a:latin typeface="Arial"/>
              </a:rPr>
              <a:t>DATA</a:t>
            </a:r>
          </a:p>
          <a:p>
            <a:pPr algn="ctr">
              <a:spcAft>
                <a:spcPts val="600"/>
              </a:spcAft>
            </a:pPr>
            <a:r>
              <a:rPr sz="1500" b="0">
                <a:solidFill>
                  <a:srgbClr val="FFFFFF"/>
                </a:solidFill>
                <a:latin typeface="Arial"/>
              </a:rPr>
              <a:t>600 ticket rows</a:t>
            </a:r>
          </a:p>
        </p:txBody>
      </p:sp>
      <p:pic>
        <p:nvPicPr>
          <p:cNvPr id="6" name="Picture 5" descr="database_FFFFFF_2.0.png"/>
          <p:cNvPicPr>
            <a:picLocks noChangeAspect="1"/>
          </p:cNvPicPr>
          <p:nvPr/>
        </p:nvPicPr>
        <p:blipFill>
          <a:blip r:embed="rId3"/>
          <a:stretch>
            <a:fillRect/>
          </a:stretch>
        </p:blipFill>
        <p:spPr>
          <a:xfrm>
            <a:off x="1783080" y="4754880"/>
            <a:ext cx="548640" cy="548640"/>
          </a:xfrm>
          <a:prstGeom prst="rect">
            <a:avLst/>
          </a:prstGeom>
        </p:spPr>
      </p:pic>
      <p:sp>
        <p:nvSpPr>
          <p:cNvPr id="7" name="Rectangle 6"/>
          <p:cNvSpPr/>
          <p:nvPr/>
        </p:nvSpPr>
        <p:spPr>
          <a:xfrm>
            <a:off x="3520439" y="3291840"/>
            <a:ext cx="2651760" cy="219456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ctr">
              <a:spcAft>
                <a:spcPts val="600"/>
              </a:spcAft>
            </a:pPr>
            <a:r>
              <a:rPr sz="2000" b="1">
                <a:solidFill>
                  <a:srgbClr val="FFFFFF"/>
                </a:solidFill>
                <a:latin typeface="Arial"/>
              </a:rPr>
              <a:t>INFORMATION</a:t>
            </a:r>
          </a:p>
          <a:p>
            <a:pPr algn="ctr">
              <a:spcAft>
                <a:spcPts val="600"/>
              </a:spcAft>
            </a:pPr>
            <a:r>
              <a:rPr sz="1500" b="0">
                <a:solidFill>
                  <a:srgbClr val="FFFFFF"/>
                </a:solidFill>
                <a:latin typeface="Arial"/>
              </a:rPr>
              <a:t>tickets per type, average hours</a:t>
            </a:r>
          </a:p>
        </p:txBody>
      </p:sp>
      <p:pic>
        <p:nvPicPr>
          <p:cNvPr id="8" name="Picture 7" descr="table_FFFFFF_2.0.png"/>
          <p:cNvPicPr>
            <a:picLocks noChangeAspect="1"/>
          </p:cNvPicPr>
          <p:nvPr/>
        </p:nvPicPr>
        <p:blipFill>
          <a:blip r:embed="rId4"/>
          <a:stretch>
            <a:fillRect/>
          </a:stretch>
        </p:blipFill>
        <p:spPr>
          <a:xfrm>
            <a:off x="4572000" y="4754880"/>
            <a:ext cx="548640" cy="548640"/>
          </a:xfrm>
          <a:prstGeom prst="rect">
            <a:avLst/>
          </a:prstGeom>
        </p:spPr>
      </p:pic>
      <p:sp>
        <p:nvSpPr>
          <p:cNvPr id="9" name="Rectangle 8"/>
          <p:cNvSpPr/>
          <p:nvPr/>
        </p:nvSpPr>
        <p:spPr>
          <a:xfrm>
            <a:off x="6309359" y="2468880"/>
            <a:ext cx="2651760" cy="301752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ctr">
              <a:spcAft>
                <a:spcPts val="600"/>
              </a:spcAft>
            </a:pPr>
            <a:r>
              <a:rPr sz="2000" b="1">
                <a:solidFill>
                  <a:srgbClr val="FFFFFF"/>
                </a:solidFill>
                <a:latin typeface="Arial"/>
              </a:rPr>
              <a:t>INSIGHT</a:t>
            </a:r>
          </a:p>
          <a:p>
            <a:pPr algn="ctr">
              <a:spcAft>
                <a:spcPts val="600"/>
              </a:spcAft>
            </a:pPr>
            <a:r>
              <a:rPr sz="1500" b="0">
                <a:solidFill>
                  <a:srgbClr val="FFFFFF"/>
                </a:solidFill>
                <a:latin typeface="Arial"/>
              </a:rPr>
              <a:t>refund requests take the longest to resolve</a:t>
            </a:r>
          </a:p>
        </p:txBody>
      </p:sp>
      <p:pic>
        <p:nvPicPr>
          <p:cNvPr id="10" name="Picture 9" descr="lightbulb_FFFFFF_2.0.png"/>
          <p:cNvPicPr>
            <a:picLocks noChangeAspect="1"/>
          </p:cNvPicPr>
          <p:nvPr/>
        </p:nvPicPr>
        <p:blipFill>
          <a:blip r:embed="rId5"/>
          <a:stretch>
            <a:fillRect/>
          </a:stretch>
        </p:blipFill>
        <p:spPr>
          <a:xfrm>
            <a:off x="7360919" y="4754880"/>
            <a:ext cx="548640" cy="548640"/>
          </a:xfrm>
          <a:prstGeom prst="rect">
            <a:avLst/>
          </a:prstGeom>
        </p:spPr>
      </p:pic>
      <p:sp>
        <p:nvSpPr>
          <p:cNvPr id="11" name="Rectangle 10"/>
          <p:cNvSpPr/>
          <p:nvPr/>
        </p:nvSpPr>
        <p:spPr>
          <a:xfrm>
            <a:off x="9098280" y="1645919"/>
            <a:ext cx="2651760" cy="384048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ctr">
              <a:spcAft>
                <a:spcPts val="600"/>
              </a:spcAft>
            </a:pPr>
            <a:r>
              <a:rPr sz="2000" b="1">
                <a:solidFill>
                  <a:srgbClr val="FFFFFF"/>
                </a:solidFill>
                <a:latin typeface="Arial"/>
              </a:rPr>
              <a:t>ACTION</a:t>
            </a:r>
          </a:p>
          <a:p>
            <a:pPr algn="ctr">
              <a:spcAft>
                <a:spcPts val="600"/>
              </a:spcAft>
            </a:pPr>
            <a:r>
              <a:rPr sz="1500" b="0">
                <a:solidFill>
                  <a:srgbClr val="FFFFFF"/>
                </a:solidFill>
                <a:latin typeface="Arial"/>
              </a:rPr>
              <a:t>give agents a refund guide, track the time</a:t>
            </a:r>
          </a:p>
        </p:txBody>
      </p:sp>
      <p:pic>
        <p:nvPicPr>
          <p:cNvPr id="12" name="Picture 11" descr="rocket_FFFFFF_2.0.png"/>
          <p:cNvPicPr>
            <a:picLocks noChangeAspect="1"/>
          </p:cNvPicPr>
          <p:nvPr/>
        </p:nvPicPr>
        <p:blipFill>
          <a:blip r:embed="rId6"/>
          <a:stretch>
            <a:fillRect/>
          </a:stretch>
        </p:blipFill>
        <p:spPr>
          <a:xfrm>
            <a:off x="10149840" y="4754880"/>
            <a:ext cx="548640" cy="548640"/>
          </a:xfrm>
          <a:prstGeom prst="rect">
            <a:avLst/>
          </a:prstGeom>
        </p:spPr>
      </p:pic>
      <p:sp>
        <p:nvSpPr>
          <p:cNvPr id="13" name="TextBox 12"/>
          <p:cNvSpPr txBox="1"/>
          <p:nvPr/>
        </p:nvSpPr>
        <p:spPr>
          <a:xfrm>
            <a:off x="731520" y="5623560"/>
            <a:ext cx="10881360" cy="365760"/>
          </a:xfrm>
          <a:prstGeom prst="rect">
            <a:avLst/>
          </a:prstGeom>
          <a:noFill/>
        </p:spPr>
        <p:txBody>
          <a:bodyPr wrap="square" lIns="45720" rIns="45720" tIns="27432" bIns="27432" anchor="t">
            <a:spAutoFit/>
          </a:bodyPr>
          <a:lstStyle/>
          <a:p>
            <a:pPr algn="l"/>
            <a:r>
              <a:rPr sz="1400" b="0" i="1">
                <a:solidFill>
                  <a:srgbClr val="5F6B7A"/>
                </a:solidFill>
                <a:latin typeface="Arial"/>
              </a:rPr>
              <a:t>Each step needs a different skill: collecting, summarising, interpreting, acting.</a:t>
            </a:r>
          </a:p>
        </p:txBody>
      </p:sp>
      <p:cxnSp>
        <p:nvCxnSpPr>
          <p:cNvPr id="14" name="Connector 13"/>
          <p:cNvCxnSpPr/>
          <p:nvPr/>
        </p:nvCxnSpPr>
        <p:spPr>
          <a:xfrm>
            <a:off x="1097280" y="1463040"/>
            <a:ext cx="10058400"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114800" y="1097280"/>
            <a:ext cx="4114800" cy="320040"/>
          </a:xfrm>
          <a:prstGeom prst="rect">
            <a:avLst/>
          </a:prstGeom>
          <a:noFill/>
        </p:spPr>
        <p:txBody>
          <a:bodyPr wrap="square" lIns="45720" rIns="45720" tIns="27432" bIns="27432" anchor="t">
            <a:spAutoFit/>
          </a:bodyPr>
          <a:lstStyle/>
          <a:p>
            <a:pPr algn="ctr"/>
            <a:r>
              <a:rPr sz="1300" b="1" i="0">
                <a:solidFill>
                  <a:srgbClr val="5F6B7A"/>
                </a:solidFill>
                <a:latin typeface="Arial"/>
              </a:rPr>
              <a:t>more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landscape in layers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1 · OVERALL PICTURE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ectangle 4"/>
          <p:cNvSpPr/>
          <p:nvPr/>
        </p:nvSpPr>
        <p:spPr>
          <a:xfrm>
            <a:off x="1188720" y="1188720"/>
            <a:ext cx="7406640" cy="566928"/>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Agents:  an LLM that chooses between tools</a:t>
            </a:r>
          </a:p>
        </p:txBody>
      </p:sp>
      <p:pic>
        <p:nvPicPr>
          <p:cNvPr id="6" name="Picture 5" descr="bot_FFFFFF_2.0.png"/>
          <p:cNvPicPr>
            <a:picLocks noChangeAspect="1"/>
          </p:cNvPicPr>
          <p:nvPr/>
        </p:nvPicPr>
        <p:blipFill>
          <a:blip r:embed="rId3"/>
          <a:stretch>
            <a:fillRect/>
          </a:stretch>
        </p:blipFill>
        <p:spPr>
          <a:xfrm>
            <a:off x="8092440" y="1280160"/>
            <a:ext cx="384048" cy="384048"/>
          </a:xfrm>
          <a:prstGeom prst="rect">
            <a:avLst/>
          </a:prstGeom>
        </p:spPr>
      </p:pic>
      <p:sp>
        <p:nvSpPr>
          <p:cNvPr id="7" name="Rounded Rectangle 6"/>
          <p:cNvSpPr/>
          <p:nvPr/>
        </p:nvSpPr>
        <p:spPr>
          <a:xfrm>
            <a:off x="8778240" y="1252728"/>
            <a:ext cx="1463040" cy="438912"/>
          </a:xfrm>
          <a:prstGeom prst="roundRect">
            <a:avLst>
              <a:gd name="adj" fmla="val 30000"/>
            </a:avLst>
          </a:prstGeom>
          <a:solidFill>
            <a:srgbClr val="FFFFFF"/>
          </a:solidFill>
          <a:ln w="15875">
            <a:solidFill>
              <a:srgbClr val="F3702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37021"/>
                </a:solidFill>
                <a:latin typeface="Arial"/>
              </a:rPr>
              <a:t>Lab 5 (bonus)</a:t>
            </a:r>
          </a:p>
        </p:txBody>
      </p:sp>
      <p:sp>
        <p:nvSpPr>
          <p:cNvPr id="8" name="Rectangle 7"/>
          <p:cNvSpPr/>
          <p:nvPr/>
        </p:nvSpPr>
        <p:spPr>
          <a:xfrm>
            <a:off x="1188720" y="1828800"/>
            <a:ext cx="7406640" cy="566928"/>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Applications:  web apps and chat interfaces</a:t>
            </a:r>
          </a:p>
        </p:txBody>
      </p:sp>
      <p:pic>
        <p:nvPicPr>
          <p:cNvPr id="9" name="Picture 8" descr="app-window_FFFFFF_2.0.png"/>
          <p:cNvPicPr>
            <a:picLocks noChangeAspect="1"/>
          </p:cNvPicPr>
          <p:nvPr/>
        </p:nvPicPr>
        <p:blipFill>
          <a:blip r:embed="rId4"/>
          <a:stretch>
            <a:fillRect/>
          </a:stretch>
        </p:blipFill>
        <p:spPr>
          <a:xfrm>
            <a:off x="8092440" y="1920240"/>
            <a:ext cx="384048" cy="384048"/>
          </a:xfrm>
          <a:prstGeom prst="rect">
            <a:avLst/>
          </a:prstGeom>
        </p:spPr>
      </p:pic>
      <p:sp>
        <p:nvSpPr>
          <p:cNvPr id="10" name="Rounded Rectangle 9"/>
          <p:cNvSpPr/>
          <p:nvPr/>
        </p:nvSpPr>
        <p:spPr>
          <a:xfrm>
            <a:off x="8778240" y="1892807"/>
            <a:ext cx="1463040" cy="438912"/>
          </a:xfrm>
          <a:prstGeom prst="roundRect">
            <a:avLst>
              <a:gd name="adj" fmla="val 30000"/>
            </a:avLst>
          </a:prstGeom>
          <a:solidFill>
            <a:srgbClr val="FFFFFF"/>
          </a:solidFill>
          <a:ln w="15875">
            <a:solidFill>
              <a:srgbClr val="19226D"/>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19226D"/>
                </a:solidFill>
                <a:latin typeface="Arial"/>
              </a:rPr>
              <a:t>Lab 4</a:t>
            </a:r>
          </a:p>
        </p:txBody>
      </p:sp>
      <p:sp>
        <p:nvSpPr>
          <p:cNvPr id="11" name="Rectangle 10"/>
          <p:cNvSpPr/>
          <p:nvPr/>
        </p:nvSpPr>
        <p:spPr>
          <a:xfrm>
            <a:off x="1188720" y="2468880"/>
            <a:ext cx="7406640" cy="566928"/>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AI:  embeddings, vector search, LLMs, RAG</a:t>
            </a:r>
          </a:p>
        </p:txBody>
      </p:sp>
      <p:pic>
        <p:nvPicPr>
          <p:cNvPr id="12" name="Picture 11" descr="brain-circuit_FFFFFF_2.0.png"/>
          <p:cNvPicPr>
            <a:picLocks noChangeAspect="1"/>
          </p:cNvPicPr>
          <p:nvPr/>
        </p:nvPicPr>
        <p:blipFill>
          <a:blip r:embed="rId5"/>
          <a:stretch>
            <a:fillRect/>
          </a:stretch>
        </p:blipFill>
        <p:spPr>
          <a:xfrm>
            <a:off x="8092440" y="2560320"/>
            <a:ext cx="384048" cy="384048"/>
          </a:xfrm>
          <a:prstGeom prst="rect">
            <a:avLst/>
          </a:prstGeom>
        </p:spPr>
      </p:pic>
      <p:sp>
        <p:nvSpPr>
          <p:cNvPr id="13" name="Rounded Rectangle 12"/>
          <p:cNvSpPr/>
          <p:nvPr/>
        </p:nvSpPr>
        <p:spPr>
          <a:xfrm>
            <a:off x="8778240" y="2532888"/>
            <a:ext cx="1463040" cy="438912"/>
          </a:xfrm>
          <a:prstGeom prst="roundRect">
            <a:avLst>
              <a:gd name="adj" fmla="val 30000"/>
            </a:avLst>
          </a:prstGeom>
          <a:solidFill>
            <a:srgbClr val="FFFFFF"/>
          </a:solidFill>
          <a:ln w="15875">
            <a:solidFill>
              <a:srgbClr val="50B84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50B848"/>
                </a:solidFill>
                <a:latin typeface="Arial"/>
              </a:rPr>
              <a:t>Lab 3</a:t>
            </a:r>
          </a:p>
        </p:txBody>
      </p:sp>
      <p:sp>
        <p:nvSpPr>
          <p:cNvPr id="14" name="Rectangle 13"/>
          <p:cNvSpPr/>
          <p:nvPr/>
        </p:nvSpPr>
        <p:spPr>
          <a:xfrm>
            <a:off x="1188720" y="3108959"/>
            <a:ext cx="7406640" cy="566928"/>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Analytics:  SQL, KPIs, dashboards</a:t>
            </a:r>
          </a:p>
        </p:txBody>
      </p:sp>
      <p:pic>
        <p:nvPicPr>
          <p:cNvPr id="15" name="Picture 14" descr="chart-column_FFFFFF_2.0.png"/>
          <p:cNvPicPr>
            <a:picLocks noChangeAspect="1"/>
          </p:cNvPicPr>
          <p:nvPr/>
        </p:nvPicPr>
        <p:blipFill>
          <a:blip r:embed="rId6"/>
          <a:stretch>
            <a:fillRect/>
          </a:stretch>
        </p:blipFill>
        <p:spPr>
          <a:xfrm>
            <a:off x="8092440" y="3200399"/>
            <a:ext cx="384048" cy="384048"/>
          </a:xfrm>
          <a:prstGeom prst="rect">
            <a:avLst/>
          </a:prstGeom>
        </p:spPr>
      </p:pic>
      <p:sp>
        <p:nvSpPr>
          <p:cNvPr id="16" name="Rounded Rectangle 15"/>
          <p:cNvSpPr/>
          <p:nvPr/>
        </p:nvSpPr>
        <p:spPr>
          <a:xfrm>
            <a:off x="8778240" y="3172967"/>
            <a:ext cx="1463040" cy="438912"/>
          </a:xfrm>
          <a:prstGeom prst="roundRect">
            <a:avLst>
              <a:gd name="adj" fmla="val 30000"/>
            </a:avLst>
          </a:prstGeom>
          <a:solidFill>
            <a:srgbClr val="FFFFFF"/>
          </a:solidFill>
          <a:ln w="15875">
            <a:solidFill>
              <a:srgbClr val="034EA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034EA2"/>
                </a:solidFill>
                <a:latin typeface="Arial"/>
              </a:rPr>
              <a:t>Lab 2</a:t>
            </a:r>
          </a:p>
        </p:txBody>
      </p:sp>
      <p:sp>
        <p:nvSpPr>
          <p:cNvPr id="17" name="Rectangle 16"/>
          <p:cNvSpPr/>
          <p:nvPr/>
        </p:nvSpPr>
        <p:spPr>
          <a:xfrm>
            <a:off x="1188720" y="3749039"/>
            <a:ext cx="7406640" cy="566928"/>
          </a:xfrm>
          <a:prstGeom prst="rect">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Storage:  relational databases, vector databases</a:t>
            </a:r>
          </a:p>
        </p:txBody>
      </p:sp>
      <p:pic>
        <p:nvPicPr>
          <p:cNvPr id="18" name="Picture 17" descr="database_FFFFFF_2.0.png"/>
          <p:cNvPicPr>
            <a:picLocks noChangeAspect="1"/>
          </p:cNvPicPr>
          <p:nvPr/>
        </p:nvPicPr>
        <p:blipFill>
          <a:blip r:embed="rId7"/>
          <a:stretch>
            <a:fillRect/>
          </a:stretch>
        </p:blipFill>
        <p:spPr>
          <a:xfrm>
            <a:off x="8092440" y="3840479"/>
            <a:ext cx="384048" cy="384048"/>
          </a:xfrm>
          <a:prstGeom prst="rect">
            <a:avLst/>
          </a:prstGeom>
        </p:spPr>
      </p:pic>
      <p:sp>
        <p:nvSpPr>
          <p:cNvPr id="19" name="Rounded Rectangle 18"/>
          <p:cNvSpPr/>
          <p:nvPr/>
        </p:nvSpPr>
        <p:spPr>
          <a:xfrm>
            <a:off x="8778240" y="3813048"/>
            <a:ext cx="1463040" cy="438912"/>
          </a:xfrm>
          <a:prstGeom prst="roundRect">
            <a:avLst>
              <a:gd name="adj" fmla="val 30000"/>
            </a:avLst>
          </a:prstGeom>
          <a:solidFill>
            <a:srgbClr val="FFFFFF"/>
          </a:solidFill>
          <a:ln w="15875">
            <a:solidFill>
              <a:srgbClr val="33B2C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33B2C1"/>
                </a:solidFill>
                <a:latin typeface="Arial"/>
              </a:rPr>
              <a:t>Lab 1</a:t>
            </a:r>
          </a:p>
        </p:txBody>
      </p:sp>
      <p:sp>
        <p:nvSpPr>
          <p:cNvPr id="20" name="Rectangle 19"/>
          <p:cNvSpPr/>
          <p:nvPr/>
        </p:nvSpPr>
        <p:spPr>
          <a:xfrm>
            <a:off x="1188720" y="4389120"/>
            <a:ext cx="7406640" cy="566928"/>
          </a:xfrm>
          <a:prstGeom prst="rect">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Ingestion and ETL:  extract, clean, load</a:t>
            </a:r>
          </a:p>
        </p:txBody>
      </p:sp>
      <p:pic>
        <p:nvPicPr>
          <p:cNvPr id="21" name="Picture 20" descr="arrow-right-left_FFFFFF_2.0.png"/>
          <p:cNvPicPr>
            <a:picLocks noChangeAspect="1"/>
          </p:cNvPicPr>
          <p:nvPr/>
        </p:nvPicPr>
        <p:blipFill>
          <a:blip r:embed="rId8"/>
          <a:stretch>
            <a:fillRect/>
          </a:stretch>
        </p:blipFill>
        <p:spPr>
          <a:xfrm>
            <a:off x="8092440" y="4480559"/>
            <a:ext cx="384048" cy="384048"/>
          </a:xfrm>
          <a:prstGeom prst="rect">
            <a:avLst/>
          </a:prstGeom>
        </p:spPr>
      </p:pic>
      <p:sp>
        <p:nvSpPr>
          <p:cNvPr id="22" name="Rounded Rectangle 21"/>
          <p:cNvSpPr/>
          <p:nvPr/>
        </p:nvSpPr>
        <p:spPr>
          <a:xfrm>
            <a:off x="8778240" y="4453128"/>
            <a:ext cx="1463040" cy="438912"/>
          </a:xfrm>
          <a:prstGeom prst="roundRect">
            <a:avLst>
              <a:gd name="adj" fmla="val 30000"/>
            </a:avLst>
          </a:prstGeom>
          <a:solidFill>
            <a:srgbClr val="FFFFFF"/>
          </a:solidFill>
          <a:ln w="15875">
            <a:solidFill>
              <a:srgbClr val="33B2C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33B2C1"/>
                </a:solidFill>
                <a:latin typeface="Arial"/>
              </a:rPr>
              <a:t>Lab 1</a:t>
            </a:r>
          </a:p>
        </p:txBody>
      </p:sp>
      <p:sp>
        <p:nvSpPr>
          <p:cNvPr id="23" name="Rectangle 22"/>
          <p:cNvSpPr/>
          <p:nvPr/>
        </p:nvSpPr>
        <p:spPr>
          <a:xfrm>
            <a:off x="1188720" y="5029199"/>
            <a:ext cx="7406640" cy="566928"/>
          </a:xfrm>
          <a:prstGeom prst="rect">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500" b="1">
                <a:solidFill>
                  <a:srgbClr val="FFFFFF"/>
                </a:solidFill>
                <a:latin typeface="Arial"/>
              </a:rPr>
              <a:t>Sources:  CSV files, apps, sensors</a:t>
            </a:r>
          </a:p>
        </p:txBody>
      </p:sp>
      <p:pic>
        <p:nvPicPr>
          <p:cNvPr id="24" name="Picture 23" descr="file-spreadsheet_FFFFFF_2.0.png"/>
          <p:cNvPicPr>
            <a:picLocks noChangeAspect="1"/>
          </p:cNvPicPr>
          <p:nvPr/>
        </p:nvPicPr>
        <p:blipFill>
          <a:blip r:embed="rId9"/>
          <a:stretch>
            <a:fillRect/>
          </a:stretch>
        </p:blipFill>
        <p:spPr>
          <a:xfrm>
            <a:off x="8092440" y="5120639"/>
            <a:ext cx="384048" cy="384048"/>
          </a:xfrm>
          <a:prstGeom prst="rect">
            <a:avLst/>
          </a:prstGeom>
        </p:spPr>
      </p:pic>
      <p:cxnSp>
        <p:nvCxnSpPr>
          <p:cNvPr id="25" name="Connector 24"/>
          <p:cNvCxnSpPr/>
          <p:nvPr/>
        </p:nvCxnSpPr>
        <p:spPr>
          <a:xfrm flipV="1">
            <a:off x="777240" y="1234440"/>
            <a:ext cx="0" cy="4343400"/>
          </a:xfrm>
          <a:prstGeom prst="line">
            <a:avLst/>
          </a:prstGeom>
          <a:ln w="381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40" y="3108960"/>
            <a:ext cx="640080" cy="1097280"/>
          </a:xfrm>
          <a:prstGeom prst="rect">
            <a:avLst/>
          </a:prstGeom>
          <a:noFill/>
        </p:spPr>
        <p:txBody>
          <a:bodyPr wrap="square" lIns="45720" rIns="45720" tIns="27432" bIns="27432" anchor="t">
            <a:spAutoFit/>
          </a:bodyPr>
          <a:lstStyle/>
          <a:p>
            <a:pPr algn="ctr"/>
            <a:r>
              <a:rPr sz="1100" b="1" i="0">
                <a:solidFill>
                  <a:srgbClr val="5F6B7A"/>
                </a:solidFill>
                <a:latin typeface="Arial"/>
              </a:rPr>
              <a:t>data flows up</a:t>
            </a:r>
          </a:p>
        </p:txBody>
      </p:sp>
      <p:sp>
        <p:nvSpPr>
          <p:cNvPr id="27" name="Rounded Rectangle 26"/>
          <p:cNvSpPr/>
          <p:nvPr/>
        </p:nvSpPr>
        <p:spPr>
          <a:xfrm>
            <a:off x="10424160" y="1188720"/>
            <a:ext cx="1234440" cy="4407408"/>
          </a:xfrm>
          <a:prstGeom prst="roundRect">
            <a:avLst>
              <a:gd name="adj" fmla="val 6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424160" y="1371600"/>
            <a:ext cx="1234440" cy="3931920"/>
          </a:xfrm>
          <a:prstGeom prst="rect">
            <a:avLst/>
          </a:prstGeom>
          <a:noFill/>
        </p:spPr>
        <p:txBody>
          <a:bodyPr wrap="square" lIns="45720" rIns="45720" tIns="27432" bIns="27432" anchor="t">
            <a:spAutoFit/>
          </a:bodyPr>
          <a:lstStyle/>
          <a:p>
            <a:pPr algn="ctr">
              <a:spcAft>
                <a:spcPts val="800"/>
              </a:spcAft>
            </a:pPr>
            <a:r>
              <a:rPr sz="1300" b="1" i="0">
                <a:solidFill>
                  <a:srgbClr val="19226D"/>
                </a:solidFill>
                <a:latin typeface="Arial"/>
              </a:rPr>
              <a:t>In one day</a:t>
            </a:r>
          </a:p>
          <a:p>
            <a:pPr algn="ctr">
              <a:spcAft>
                <a:spcPts val="800"/>
              </a:spcAft>
            </a:pPr>
            <a:r>
              <a:rPr sz="1200" b="0" i="0">
                <a:solidFill>
                  <a:srgbClr val="0B0A0C"/>
                </a:solidFill>
                <a:latin typeface="Arial"/>
              </a:rPr>
              <a:t>we climb from the database to an AI agent.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does what in a real team</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1 · OVERALL PICTURE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371600"/>
            <a:ext cx="2103120" cy="39319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1645920"/>
            <a:ext cx="914400" cy="914400"/>
          </a:xfrm>
          <a:prstGeom prst="ellipse">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workflow_FFFFFF_2.0.png"/>
          <p:cNvPicPr>
            <a:picLocks noChangeAspect="1"/>
          </p:cNvPicPr>
          <p:nvPr/>
        </p:nvPicPr>
        <p:blipFill>
          <a:blip r:embed="rId3"/>
          <a:stretch>
            <a:fillRect/>
          </a:stretch>
        </p:blipFill>
        <p:spPr>
          <a:xfrm>
            <a:off x="1362456" y="1865376"/>
            <a:ext cx="475488" cy="475488"/>
          </a:xfrm>
          <a:prstGeom prst="rect">
            <a:avLst/>
          </a:prstGeom>
        </p:spPr>
      </p:pic>
      <p:sp>
        <p:nvSpPr>
          <p:cNvPr id="8" name="TextBox 7"/>
          <p:cNvSpPr txBox="1"/>
          <p:nvPr/>
        </p:nvSpPr>
        <p:spPr>
          <a:xfrm>
            <a:off x="640080" y="2743200"/>
            <a:ext cx="1920240" cy="457200"/>
          </a:xfrm>
          <a:prstGeom prst="rect">
            <a:avLst/>
          </a:prstGeom>
          <a:noFill/>
        </p:spPr>
        <p:txBody>
          <a:bodyPr wrap="square" lIns="45720" rIns="45720" tIns="27432" bIns="27432" anchor="t">
            <a:spAutoFit/>
          </a:bodyPr>
          <a:lstStyle/>
          <a:p>
            <a:pPr algn="ctr"/>
            <a:r>
              <a:rPr sz="1700" b="1" i="0">
                <a:solidFill>
                  <a:srgbClr val="33B2C1"/>
                </a:solidFill>
                <a:latin typeface="Arial"/>
              </a:rPr>
              <a:t>Data engineer</a:t>
            </a:r>
          </a:p>
        </p:txBody>
      </p:sp>
      <p:sp>
        <p:nvSpPr>
          <p:cNvPr id="9" name="TextBox 8"/>
          <p:cNvSpPr txBox="1"/>
          <p:nvPr/>
        </p:nvSpPr>
        <p:spPr>
          <a:xfrm>
            <a:off x="685800" y="3291840"/>
            <a:ext cx="1828800" cy="1097280"/>
          </a:xfrm>
          <a:prstGeom prst="rect">
            <a:avLst/>
          </a:prstGeom>
          <a:noFill/>
        </p:spPr>
        <p:txBody>
          <a:bodyPr wrap="square" lIns="45720" rIns="45720" tIns="27432" bIns="27432" anchor="t">
            <a:spAutoFit/>
          </a:bodyPr>
          <a:lstStyle/>
          <a:p>
            <a:pPr algn="ctr"/>
            <a:r>
              <a:rPr sz="1400" b="0" i="0">
                <a:solidFill>
                  <a:srgbClr val="0B0A0C"/>
                </a:solidFill>
                <a:latin typeface="Arial"/>
              </a:rPr>
              <a:t>Moves, cleans and stores the data</a:t>
            </a:r>
          </a:p>
        </p:txBody>
      </p:sp>
      <p:sp>
        <p:nvSpPr>
          <p:cNvPr id="10" name="Rounded Rectangle 9"/>
          <p:cNvSpPr/>
          <p:nvPr/>
        </p:nvSpPr>
        <p:spPr>
          <a:xfrm>
            <a:off x="822959" y="4663440"/>
            <a:ext cx="1554480" cy="384048"/>
          </a:xfrm>
          <a:prstGeom prst="roundRect">
            <a:avLst>
              <a:gd name="adj" fmla="val 40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19226D"/>
                </a:solidFill>
                <a:latin typeface="Arial"/>
              </a:rPr>
              <a:t>Lab 1</a:t>
            </a:r>
          </a:p>
        </p:txBody>
      </p:sp>
      <p:sp>
        <p:nvSpPr>
          <p:cNvPr id="11" name="Rounded Rectangle 10"/>
          <p:cNvSpPr/>
          <p:nvPr/>
        </p:nvSpPr>
        <p:spPr>
          <a:xfrm>
            <a:off x="2788920" y="1371600"/>
            <a:ext cx="2103120" cy="39319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383280" y="1645920"/>
            <a:ext cx="914400" cy="91440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art-column_FFFFFF_2.0.png"/>
          <p:cNvPicPr>
            <a:picLocks noChangeAspect="1"/>
          </p:cNvPicPr>
          <p:nvPr/>
        </p:nvPicPr>
        <p:blipFill>
          <a:blip r:embed="rId4"/>
          <a:stretch>
            <a:fillRect/>
          </a:stretch>
        </p:blipFill>
        <p:spPr>
          <a:xfrm>
            <a:off x="3602736" y="1865376"/>
            <a:ext cx="475488" cy="475488"/>
          </a:xfrm>
          <a:prstGeom prst="rect">
            <a:avLst/>
          </a:prstGeom>
        </p:spPr>
      </p:pic>
      <p:sp>
        <p:nvSpPr>
          <p:cNvPr id="14" name="TextBox 13"/>
          <p:cNvSpPr txBox="1"/>
          <p:nvPr/>
        </p:nvSpPr>
        <p:spPr>
          <a:xfrm>
            <a:off x="2880360" y="2743200"/>
            <a:ext cx="1920240" cy="457200"/>
          </a:xfrm>
          <a:prstGeom prst="rect">
            <a:avLst/>
          </a:prstGeom>
          <a:noFill/>
        </p:spPr>
        <p:txBody>
          <a:bodyPr wrap="square" lIns="45720" rIns="45720" tIns="27432" bIns="27432" anchor="t">
            <a:spAutoFit/>
          </a:bodyPr>
          <a:lstStyle/>
          <a:p>
            <a:pPr algn="ctr"/>
            <a:r>
              <a:rPr sz="1700" b="1" i="0">
                <a:solidFill>
                  <a:srgbClr val="034EA2"/>
                </a:solidFill>
                <a:latin typeface="Arial"/>
              </a:rPr>
              <a:t>Data analyst</a:t>
            </a:r>
          </a:p>
        </p:txBody>
      </p:sp>
      <p:sp>
        <p:nvSpPr>
          <p:cNvPr id="15" name="TextBox 14"/>
          <p:cNvSpPr txBox="1"/>
          <p:nvPr/>
        </p:nvSpPr>
        <p:spPr>
          <a:xfrm>
            <a:off x="2926080" y="3291840"/>
            <a:ext cx="1828800" cy="1097280"/>
          </a:xfrm>
          <a:prstGeom prst="rect">
            <a:avLst/>
          </a:prstGeom>
          <a:noFill/>
        </p:spPr>
        <p:txBody>
          <a:bodyPr wrap="square" lIns="45720" rIns="45720" tIns="27432" bIns="27432" anchor="t">
            <a:spAutoFit/>
          </a:bodyPr>
          <a:lstStyle/>
          <a:p>
            <a:pPr algn="ctr"/>
            <a:r>
              <a:rPr sz="1400" b="0" i="0">
                <a:solidFill>
                  <a:srgbClr val="0B0A0C"/>
                </a:solidFill>
                <a:latin typeface="Arial"/>
              </a:rPr>
              <a:t>Answers questions with SQL and charts</a:t>
            </a:r>
          </a:p>
        </p:txBody>
      </p:sp>
      <p:sp>
        <p:nvSpPr>
          <p:cNvPr id="16" name="Rounded Rectangle 15"/>
          <p:cNvSpPr/>
          <p:nvPr/>
        </p:nvSpPr>
        <p:spPr>
          <a:xfrm>
            <a:off x="3063240" y="4663440"/>
            <a:ext cx="1554480" cy="384048"/>
          </a:xfrm>
          <a:prstGeom prst="roundRect">
            <a:avLst>
              <a:gd name="adj" fmla="val 40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19226D"/>
                </a:solidFill>
                <a:latin typeface="Arial"/>
              </a:rPr>
              <a:t>Labs 1 and 2</a:t>
            </a:r>
          </a:p>
        </p:txBody>
      </p:sp>
      <p:sp>
        <p:nvSpPr>
          <p:cNvPr id="17" name="Rounded Rectangle 16"/>
          <p:cNvSpPr/>
          <p:nvPr/>
        </p:nvSpPr>
        <p:spPr>
          <a:xfrm>
            <a:off x="5029200" y="1371600"/>
            <a:ext cx="2103120" cy="39319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623560" y="1645920"/>
            <a:ext cx="914400" cy="91440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ain-circuit_FFFFFF_2.0.png"/>
          <p:cNvPicPr>
            <a:picLocks noChangeAspect="1"/>
          </p:cNvPicPr>
          <p:nvPr/>
        </p:nvPicPr>
        <p:blipFill>
          <a:blip r:embed="rId5"/>
          <a:stretch>
            <a:fillRect/>
          </a:stretch>
        </p:blipFill>
        <p:spPr>
          <a:xfrm>
            <a:off x="5843016" y="1865376"/>
            <a:ext cx="475488" cy="475488"/>
          </a:xfrm>
          <a:prstGeom prst="rect">
            <a:avLst/>
          </a:prstGeom>
        </p:spPr>
      </p:pic>
      <p:sp>
        <p:nvSpPr>
          <p:cNvPr id="20" name="TextBox 19"/>
          <p:cNvSpPr txBox="1"/>
          <p:nvPr/>
        </p:nvSpPr>
        <p:spPr>
          <a:xfrm>
            <a:off x="5120640" y="2743200"/>
            <a:ext cx="1920240" cy="457200"/>
          </a:xfrm>
          <a:prstGeom prst="rect">
            <a:avLst/>
          </a:prstGeom>
          <a:noFill/>
        </p:spPr>
        <p:txBody>
          <a:bodyPr wrap="square" lIns="45720" rIns="45720" tIns="27432" bIns="27432" anchor="t">
            <a:spAutoFit/>
          </a:bodyPr>
          <a:lstStyle/>
          <a:p>
            <a:pPr algn="ctr"/>
            <a:r>
              <a:rPr sz="1700" b="1" i="0">
                <a:solidFill>
                  <a:srgbClr val="50B848"/>
                </a:solidFill>
                <a:latin typeface="Arial"/>
              </a:rPr>
              <a:t>AI engineer</a:t>
            </a:r>
          </a:p>
        </p:txBody>
      </p:sp>
      <p:sp>
        <p:nvSpPr>
          <p:cNvPr id="21" name="TextBox 20"/>
          <p:cNvSpPr txBox="1"/>
          <p:nvPr/>
        </p:nvSpPr>
        <p:spPr>
          <a:xfrm>
            <a:off x="5166360" y="3291840"/>
            <a:ext cx="1828800" cy="1097280"/>
          </a:xfrm>
          <a:prstGeom prst="rect">
            <a:avLst/>
          </a:prstGeom>
          <a:noFill/>
        </p:spPr>
        <p:txBody>
          <a:bodyPr wrap="square" lIns="45720" rIns="45720" tIns="27432" bIns="27432" anchor="t">
            <a:spAutoFit/>
          </a:bodyPr>
          <a:lstStyle/>
          <a:p>
            <a:pPr algn="ctr"/>
            <a:r>
              <a:rPr sz="1400" b="0" i="0">
                <a:solidFill>
                  <a:srgbClr val="0B0A0C"/>
                </a:solidFill>
                <a:latin typeface="Arial"/>
              </a:rPr>
              <a:t>Builds embeddings, RAG and agents</a:t>
            </a:r>
          </a:p>
        </p:txBody>
      </p:sp>
      <p:sp>
        <p:nvSpPr>
          <p:cNvPr id="22" name="Rounded Rectangle 21"/>
          <p:cNvSpPr/>
          <p:nvPr/>
        </p:nvSpPr>
        <p:spPr>
          <a:xfrm>
            <a:off x="5303520" y="4663440"/>
            <a:ext cx="1554480" cy="384048"/>
          </a:xfrm>
          <a:prstGeom prst="roundRect">
            <a:avLst>
              <a:gd name="adj" fmla="val 40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19226D"/>
                </a:solidFill>
                <a:latin typeface="Arial"/>
              </a:rPr>
              <a:t>Labs 3 and 5</a:t>
            </a:r>
          </a:p>
        </p:txBody>
      </p:sp>
      <p:sp>
        <p:nvSpPr>
          <p:cNvPr id="23" name="Rounded Rectangle 22"/>
          <p:cNvSpPr/>
          <p:nvPr/>
        </p:nvSpPr>
        <p:spPr>
          <a:xfrm>
            <a:off x="7269480" y="1371600"/>
            <a:ext cx="2103120" cy="39319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0" y="1645920"/>
            <a:ext cx="914400" cy="914400"/>
          </a:xfrm>
          <a:prstGeom prst="ellipse">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ode_FFFFFF_2.0.png"/>
          <p:cNvPicPr>
            <a:picLocks noChangeAspect="1"/>
          </p:cNvPicPr>
          <p:nvPr/>
        </p:nvPicPr>
        <p:blipFill>
          <a:blip r:embed="rId6"/>
          <a:stretch>
            <a:fillRect/>
          </a:stretch>
        </p:blipFill>
        <p:spPr>
          <a:xfrm>
            <a:off x="8083296" y="1865376"/>
            <a:ext cx="475488" cy="475488"/>
          </a:xfrm>
          <a:prstGeom prst="rect">
            <a:avLst/>
          </a:prstGeom>
        </p:spPr>
      </p:pic>
      <p:sp>
        <p:nvSpPr>
          <p:cNvPr id="26" name="TextBox 25"/>
          <p:cNvSpPr txBox="1"/>
          <p:nvPr/>
        </p:nvSpPr>
        <p:spPr>
          <a:xfrm>
            <a:off x="7360920" y="2743200"/>
            <a:ext cx="1920240" cy="457200"/>
          </a:xfrm>
          <a:prstGeom prst="rect">
            <a:avLst/>
          </a:prstGeom>
          <a:noFill/>
        </p:spPr>
        <p:txBody>
          <a:bodyPr wrap="square" lIns="45720" rIns="45720" tIns="27432" bIns="27432" anchor="t">
            <a:spAutoFit/>
          </a:bodyPr>
          <a:lstStyle/>
          <a:p>
            <a:pPr algn="ctr"/>
            <a:r>
              <a:rPr sz="1700" b="1" i="0">
                <a:solidFill>
                  <a:srgbClr val="19226D"/>
                </a:solidFill>
                <a:latin typeface="Arial"/>
              </a:rPr>
              <a:t>App developer</a:t>
            </a:r>
          </a:p>
        </p:txBody>
      </p:sp>
      <p:sp>
        <p:nvSpPr>
          <p:cNvPr id="27" name="TextBox 26"/>
          <p:cNvSpPr txBox="1"/>
          <p:nvPr/>
        </p:nvSpPr>
        <p:spPr>
          <a:xfrm>
            <a:off x="7406640" y="3291840"/>
            <a:ext cx="1828800" cy="1097280"/>
          </a:xfrm>
          <a:prstGeom prst="rect">
            <a:avLst/>
          </a:prstGeom>
          <a:noFill/>
        </p:spPr>
        <p:txBody>
          <a:bodyPr wrap="square" lIns="45720" rIns="45720" tIns="27432" bIns="27432" anchor="t">
            <a:spAutoFit/>
          </a:bodyPr>
          <a:lstStyle/>
          <a:p>
            <a:pPr algn="ctr"/>
            <a:r>
              <a:rPr sz="1400" b="0" i="0">
                <a:solidFill>
                  <a:srgbClr val="0B0A0C"/>
                </a:solidFill>
                <a:latin typeface="Arial"/>
              </a:rPr>
              <a:t>Ships a product people can use</a:t>
            </a:r>
          </a:p>
        </p:txBody>
      </p:sp>
      <p:sp>
        <p:nvSpPr>
          <p:cNvPr id="28" name="Rounded Rectangle 27"/>
          <p:cNvSpPr/>
          <p:nvPr/>
        </p:nvSpPr>
        <p:spPr>
          <a:xfrm>
            <a:off x="7543800" y="4663440"/>
            <a:ext cx="1554480" cy="384048"/>
          </a:xfrm>
          <a:prstGeom prst="roundRect">
            <a:avLst>
              <a:gd name="adj" fmla="val 40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19226D"/>
                </a:solidFill>
                <a:latin typeface="Arial"/>
              </a:rPr>
              <a:t>Lab 4</a:t>
            </a:r>
          </a:p>
        </p:txBody>
      </p:sp>
      <p:sp>
        <p:nvSpPr>
          <p:cNvPr id="29" name="Rounded Rectangle 28"/>
          <p:cNvSpPr/>
          <p:nvPr/>
        </p:nvSpPr>
        <p:spPr>
          <a:xfrm>
            <a:off x="9509760" y="1371600"/>
            <a:ext cx="2103120" cy="39319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0104120" y="1645920"/>
            <a:ext cx="914400" cy="9144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briefcase_FFFFFF_2.0.png"/>
          <p:cNvPicPr>
            <a:picLocks noChangeAspect="1"/>
          </p:cNvPicPr>
          <p:nvPr/>
        </p:nvPicPr>
        <p:blipFill>
          <a:blip r:embed="rId7"/>
          <a:stretch>
            <a:fillRect/>
          </a:stretch>
        </p:blipFill>
        <p:spPr>
          <a:xfrm>
            <a:off x="10323576" y="1865376"/>
            <a:ext cx="475488" cy="475488"/>
          </a:xfrm>
          <a:prstGeom prst="rect">
            <a:avLst/>
          </a:prstGeom>
        </p:spPr>
      </p:pic>
      <p:sp>
        <p:nvSpPr>
          <p:cNvPr id="32" name="TextBox 31"/>
          <p:cNvSpPr txBox="1"/>
          <p:nvPr/>
        </p:nvSpPr>
        <p:spPr>
          <a:xfrm>
            <a:off x="9601200" y="2743200"/>
            <a:ext cx="1920240" cy="457200"/>
          </a:xfrm>
          <a:prstGeom prst="rect">
            <a:avLst/>
          </a:prstGeom>
          <a:noFill/>
        </p:spPr>
        <p:txBody>
          <a:bodyPr wrap="square" lIns="45720" rIns="45720" tIns="27432" bIns="27432" anchor="t">
            <a:spAutoFit/>
          </a:bodyPr>
          <a:lstStyle/>
          <a:p>
            <a:pPr algn="ctr"/>
            <a:r>
              <a:rPr sz="1700" b="1" i="0">
                <a:solidFill>
                  <a:srgbClr val="F37021"/>
                </a:solidFill>
                <a:latin typeface="Arial"/>
              </a:rPr>
              <a:t>Business owner</a:t>
            </a:r>
          </a:p>
        </p:txBody>
      </p:sp>
      <p:sp>
        <p:nvSpPr>
          <p:cNvPr id="33" name="TextBox 32"/>
          <p:cNvSpPr txBox="1"/>
          <p:nvPr/>
        </p:nvSpPr>
        <p:spPr>
          <a:xfrm>
            <a:off x="9646920" y="3291840"/>
            <a:ext cx="1828800" cy="1097280"/>
          </a:xfrm>
          <a:prstGeom prst="rect">
            <a:avLst/>
          </a:prstGeom>
          <a:noFill/>
        </p:spPr>
        <p:txBody>
          <a:bodyPr wrap="square" lIns="45720" rIns="45720" tIns="27432" bIns="27432" anchor="t">
            <a:spAutoFit/>
          </a:bodyPr>
          <a:lstStyle/>
          <a:p>
            <a:pPr algn="ctr"/>
            <a:r>
              <a:rPr sz="1400" b="0" i="0">
                <a:solidFill>
                  <a:srgbClr val="0B0A0C"/>
                </a:solidFill>
                <a:latin typeface="Arial"/>
              </a:rPr>
              <a:t>Asks the questions, makes the decision</a:t>
            </a:r>
          </a:p>
        </p:txBody>
      </p:sp>
      <p:sp>
        <p:nvSpPr>
          <p:cNvPr id="34" name="Rounded Rectangle 33"/>
          <p:cNvSpPr/>
          <p:nvPr/>
        </p:nvSpPr>
        <p:spPr>
          <a:xfrm>
            <a:off x="9784080" y="4663440"/>
            <a:ext cx="1554480" cy="384048"/>
          </a:xfrm>
          <a:prstGeom prst="roundRect">
            <a:avLst>
              <a:gd name="adj" fmla="val 40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19226D"/>
                </a:solidFill>
                <a:latin typeface="Arial"/>
              </a:rPr>
              <a:t>All labs</a:t>
            </a:r>
          </a:p>
        </p:txBody>
      </p:sp>
      <p:sp>
        <p:nvSpPr>
          <p:cNvPr id="35" name="Rounded Rectangle 34"/>
          <p:cNvSpPr/>
          <p:nvPr/>
        </p:nvSpPr>
        <p:spPr>
          <a:xfrm>
            <a:off x="548640" y="566928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This afternoon you play each role for a few 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real project runs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1 · OVERALL PICTURE</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Chevron 4"/>
          <p:cNvSpPr/>
          <p:nvPr/>
        </p:nvSpPr>
        <p:spPr>
          <a:xfrm>
            <a:off x="457200" y="1554480"/>
            <a:ext cx="2103120" cy="1143000"/>
          </a:xfrm>
          <a:prstGeom prst="chevron">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FFFFFF"/>
                </a:solidFill>
                <a:latin typeface="Arial"/>
              </a:rPr>
              <a:t>1</a:t>
            </a:r>
          </a:p>
          <a:p>
            <a:pPr algn="ctr"/>
            <a:r>
              <a:rPr sz="1200" b="1">
                <a:solidFill>
                  <a:srgbClr val="FFFFFF"/>
                </a:solidFill>
                <a:latin typeface="Arial"/>
              </a:rPr>
              <a:t>Define the problem</a:t>
            </a:r>
          </a:p>
        </p:txBody>
      </p:sp>
      <p:sp>
        <p:nvSpPr>
          <p:cNvPr id="6" name="Chevron 5"/>
          <p:cNvSpPr/>
          <p:nvPr/>
        </p:nvSpPr>
        <p:spPr>
          <a:xfrm>
            <a:off x="2350008" y="1554480"/>
            <a:ext cx="2103120" cy="1143000"/>
          </a:xfrm>
          <a:prstGeom prst="chevron">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FFFFFF"/>
                </a:solidFill>
                <a:latin typeface="Arial"/>
              </a:rPr>
              <a:t>2</a:t>
            </a:r>
          </a:p>
          <a:p>
            <a:pPr algn="ctr"/>
            <a:r>
              <a:rPr sz="1200" b="1">
                <a:solidFill>
                  <a:srgbClr val="FFFFFF"/>
                </a:solidFill>
                <a:latin typeface="Arial"/>
              </a:rPr>
              <a:t>Get the data</a:t>
            </a:r>
          </a:p>
        </p:txBody>
      </p:sp>
      <p:sp>
        <p:nvSpPr>
          <p:cNvPr id="7" name="Chevron 6"/>
          <p:cNvSpPr/>
          <p:nvPr/>
        </p:nvSpPr>
        <p:spPr>
          <a:xfrm>
            <a:off x="4242816" y="1554480"/>
            <a:ext cx="2103120" cy="1143000"/>
          </a:xfrm>
          <a:prstGeom prst="chevron">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FFFFFF"/>
                </a:solidFill>
                <a:latin typeface="Arial"/>
              </a:rPr>
              <a:t>3</a:t>
            </a:r>
          </a:p>
          <a:p>
            <a:pPr algn="ctr"/>
            <a:r>
              <a:rPr sz="1200" b="1">
                <a:solidFill>
                  <a:srgbClr val="FFFFFF"/>
                </a:solidFill>
                <a:latin typeface="Arial"/>
              </a:rPr>
              <a:t>Clean and model</a:t>
            </a:r>
          </a:p>
        </p:txBody>
      </p:sp>
      <p:sp>
        <p:nvSpPr>
          <p:cNvPr id="8" name="Chevron 7"/>
          <p:cNvSpPr/>
          <p:nvPr/>
        </p:nvSpPr>
        <p:spPr>
          <a:xfrm>
            <a:off x="6135623" y="1554480"/>
            <a:ext cx="2103120" cy="1143000"/>
          </a:xfrm>
          <a:prstGeom prst="chevron">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FFFFFF"/>
                </a:solidFill>
                <a:latin typeface="Arial"/>
              </a:rPr>
              <a:t>4</a:t>
            </a:r>
          </a:p>
          <a:p>
            <a:pPr algn="ctr"/>
            <a:r>
              <a:rPr sz="1200" b="1">
                <a:solidFill>
                  <a:srgbClr val="FFFFFF"/>
                </a:solidFill>
                <a:latin typeface="Arial"/>
              </a:rPr>
              <a:t>Analyse</a:t>
            </a:r>
          </a:p>
        </p:txBody>
      </p:sp>
      <p:sp>
        <p:nvSpPr>
          <p:cNvPr id="9" name="Chevron 8"/>
          <p:cNvSpPr/>
          <p:nvPr/>
        </p:nvSpPr>
        <p:spPr>
          <a:xfrm>
            <a:off x="8028431" y="1554480"/>
            <a:ext cx="2103120" cy="1143000"/>
          </a:xfrm>
          <a:prstGeom prst="chevron">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FFFFFF"/>
                </a:solidFill>
                <a:latin typeface="Arial"/>
              </a:rPr>
              <a:t>5</a:t>
            </a:r>
          </a:p>
          <a:p>
            <a:pPr algn="ctr"/>
            <a:r>
              <a:rPr sz="1200" b="1">
                <a:solidFill>
                  <a:srgbClr val="FFFFFF"/>
                </a:solidFill>
                <a:latin typeface="Arial"/>
              </a:rPr>
              <a:t>Build app and AI</a:t>
            </a:r>
          </a:p>
        </p:txBody>
      </p:sp>
      <p:sp>
        <p:nvSpPr>
          <p:cNvPr id="10" name="Chevron 9"/>
          <p:cNvSpPr/>
          <p:nvPr/>
        </p:nvSpPr>
        <p:spPr>
          <a:xfrm>
            <a:off x="9921240" y="1554480"/>
            <a:ext cx="2103120" cy="1143000"/>
          </a:xfrm>
          <a:prstGeom prst="chevron">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a:solidFill>
                  <a:srgbClr val="FFFFFF"/>
                </a:solidFill>
                <a:latin typeface="Arial"/>
              </a:rPr>
              <a:t>6</a:t>
            </a:r>
          </a:p>
          <a:p>
            <a:pPr algn="ctr"/>
            <a:r>
              <a:rPr sz="1200" b="1">
                <a:solidFill>
                  <a:srgbClr val="FFFFFF"/>
                </a:solidFill>
                <a:latin typeface="Arial"/>
              </a:rPr>
              <a:t>Deploy and monitor</a:t>
            </a:r>
          </a:p>
        </p:txBody>
      </p:sp>
      <p:sp>
        <p:nvSpPr>
          <p:cNvPr id="11" name="Rectangle 10"/>
          <p:cNvSpPr/>
          <p:nvPr/>
        </p:nvSpPr>
        <p:spPr>
          <a:xfrm>
            <a:off x="2331720" y="2880360"/>
            <a:ext cx="7680960" cy="109728"/>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31720" y="3017520"/>
            <a:ext cx="7680960" cy="365760"/>
          </a:xfrm>
          <a:prstGeom prst="rect">
            <a:avLst/>
          </a:prstGeom>
          <a:noFill/>
        </p:spPr>
        <p:txBody>
          <a:bodyPr wrap="square" lIns="45720" rIns="45720" tIns="27432" bIns="27432" anchor="t">
            <a:spAutoFit/>
          </a:bodyPr>
          <a:lstStyle/>
          <a:p>
            <a:pPr algn="ctr"/>
            <a:r>
              <a:rPr sz="1400" b="1" i="0">
                <a:solidFill>
                  <a:srgbClr val="F37021"/>
                </a:solidFill>
                <a:latin typeface="Arial"/>
              </a:rPr>
              <a:t>Phases 2 to 5: what you practise this afternoon</a:t>
            </a:r>
          </a:p>
        </p:txBody>
      </p:sp>
      <p:sp>
        <p:nvSpPr>
          <p:cNvPr id="13" name="Rounded Rectangle 12"/>
          <p:cNvSpPr/>
          <p:nvPr/>
        </p:nvSpPr>
        <p:spPr>
          <a:xfrm>
            <a:off x="1280160" y="3611880"/>
            <a:ext cx="3108960" cy="137160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2200" b="1">
                <a:solidFill>
                  <a:srgbClr val="19226D"/>
                </a:solidFill>
                <a:latin typeface="Arial"/>
              </a:rPr>
              <a:t>Cost</a:t>
            </a:r>
          </a:p>
          <a:p>
            <a:pPr algn="ctr"/>
            <a:r>
              <a:rPr sz="1400" b="0">
                <a:solidFill>
                  <a:srgbClr val="19226D"/>
                </a:solidFill>
                <a:latin typeface="Arial"/>
              </a:rPr>
              <a:t>budget, API usage, people</a:t>
            </a:r>
          </a:p>
        </p:txBody>
      </p:sp>
      <p:pic>
        <p:nvPicPr>
          <p:cNvPr id="14" name="Picture 13" descr="wallet_034EA2_2.0.png"/>
          <p:cNvPicPr>
            <a:picLocks noChangeAspect="1"/>
          </p:cNvPicPr>
          <p:nvPr/>
        </p:nvPicPr>
        <p:blipFill>
          <a:blip r:embed="rId3"/>
          <a:stretch>
            <a:fillRect/>
          </a:stretch>
        </p:blipFill>
        <p:spPr>
          <a:xfrm>
            <a:off x="2606039" y="3703320"/>
            <a:ext cx="457200" cy="457200"/>
          </a:xfrm>
          <a:prstGeom prst="rect">
            <a:avLst/>
          </a:prstGeom>
        </p:spPr>
      </p:pic>
      <p:sp>
        <p:nvSpPr>
          <p:cNvPr id="15" name="Rounded Rectangle 14"/>
          <p:cNvSpPr/>
          <p:nvPr/>
        </p:nvSpPr>
        <p:spPr>
          <a:xfrm>
            <a:off x="4846320" y="3611880"/>
            <a:ext cx="3108960" cy="137160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2200" b="1">
                <a:solidFill>
                  <a:srgbClr val="19226D"/>
                </a:solidFill>
                <a:latin typeface="Arial"/>
              </a:rPr>
              <a:t>Time</a:t>
            </a:r>
          </a:p>
          <a:p>
            <a:pPr algn="ctr"/>
            <a:r>
              <a:rPr sz="1400" b="0">
                <a:solidFill>
                  <a:srgbClr val="19226D"/>
                </a:solidFill>
                <a:latin typeface="Arial"/>
              </a:rPr>
              <a:t>deadlines and trade-offs</a:t>
            </a:r>
          </a:p>
        </p:txBody>
      </p:sp>
      <p:pic>
        <p:nvPicPr>
          <p:cNvPr id="16" name="Picture 15" descr="clock_034EA2_2.0.png"/>
          <p:cNvPicPr>
            <a:picLocks noChangeAspect="1"/>
          </p:cNvPicPr>
          <p:nvPr/>
        </p:nvPicPr>
        <p:blipFill>
          <a:blip r:embed="rId4"/>
          <a:stretch>
            <a:fillRect/>
          </a:stretch>
        </p:blipFill>
        <p:spPr>
          <a:xfrm>
            <a:off x="6172200" y="3703320"/>
            <a:ext cx="457200" cy="457200"/>
          </a:xfrm>
          <a:prstGeom prst="rect">
            <a:avLst/>
          </a:prstGeom>
        </p:spPr>
      </p:pic>
      <p:sp>
        <p:nvSpPr>
          <p:cNvPr id="17" name="Rounded Rectangle 16"/>
          <p:cNvSpPr/>
          <p:nvPr/>
        </p:nvSpPr>
        <p:spPr>
          <a:xfrm>
            <a:off x="8412480" y="3611880"/>
            <a:ext cx="3108960" cy="137160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r>
              <a:rPr sz="2200" b="1">
                <a:solidFill>
                  <a:srgbClr val="19226D"/>
                </a:solidFill>
                <a:latin typeface="Arial"/>
              </a:rPr>
              <a:t>Quality</a:t>
            </a:r>
          </a:p>
          <a:p>
            <a:pPr algn="ctr"/>
            <a:r>
              <a:rPr sz="1400" b="0">
                <a:solidFill>
                  <a:srgbClr val="19226D"/>
                </a:solidFill>
                <a:latin typeface="Arial"/>
              </a:rPr>
              <a:t>accuracy, reliability, trust</a:t>
            </a:r>
          </a:p>
        </p:txBody>
      </p:sp>
      <p:pic>
        <p:nvPicPr>
          <p:cNvPr id="18" name="Picture 17" descr="badge-check_034EA2_2.0.png"/>
          <p:cNvPicPr>
            <a:picLocks noChangeAspect="1"/>
          </p:cNvPicPr>
          <p:nvPr/>
        </p:nvPicPr>
        <p:blipFill>
          <a:blip r:embed="rId5"/>
          <a:stretch>
            <a:fillRect/>
          </a:stretch>
        </p:blipFill>
        <p:spPr>
          <a:xfrm>
            <a:off x="9738359" y="3703320"/>
            <a:ext cx="457200" cy="457200"/>
          </a:xfrm>
          <a:prstGeom prst="rect">
            <a:avLst/>
          </a:prstGeom>
        </p:spPr>
      </p:pic>
      <p:sp>
        <p:nvSpPr>
          <p:cNvPr id="19" name="TextBox 18"/>
          <p:cNvSpPr txBox="1"/>
          <p:nvPr/>
        </p:nvSpPr>
        <p:spPr>
          <a:xfrm>
            <a:off x="548640" y="5120640"/>
            <a:ext cx="11064240" cy="457200"/>
          </a:xfrm>
          <a:prstGeom prst="rect">
            <a:avLst/>
          </a:prstGeom>
          <a:noFill/>
        </p:spPr>
        <p:txBody>
          <a:bodyPr wrap="square" lIns="45720" rIns="45720" tIns="27432" bIns="27432" anchor="t">
            <a:spAutoFit/>
          </a:bodyPr>
          <a:lstStyle/>
          <a:p>
            <a:pPr algn="ctr"/>
            <a:r>
              <a:rPr sz="1700" b="1" i="0">
                <a:solidFill>
                  <a:srgbClr val="5F6B7A"/>
                </a:solidFill>
                <a:latin typeface="Arial"/>
              </a:rPr>
              <a:t>You can never maximise all three at once: every project is a set of trade-offs.</a:t>
            </a:r>
          </a:p>
        </p:txBody>
      </p:sp>
      <p:sp>
        <p:nvSpPr>
          <p:cNvPr id="20" name="TextBox 19"/>
          <p:cNvSpPr txBox="1"/>
          <p:nvPr/>
        </p:nvSpPr>
        <p:spPr>
          <a:xfrm>
            <a:off x="548640" y="5623560"/>
            <a:ext cx="11064240" cy="457200"/>
          </a:xfrm>
          <a:prstGeom prst="rect">
            <a:avLst/>
          </a:prstGeom>
          <a:noFill/>
        </p:spPr>
        <p:txBody>
          <a:bodyPr wrap="square" lIns="45720" rIns="45720" tIns="27432" bIns="27432" anchor="t">
            <a:spAutoFit/>
          </a:bodyPr>
          <a:lstStyle/>
          <a:p>
            <a:pPr algn="ctr"/>
            <a:r>
              <a:rPr sz="1400" b="0" i="1">
                <a:solidFill>
                  <a:srgbClr val="5F6B7A"/>
                </a:solidFill>
                <a:latin typeface="Arial"/>
              </a:rPr>
              <a:t>Real projects spend a lot of effort on getting and cleaning data, long before any AI appears.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9224" y="1463040"/>
            <a:ext cx="9601200" cy="1737360"/>
          </a:xfrm>
        </p:spPr>
        <p:txBody>
          <a:bodyPr/>
          <a:lstStyle/>
          <a:p>
            <a:r>
              <a:t>Data foundations</a:t>
            </a:r>
          </a:p>
        </p:txBody>
      </p:sp>
      <p:sp>
        <p:nvSpPr>
          <p:cNvPr id="3" name="Text Placeholder 2"/>
          <p:cNvSpPr>
            <a:spLocks noGrp="1"/>
          </p:cNvSpPr>
          <p:nvPr>
            <p:ph type="body" idx="11" sz="quarter"/>
          </p:nvPr>
        </p:nvSpPr>
        <p:spPr>
          <a:xfrm>
            <a:off x="676656" y="3383280"/>
            <a:ext cx="7772400" cy="1097280"/>
          </a:xfrm>
        </p:spPr>
        <p:txBody>
          <a:bodyPr/>
          <a:lstStyle/>
          <a:p>
            <a:r>
              <a:rPr sz="2400"/>
              <a:t>Where does the data live, and how do we make it trustworthy?</a:t>
            </a:r>
          </a:p>
        </p:txBody>
      </p:sp>
      <p:sp>
        <p:nvSpPr>
          <p:cNvPr id="4" name="Text Placeholder 3"/>
          <p:cNvSpPr>
            <a:spLocks noGrp="1"/>
          </p:cNvSpPr>
          <p:nvPr>
            <p:ph type="body" idx="13" sz="quarter"/>
          </p:nvPr>
        </p:nvSpPr>
        <p:spPr>
          <a:xfrm>
            <a:off x="822960" y="5669280"/>
            <a:ext cx="6400800" cy="411480"/>
          </a:xfrm>
        </p:spPr>
        <p:txBody>
          <a:bodyPr/>
          <a:lstStyle/>
          <a:p>
            <a:r>
              <a:t>Part 2 of 6  ·  You practise this in Lab 1</a:t>
            </a:r>
          </a:p>
        </p:txBody>
      </p:sp>
      <p:sp>
        <p:nvSpPr>
          <p:cNvPr id="5" name="Rectangle 4"/>
          <p:cNvSpPr/>
          <p:nvPr/>
        </p:nvSpPr>
        <p:spPr>
          <a:xfrm>
            <a:off x="822960"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72768" y="6263640"/>
            <a:ext cx="676656" cy="8229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22576"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072384"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822191"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0"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875520" y="4023360"/>
            <a:ext cx="1371600" cy="13716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atabase_FFFFFF_2.0.png"/>
          <p:cNvPicPr>
            <a:picLocks noChangeAspect="1"/>
          </p:cNvPicPr>
          <p:nvPr/>
        </p:nvPicPr>
        <p:blipFill>
          <a:blip r:embed="rId3"/>
          <a:stretch>
            <a:fillRect/>
          </a:stretch>
        </p:blipFill>
        <p:spPr>
          <a:xfrm>
            <a:off x="10232136" y="4379976"/>
            <a:ext cx="658368" cy="65836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databases, not spreadsheets?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2 · DATA FOUNDATIONS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graphicFrame>
        <p:nvGraphicFramePr>
          <p:cNvPr id="5" name="Table 4"/>
          <p:cNvGraphicFramePr>
            <a:graphicFrameLocks noGrp="1"/>
          </p:cNvGraphicFramePr>
          <p:nvPr/>
        </p:nvGraphicFramePr>
        <p:xfrm>
          <a:off x="548640" y="1325880"/>
          <a:ext cx="11091672" cy="4279392"/>
        </p:xfrm>
        <a:graphic>
          <a:graphicData uri="http://schemas.openxmlformats.org/drawingml/2006/table">
            <a:tbl>
              <a:tblPr firstRow="0" bandRow="0">
                <a:tableStyleId>{2D5ABB26-0587-4C30-8999-92F81FD0307C}</a:tableStyleId>
              </a:tblPr>
              <a:tblGrid>
                <a:gridCol w="2651760"/>
                <a:gridCol w="4114800"/>
                <a:gridCol w="4325112"/>
              </a:tblGrid>
              <a:tr h="713232">
                <a:tc>
                  <a:txBody>
                    <a:bodyPr wrap="square"/>
                    <a:lstStyle/>
                    <a:p>
                      <a:r>
                        <a:rPr sz="1700" b="1">
                          <a:solidFill>
                            <a:srgbClr val="FFFFFF"/>
                          </a:solidFill>
                          <a:latin typeface="Arial"/>
                        </a:rPr>
                        <a:t/>
                      </a:r>
                    </a:p>
                  </a:txBody>
                  <a:tcPr marL="109728" marR="109728" anchor="ctr">
                    <a:solidFill>
                      <a:srgbClr val="034EA2"/>
                    </a:solidFill>
                    <a:lnB w="9525">
                      <a:solidFill>
                        <a:srgbClr val="C9D3E3"/>
                      </a:solidFill>
                    </a:lnB>
                  </a:tcPr>
                </a:tc>
                <a:tc>
                  <a:txBody>
                    <a:bodyPr wrap="square"/>
                    <a:lstStyle/>
                    <a:p>
                      <a:r>
                        <a:rPr sz="1700" b="1">
                          <a:solidFill>
                            <a:srgbClr val="FFFFFF"/>
                          </a:solidFill>
                          <a:latin typeface="Arial"/>
                        </a:rPr>
                        <a:t>Spreadsheet</a:t>
                      </a:r>
                    </a:p>
                  </a:txBody>
                  <a:tcPr marL="109728" marR="109728" anchor="ctr">
                    <a:solidFill>
                      <a:srgbClr val="034EA2"/>
                    </a:solidFill>
                    <a:lnB w="9525">
                      <a:solidFill>
                        <a:srgbClr val="C9D3E3"/>
                      </a:solidFill>
                    </a:lnB>
                  </a:tcPr>
                </a:tc>
                <a:tc>
                  <a:txBody>
                    <a:bodyPr wrap="square"/>
                    <a:lstStyle/>
                    <a:p>
                      <a:r>
                        <a:rPr sz="1700" b="1">
                          <a:solidFill>
                            <a:srgbClr val="FFFFFF"/>
                          </a:solidFill>
                          <a:latin typeface="Arial"/>
                        </a:rPr>
                        <a:t>Database</a:t>
                      </a:r>
                    </a:p>
                  </a:txBody>
                  <a:tcPr marL="109728" marR="109728" anchor="ctr">
                    <a:solidFill>
                      <a:srgbClr val="034EA2"/>
                    </a:solidFill>
                    <a:lnB w="9525">
                      <a:solidFill>
                        <a:srgbClr val="C9D3E3"/>
                      </a:solidFill>
                    </a:lnB>
                  </a:tcPr>
                </a:tc>
              </a:tr>
              <a:tr h="713232">
                <a:tc>
                  <a:txBody>
                    <a:bodyPr wrap="square"/>
                    <a:lstStyle/>
                    <a:p>
                      <a:r>
                        <a:rPr sz="1600" b="1">
                          <a:solidFill>
                            <a:srgbClr val="0B0A0C"/>
                          </a:solidFill>
                          <a:latin typeface="Arial"/>
                        </a:rPr>
                        <a:t>Many people at once</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Edits collide, copies multiply</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Built for many users at the same time</a:t>
                      </a:r>
                    </a:p>
                  </a:txBody>
                  <a:tcPr marL="109728" marR="109728" anchor="ctr">
                    <a:solidFill>
                      <a:srgbClr val="FFFFFF"/>
                    </a:solidFill>
                    <a:lnB w="9525">
                      <a:solidFill>
                        <a:srgbClr val="C9D3E3"/>
                      </a:solidFill>
                    </a:lnB>
                  </a:tcPr>
                </a:tc>
              </a:tr>
              <a:tr h="713232">
                <a:tc>
                  <a:txBody>
                    <a:bodyPr wrap="square"/>
                    <a:lstStyle/>
                    <a:p>
                      <a:r>
                        <a:rPr sz="1600" b="1">
                          <a:solidFill>
                            <a:srgbClr val="0B0A0C"/>
                          </a:solidFill>
                          <a:latin typeface="Arial"/>
                        </a:rPr>
                        <a:t>Rules</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Any value in any cell</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Types, required fields, keys, constraints</a:t>
                      </a:r>
                    </a:p>
                  </a:txBody>
                  <a:tcPr marL="109728" marR="109728" anchor="ctr">
                    <a:solidFill>
                      <a:srgbClr val="F2F5FA"/>
                    </a:solidFill>
                    <a:lnB w="9525">
                      <a:solidFill>
                        <a:srgbClr val="C9D3E3"/>
                      </a:solidFill>
                    </a:lnB>
                  </a:tcPr>
                </a:tc>
              </a:tr>
              <a:tr h="713232">
                <a:tc>
                  <a:txBody>
                    <a:bodyPr wrap="square"/>
                    <a:lstStyle/>
                    <a:p>
                      <a:r>
                        <a:rPr sz="1600" b="1">
                          <a:solidFill>
                            <a:srgbClr val="0B0A0C"/>
                          </a:solidFill>
                          <a:latin typeface="Arial"/>
                        </a:rPr>
                        <a:t>Size</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Slows down on big data</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Handles millions of rows</a:t>
                      </a:r>
                    </a:p>
                  </a:txBody>
                  <a:tcPr marL="109728" marR="109728" anchor="ctr">
                    <a:solidFill>
                      <a:srgbClr val="FFFFFF"/>
                    </a:solidFill>
                    <a:lnB w="9525">
                      <a:solidFill>
                        <a:srgbClr val="C9D3E3"/>
                      </a:solidFill>
                    </a:lnB>
                  </a:tcPr>
                </a:tc>
              </a:tr>
              <a:tr h="713232">
                <a:tc>
                  <a:txBody>
                    <a:bodyPr wrap="square"/>
                    <a:lstStyle/>
                    <a:p>
                      <a:r>
                        <a:rPr sz="1600" b="1">
                          <a:solidFill>
                            <a:srgbClr val="0B0A0C"/>
                          </a:solidFill>
                          <a:latin typeface="Arial"/>
                        </a:rPr>
                        <a:t>Questions</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Manual filters and formulas</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SQL: ask in a sentence-like language</a:t>
                      </a:r>
                    </a:p>
                  </a:txBody>
                  <a:tcPr marL="109728" marR="109728" anchor="ctr">
                    <a:solidFill>
                      <a:srgbClr val="F2F5FA"/>
                    </a:solidFill>
                    <a:lnB w="9525">
                      <a:solidFill>
                        <a:srgbClr val="C9D3E3"/>
                      </a:solidFill>
                    </a:lnB>
                  </a:tcPr>
                </a:tc>
              </a:tr>
              <a:tr h="713232">
                <a:tc>
                  <a:txBody>
                    <a:bodyPr wrap="square"/>
                    <a:lstStyle/>
                    <a:p>
                      <a:r>
                        <a:rPr sz="1600" b="1">
                          <a:solidFill>
                            <a:srgbClr val="0B0A0C"/>
                          </a:solidFill>
                          <a:latin typeface="Arial"/>
                        </a:rPr>
                        <a:t>Safety</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Easy to overwrite by accident</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Transactions, permissions, backups</a:t>
                      </a:r>
                    </a:p>
                  </a:txBody>
                  <a:tcPr marL="109728" marR="109728" anchor="ctr">
                    <a:solidFill>
                      <a:srgbClr val="FFFFFF"/>
                    </a:solidFill>
                    <a:lnB w="9525">
                      <a:solidFill>
                        <a:srgbClr val="C9D3E3"/>
                      </a:solidFill>
                    </a:lnB>
                  </a:tcPr>
                </a:tc>
              </a:tr>
            </a:tbl>
          </a:graphicData>
        </a:graphic>
      </p:graphicFrame>
      <p:sp>
        <p:nvSpPr>
          <p:cNvPr id="6" name="Rounded Rectangle 5"/>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A database is a shared, rule-enforcing, queryable home for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Tables, keys and schemas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2 · DATA FOUNDATIONS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data_map.png"/>
          <p:cNvPicPr>
            <a:picLocks noChangeAspect="1"/>
          </p:cNvPicPr>
          <p:nvPr/>
        </p:nvPicPr>
        <p:blipFill>
          <a:blip r:embed="rId3"/>
          <a:stretch>
            <a:fillRect/>
          </a:stretch>
        </p:blipFill>
        <p:spPr>
          <a:xfrm>
            <a:off x="411480" y="1898294"/>
            <a:ext cx="7680960" cy="3610051"/>
          </a:xfrm>
          <a:prstGeom prst="rect">
            <a:avLst/>
          </a:prstGeom>
        </p:spPr>
      </p:pic>
      <p:sp>
        <p:nvSpPr>
          <p:cNvPr id="6" name="Rounded Rectangle 5"/>
          <p:cNvSpPr/>
          <p:nvPr/>
        </p:nvSpPr>
        <p:spPr>
          <a:xfrm>
            <a:off x="8321040" y="1280160"/>
            <a:ext cx="3337560" cy="109728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8321040" y="1280160"/>
            <a:ext cx="109728" cy="109728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49640" y="1371600"/>
            <a:ext cx="3017520" cy="365760"/>
          </a:xfrm>
          <a:prstGeom prst="rect">
            <a:avLst/>
          </a:prstGeom>
          <a:noFill/>
        </p:spPr>
        <p:txBody>
          <a:bodyPr wrap="square" lIns="45720" rIns="45720" tIns="27432" bIns="27432" anchor="t">
            <a:spAutoFit/>
          </a:bodyPr>
          <a:lstStyle/>
          <a:p>
            <a:pPr algn="l"/>
            <a:r>
              <a:rPr sz="1600" b="1" i="0">
                <a:solidFill>
                  <a:srgbClr val="034EA2"/>
                </a:solidFill>
                <a:latin typeface="Arial"/>
              </a:rPr>
              <a:t>Table</a:t>
            </a:r>
          </a:p>
        </p:txBody>
      </p:sp>
      <p:sp>
        <p:nvSpPr>
          <p:cNvPr id="9" name="TextBox 8"/>
          <p:cNvSpPr txBox="1"/>
          <p:nvPr/>
        </p:nvSpPr>
        <p:spPr>
          <a:xfrm>
            <a:off x="8549640" y="1755648"/>
            <a:ext cx="3017520" cy="594360"/>
          </a:xfrm>
          <a:prstGeom prst="rect">
            <a:avLst/>
          </a:prstGeom>
          <a:noFill/>
        </p:spPr>
        <p:txBody>
          <a:bodyPr wrap="square" lIns="45720" rIns="45720" tIns="27432" bIns="27432" anchor="t">
            <a:spAutoFit/>
          </a:bodyPr>
          <a:lstStyle/>
          <a:p>
            <a:pPr algn="l"/>
            <a:r>
              <a:rPr sz="1300" b="0" i="0">
                <a:solidFill>
                  <a:srgbClr val="0B0A0C"/>
                </a:solidFill>
                <a:latin typeface="Arial"/>
              </a:rPr>
              <a:t>rows and columns of one kind of thing</a:t>
            </a:r>
          </a:p>
        </p:txBody>
      </p:sp>
      <p:sp>
        <p:nvSpPr>
          <p:cNvPr id="10" name="Rounded Rectangle 9"/>
          <p:cNvSpPr/>
          <p:nvPr/>
        </p:nvSpPr>
        <p:spPr>
          <a:xfrm>
            <a:off x="8321040" y="2514600"/>
            <a:ext cx="3337560" cy="109728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321040" y="2514600"/>
            <a:ext cx="109728" cy="109728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549640" y="2606040"/>
            <a:ext cx="3017520" cy="365760"/>
          </a:xfrm>
          <a:prstGeom prst="rect">
            <a:avLst/>
          </a:prstGeom>
          <a:noFill/>
        </p:spPr>
        <p:txBody>
          <a:bodyPr wrap="square" lIns="45720" rIns="45720" tIns="27432" bIns="27432" anchor="t">
            <a:spAutoFit/>
          </a:bodyPr>
          <a:lstStyle/>
          <a:p>
            <a:pPr algn="l"/>
            <a:r>
              <a:rPr sz="1600" b="1" i="0">
                <a:solidFill>
                  <a:srgbClr val="50B848"/>
                </a:solidFill>
                <a:latin typeface="Arial"/>
              </a:rPr>
              <a:t>Primary key</a:t>
            </a:r>
          </a:p>
        </p:txBody>
      </p:sp>
      <p:sp>
        <p:nvSpPr>
          <p:cNvPr id="13" name="TextBox 12"/>
          <p:cNvSpPr txBox="1"/>
          <p:nvPr/>
        </p:nvSpPr>
        <p:spPr>
          <a:xfrm>
            <a:off x="8549640" y="2990088"/>
            <a:ext cx="3017520" cy="594360"/>
          </a:xfrm>
          <a:prstGeom prst="rect">
            <a:avLst/>
          </a:prstGeom>
          <a:noFill/>
        </p:spPr>
        <p:txBody>
          <a:bodyPr wrap="square" lIns="45720" rIns="45720" tIns="27432" bIns="27432" anchor="t">
            <a:spAutoFit/>
          </a:bodyPr>
          <a:lstStyle/>
          <a:p>
            <a:pPr algn="l"/>
            <a:r>
              <a:rPr sz="1300" b="0" i="0">
                <a:solidFill>
                  <a:srgbClr val="0B0A0C"/>
                </a:solidFill>
                <a:latin typeface="Arial"/>
              </a:rPr>
              <a:t>unique, never empty: identifies a row</a:t>
            </a:r>
          </a:p>
        </p:txBody>
      </p:sp>
      <p:sp>
        <p:nvSpPr>
          <p:cNvPr id="14" name="Rounded Rectangle 13"/>
          <p:cNvSpPr/>
          <p:nvPr/>
        </p:nvSpPr>
        <p:spPr>
          <a:xfrm>
            <a:off x="8321040" y="3749039"/>
            <a:ext cx="3337560" cy="109728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321040" y="3749039"/>
            <a:ext cx="109728" cy="109728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49640" y="3840479"/>
            <a:ext cx="3017520" cy="365760"/>
          </a:xfrm>
          <a:prstGeom prst="rect">
            <a:avLst/>
          </a:prstGeom>
          <a:noFill/>
        </p:spPr>
        <p:txBody>
          <a:bodyPr wrap="square" lIns="45720" rIns="45720" tIns="27432" bIns="27432" anchor="t">
            <a:spAutoFit/>
          </a:bodyPr>
          <a:lstStyle/>
          <a:p>
            <a:pPr algn="l"/>
            <a:r>
              <a:rPr sz="1600" b="1" i="0">
                <a:solidFill>
                  <a:srgbClr val="F37021"/>
                </a:solidFill>
                <a:latin typeface="Arial"/>
              </a:rPr>
              <a:t>Foreign key</a:t>
            </a:r>
          </a:p>
        </p:txBody>
      </p:sp>
      <p:sp>
        <p:nvSpPr>
          <p:cNvPr id="17" name="TextBox 16"/>
          <p:cNvSpPr txBox="1"/>
          <p:nvPr/>
        </p:nvSpPr>
        <p:spPr>
          <a:xfrm>
            <a:off x="8549640" y="4224527"/>
            <a:ext cx="3017520" cy="594360"/>
          </a:xfrm>
          <a:prstGeom prst="rect">
            <a:avLst/>
          </a:prstGeom>
          <a:noFill/>
        </p:spPr>
        <p:txBody>
          <a:bodyPr wrap="square" lIns="45720" rIns="45720" tIns="27432" bIns="27432" anchor="t">
            <a:spAutoFit/>
          </a:bodyPr>
          <a:lstStyle/>
          <a:p>
            <a:pPr algn="l"/>
            <a:r>
              <a:rPr sz="1300" b="0" i="0">
                <a:solidFill>
                  <a:srgbClr val="0B0A0C"/>
                </a:solidFill>
                <a:latin typeface="Arial"/>
              </a:rPr>
              <a:t>must match a key in another table</a:t>
            </a:r>
          </a:p>
        </p:txBody>
      </p:sp>
      <p:sp>
        <p:nvSpPr>
          <p:cNvPr id="18" name="Rounded Rectangle 17"/>
          <p:cNvSpPr/>
          <p:nvPr/>
        </p:nvSpPr>
        <p:spPr>
          <a:xfrm>
            <a:off x="8321040" y="4983480"/>
            <a:ext cx="3337560" cy="1097280"/>
          </a:xfrm>
          <a:prstGeom prst="roundRect">
            <a:avLst>
              <a:gd name="adj" fmla="val 10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321040" y="4983480"/>
            <a:ext cx="109728" cy="1097280"/>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49640" y="5074920"/>
            <a:ext cx="3017520" cy="365760"/>
          </a:xfrm>
          <a:prstGeom prst="rect">
            <a:avLst/>
          </a:prstGeom>
          <a:noFill/>
        </p:spPr>
        <p:txBody>
          <a:bodyPr wrap="square" lIns="45720" rIns="45720" tIns="27432" bIns="27432" anchor="t">
            <a:spAutoFit/>
          </a:bodyPr>
          <a:lstStyle/>
          <a:p>
            <a:pPr algn="l"/>
            <a:r>
              <a:rPr sz="1600" b="1" i="0">
                <a:solidFill>
                  <a:srgbClr val="19226D"/>
                </a:solidFill>
                <a:latin typeface="Arial"/>
              </a:rPr>
              <a:t>Schema</a:t>
            </a:r>
          </a:p>
        </p:txBody>
      </p:sp>
      <p:sp>
        <p:nvSpPr>
          <p:cNvPr id="21" name="TextBox 20"/>
          <p:cNvSpPr txBox="1"/>
          <p:nvPr/>
        </p:nvSpPr>
        <p:spPr>
          <a:xfrm>
            <a:off x="8549640" y="5458968"/>
            <a:ext cx="3017520" cy="594360"/>
          </a:xfrm>
          <a:prstGeom prst="rect">
            <a:avLst/>
          </a:prstGeom>
          <a:noFill/>
        </p:spPr>
        <p:txBody>
          <a:bodyPr wrap="square" lIns="45720" rIns="45720" tIns="27432" bIns="27432" anchor="t">
            <a:spAutoFit/>
          </a:bodyPr>
          <a:lstStyle/>
          <a:p>
            <a:pPr algn="l"/>
            <a:r>
              <a:rPr sz="1300" b="0" i="0">
                <a:solidFill>
                  <a:srgbClr val="0B0A0C"/>
                </a:solidFill>
                <a:latin typeface="Arial"/>
              </a:rPr>
              <a:t>a named folder of tables, with its own permissions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Dirty data is normal</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2 · DATA FOUNDATIONS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transform_before_after.png"/>
          <p:cNvPicPr>
            <a:picLocks noChangeAspect="1"/>
          </p:cNvPicPr>
          <p:nvPr/>
        </p:nvPicPr>
        <p:blipFill>
          <a:blip r:embed="rId3"/>
          <a:stretch>
            <a:fillRect/>
          </a:stretch>
        </p:blipFill>
        <p:spPr>
          <a:xfrm>
            <a:off x="923969" y="1143000"/>
            <a:ext cx="10313581" cy="4434840"/>
          </a:xfrm>
          <a:prstGeom prst="rect">
            <a:avLst/>
          </a:prstGeom>
        </p:spPr>
      </p:pic>
      <p:sp>
        <p:nvSpPr>
          <p:cNvPr id="6" name="Rounded Rectangle 5"/>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Garbage in, garbage out: clean first, then analyse.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ETL: Extract, Transform, Load</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2 · DATA FOUNDATIONS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etl_pipeline.png"/>
          <p:cNvPicPr>
            <a:picLocks noChangeAspect="1"/>
          </p:cNvPicPr>
          <p:nvPr/>
        </p:nvPicPr>
        <p:blipFill>
          <a:blip r:embed="rId3"/>
          <a:stretch>
            <a:fillRect/>
          </a:stretch>
        </p:blipFill>
        <p:spPr>
          <a:xfrm>
            <a:off x="457200" y="1116025"/>
            <a:ext cx="11247120" cy="3711549"/>
          </a:xfrm>
          <a:prstGeom prst="rect">
            <a:avLst/>
          </a:prstGeom>
        </p:spPr>
      </p:pic>
      <p:sp>
        <p:nvSpPr>
          <p:cNvPr id="6" name="Rounded Rectangle 5"/>
          <p:cNvSpPr/>
          <p:nvPr/>
        </p:nvSpPr>
        <p:spPr>
          <a:xfrm>
            <a:off x="548640" y="5029200"/>
            <a:ext cx="5394960" cy="109728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19226D"/>
                </a:solidFill>
                <a:latin typeface="Arial"/>
              </a:rPr>
              <a:t>Idempotent load (UPSERT)</a:t>
            </a:r>
          </a:p>
          <a:p>
            <a:pPr algn="ctr"/>
            <a:r>
              <a:rPr sz="1400" b="0">
                <a:solidFill>
                  <a:srgbClr val="19226D"/>
                </a:solidFill>
                <a:latin typeface="Arial"/>
              </a:rPr>
              <a:t>insert or update: running it twice is harmless</a:t>
            </a:r>
          </a:p>
        </p:txBody>
      </p:sp>
      <p:sp>
        <p:nvSpPr>
          <p:cNvPr id="7" name="Rounded Rectangle 6"/>
          <p:cNvSpPr/>
          <p:nvPr/>
        </p:nvSpPr>
        <p:spPr>
          <a:xfrm>
            <a:off x="6217920" y="5029200"/>
            <a:ext cx="5422392" cy="109728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19226D"/>
                </a:solidFill>
                <a:latin typeface="Arial"/>
              </a:rPr>
              <a:t>Runs on a schedule</a:t>
            </a:r>
          </a:p>
          <a:p>
            <a:pPr algn="ctr"/>
            <a:r>
              <a:rPr sz="1400" b="0">
                <a:solidFill>
                  <a:srgbClr val="19226D"/>
                </a:solidFill>
                <a:latin typeface="Arial"/>
              </a:rPr>
              <a:t>real pipelines repeat every hour or every night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NULL is not zero</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2 · DATA FOUNDATIONS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hours_timeline.png"/>
          <p:cNvPicPr>
            <a:picLocks noChangeAspect="1"/>
          </p:cNvPicPr>
          <p:nvPr/>
        </p:nvPicPr>
        <p:blipFill>
          <a:blip r:embed="rId3"/>
          <a:stretch>
            <a:fillRect/>
          </a:stretch>
        </p:blipFill>
        <p:spPr>
          <a:xfrm>
            <a:off x="822960" y="1280160"/>
            <a:ext cx="10515600" cy="4206240"/>
          </a:xfrm>
          <a:prstGeom prst="rect">
            <a:avLst/>
          </a:prstGeom>
        </p:spPr>
      </p:pic>
      <p:sp>
        <p:nvSpPr>
          <p:cNvPr id="6" name="Rounded Rectangle 5"/>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Unknown stays unknown: filling NULL with 0 makes every average lie.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SQL: the language of questions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2 · DATA FOUNDATIONS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join_groupby.png"/>
          <p:cNvPicPr>
            <a:picLocks noChangeAspect="1"/>
          </p:cNvPicPr>
          <p:nvPr/>
        </p:nvPicPr>
        <p:blipFill>
          <a:blip r:embed="rId3"/>
          <a:stretch>
            <a:fillRect/>
          </a:stretch>
        </p:blipFill>
        <p:spPr>
          <a:xfrm>
            <a:off x="1314206" y="1143000"/>
            <a:ext cx="9533106" cy="4480560"/>
          </a:xfrm>
          <a:prstGeom prst="rect">
            <a:avLst/>
          </a:prstGeom>
        </p:spPr>
      </p:pic>
      <p:sp>
        <p:nvSpPr>
          <p:cNvPr id="6" name="Rounded Rectangle 5"/>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You describe the answer you want. The database does the 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9224" y="1463040"/>
            <a:ext cx="9601200" cy="1737360"/>
          </a:xfrm>
        </p:spPr>
        <p:txBody>
          <a:bodyPr/>
          <a:lstStyle/>
          <a:p>
            <a:r>
              <a:t>From numbers to decisions</a:t>
            </a:r>
          </a:p>
        </p:txBody>
      </p:sp>
      <p:sp>
        <p:nvSpPr>
          <p:cNvPr id="3" name="Text Placeholder 2"/>
          <p:cNvSpPr>
            <a:spLocks noGrp="1"/>
          </p:cNvSpPr>
          <p:nvPr>
            <p:ph type="body" idx="11" sz="quarter"/>
          </p:nvPr>
        </p:nvSpPr>
        <p:spPr>
          <a:xfrm>
            <a:off x="676656" y="3383280"/>
            <a:ext cx="7772400" cy="1097280"/>
          </a:xfrm>
        </p:spPr>
        <p:txBody>
          <a:bodyPr/>
          <a:lstStyle/>
          <a:p>
            <a:r>
              <a:rPr sz="2400"/>
              <a:t>How do we turn numbers into something a manager can act on?</a:t>
            </a:r>
          </a:p>
        </p:txBody>
      </p:sp>
      <p:sp>
        <p:nvSpPr>
          <p:cNvPr id="4" name="Text Placeholder 3"/>
          <p:cNvSpPr>
            <a:spLocks noGrp="1"/>
          </p:cNvSpPr>
          <p:nvPr>
            <p:ph type="body" idx="13" sz="quarter"/>
          </p:nvPr>
        </p:nvSpPr>
        <p:spPr>
          <a:xfrm>
            <a:off x="822960" y="5669280"/>
            <a:ext cx="6400800" cy="411480"/>
          </a:xfrm>
        </p:spPr>
        <p:txBody>
          <a:bodyPr/>
          <a:lstStyle/>
          <a:p>
            <a:r>
              <a:t>Part 3 of 6  ·  You practise this in Lab 2</a:t>
            </a:r>
          </a:p>
        </p:txBody>
      </p:sp>
      <p:sp>
        <p:nvSpPr>
          <p:cNvPr id="5" name="Rectangle 4"/>
          <p:cNvSpPr/>
          <p:nvPr/>
        </p:nvSpPr>
        <p:spPr>
          <a:xfrm>
            <a:off x="822960"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72768"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22576" y="6263640"/>
            <a:ext cx="676656" cy="8229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072384"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822191"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0"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875520" y="4023360"/>
            <a:ext cx="1371600" cy="13716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column_FFFFFF_2.0.png"/>
          <p:cNvPicPr>
            <a:picLocks noChangeAspect="1"/>
          </p:cNvPicPr>
          <p:nvPr/>
        </p:nvPicPr>
        <p:blipFill>
          <a:blip r:embed="rId3"/>
          <a:stretch>
            <a:fillRect/>
          </a:stretch>
        </p:blipFill>
        <p:spPr>
          <a:xfrm>
            <a:off x="10232136" y="4379976"/>
            <a:ext cx="658368" cy="65836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KPI is a promise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3 · FROM NUMBERS TO DECISIONS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325880"/>
            <a:ext cx="2651760" cy="40233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325880"/>
            <a:ext cx="2651760" cy="182880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4400" b="1">
                <a:solidFill>
                  <a:srgbClr val="FFFFFF"/>
                </a:solidFill>
                <a:latin typeface="Arial"/>
              </a:rPr>
              <a:t>600</a:t>
            </a:r>
          </a:p>
          <a:p>
            <a:pPr algn="ctr"/>
            <a:r>
              <a:rPr sz="1500" b="0">
                <a:solidFill>
                  <a:srgbClr val="FFFFFF"/>
                </a:solidFill>
                <a:latin typeface="Arial"/>
              </a:rPr>
              <a:t>Tickets</a:t>
            </a:r>
          </a:p>
        </p:txBody>
      </p:sp>
      <p:pic>
        <p:nvPicPr>
          <p:cNvPr id="7" name="Picture 6" descr="ticket_FFFFFF_2.0.png"/>
          <p:cNvPicPr>
            <a:picLocks noChangeAspect="1"/>
          </p:cNvPicPr>
          <p:nvPr/>
        </p:nvPicPr>
        <p:blipFill>
          <a:blip r:embed="rId3"/>
          <a:stretch>
            <a:fillRect/>
          </a:stretch>
        </p:blipFill>
        <p:spPr>
          <a:xfrm>
            <a:off x="685800" y="1463040"/>
            <a:ext cx="384048" cy="384048"/>
          </a:xfrm>
          <a:prstGeom prst="rect">
            <a:avLst/>
          </a:prstGeom>
        </p:spPr>
      </p:pic>
      <p:sp>
        <p:nvSpPr>
          <p:cNvPr id="8" name="TextBox 7"/>
          <p:cNvSpPr txBox="1"/>
          <p:nvPr/>
        </p:nvSpPr>
        <p:spPr>
          <a:xfrm>
            <a:off x="685800" y="3337560"/>
            <a:ext cx="2377440" cy="365760"/>
          </a:xfrm>
          <a:prstGeom prst="rect">
            <a:avLst/>
          </a:prstGeom>
          <a:noFill/>
        </p:spPr>
        <p:txBody>
          <a:bodyPr wrap="square" lIns="45720" rIns="45720" tIns="27432" bIns="27432" anchor="t">
            <a:spAutoFit/>
          </a:bodyPr>
          <a:lstStyle/>
          <a:p>
            <a:pPr algn="l"/>
            <a:r>
              <a:rPr sz="1200" b="1" i="0">
                <a:solidFill>
                  <a:srgbClr val="5F6B7A"/>
                </a:solidFill>
                <a:latin typeface="Arial"/>
              </a:rPr>
              <a:t>READ IT HONESTLY</a:t>
            </a:r>
          </a:p>
        </p:txBody>
      </p:sp>
      <p:sp>
        <p:nvSpPr>
          <p:cNvPr id="9" name="TextBox 8"/>
          <p:cNvSpPr txBox="1"/>
          <p:nvPr/>
        </p:nvSpPr>
        <p:spPr>
          <a:xfrm>
            <a:off x="685800" y="3749039"/>
            <a:ext cx="2377440" cy="1554480"/>
          </a:xfrm>
          <a:prstGeom prst="rect">
            <a:avLst/>
          </a:prstGeom>
          <a:noFill/>
        </p:spPr>
        <p:txBody>
          <a:bodyPr wrap="square" lIns="45720" rIns="45720" tIns="27432" bIns="27432" anchor="t">
            <a:spAutoFit/>
          </a:bodyPr>
          <a:lstStyle/>
          <a:p>
            <a:pPr algn="l"/>
            <a:r>
              <a:rPr sz="1700" b="0" i="0">
                <a:solidFill>
                  <a:srgbClr val="0B0A0C"/>
                </a:solidFill>
                <a:latin typeface="Arial"/>
              </a:rPr>
              <a:t>the whole sample</a:t>
            </a:r>
          </a:p>
        </p:txBody>
      </p:sp>
      <p:sp>
        <p:nvSpPr>
          <p:cNvPr id="10" name="Rounded Rectangle 9"/>
          <p:cNvSpPr/>
          <p:nvPr/>
        </p:nvSpPr>
        <p:spPr>
          <a:xfrm>
            <a:off x="3346704" y="1325880"/>
            <a:ext cx="2651760" cy="40233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46704" y="1325880"/>
            <a:ext cx="2651760" cy="182880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4400" b="1">
                <a:solidFill>
                  <a:srgbClr val="FFFFFF"/>
                </a:solidFill>
                <a:latin typeface="Arial"/>
              </a:rPr>
              <a:t>34.7%</a:t>
            </a:r>
          </a:p>
          <a:p>
            <a:pPr algn="ctr"/>
            <a:r>
              <a:rPr sz="1500" b="0">
                <a:solidFill>
                  <a:srgbClr val="FFFFFF"/>
                </a:solidFill>
                <a:latin typeface="Arial"/>
              </a:rPr>
              <a:t>Closed rate</a:t>
            </a:r>
          </a:p>
        </p:txBody>
      </p:sp>
      <p:pic>
        <p:nvPicPr>
          <p:cNvPr id="12" name="Picture 11" descr="circle-check_FFFFFF_2.0.png"/>
          <p:cNvPicPr>
            <a:picLocks noChangeAspect="1"/>
          </p:cNvPicPr>
          <p:nvPr/>
        </p:nvPicPr>
        <p:blipFill>
          <a:blip r:embed="rId4"/>
          <a:stretch>
            <a:fillRect/>
          </a:stretch>
        </p:blipFill>
        <p:spPr>
          <a:xfrm>
            <a:off x="3483864" y="1463040"/>
            <a:ext cx="384048" cy="384048"/>
          </a:xfrm>
          <a:prstGeom prst="rect">
            <a:avLst/>
          </a:prstGeom>
        </p:spPr>
      </p:pic>
      <p:sp>
        <p:nvSpPr>
          <p:cNvPr id="13" name="TextBox 12"/>
          <p:cNvSpPr txBox="1"/>
          <p:nvPr/>
        </p:nvSpPr>
        <p:spPr>
          <a:xfrm>
            <a:off x="3483864" y="3337560"/>
            <a:ext cx="2377440" cy="365760"/>
          </a:xfrm>
          <a:prstGeom prst="rect">
            <a:avLst/>
          </a:prstGeom>
          <a:noFill/>
        </p:spPr>
        <p:txBody>
          <a:bodyPr wrap="square" lIns="45720" rIns="45720" tIns="27432" bIns="27432" anchor="t">
            <a:spAutoFit/>
          </a:bodyPr>
          <a:lstStyle/>
          <a:p>
            <a:pPr algn="l"/>
            <a:r>
              <a:rPr sz="1200" b="1" i="0">
                <a:solidFill>
                  <a:srgbClr val="5F6B7A"/>
                </a:solidFill>
                <a:latin typeface="Arial"/>
              </a:rPr>
              <a:t>READ IT HONESTLY</a:t>
            </a:r>
          </a:p>
        </p:txBody>
      </p:sp>
      <p:sp>
        <p:nvSpPr>
          <p:cNvPr id="14" name="TextBox 13"/>
          <p:cNvSpPr txBox="1"/>
          <p:nvPr/>
        </p:nvSpPr>
        <p:spPr>
          <a:xfrm>
            <a:off x="3483864" y="3749039"/>
            <a:ext cx="2377440" cy="1554480"/>
          </a:xfrm>
          <a:prstGeom prst="rect">
            <a:avLst/>
          </a:prstGeom>
          <a:noFill/>
        </p:spPr>
        <p:txBody>
          <a:bodyPr wrap="square" lIns="45720" rIns="45720" tIns="27432" bIns="27432" anchor="t">
            <a:spAutoFit/>
          </a:bodyPr>
          <a:lstStyle/>
          <a:p>
            <a:pPr algn="l"/>
            <a:r>
              <a:rPr sz="1700" b="0" i="0">
                <a:solidFill>
                  <a:srgbClr val="0B0A0C"/>
                </a:solidFill>
                <a:latin typeface="Arial"/>
              </a:rPr>
              <a:t>share of tickets with status Closed: not an SLA</a:t>
            </a:r>
          </a:p>
        </p:txBody>
      </p:sp>
      <p:sp>
        <p:nvSpPr>
          <p:cNvPr id="15" name="Rounded Rectangle 14"/>
          <p:cNvSpPr/>
          <p:nvPr/>
        </p:nvSpPr>
        <p:spPr>
          <a:xfrm>
            <a:off x="6144768" y="1325880"/>
            <a:ext cx="2651760" cy="40233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44768" y="1325880"/>
            <a:ext cx="2651760" cy="182880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4400" b="1">
                <a:solidFill>
                  <a:srgbClr val="FFFFFF"/>
                </a:solidFill>
                <a:latin typeface="Arial"/>
              </a:rPr>
              <a:t>2.87</a:t>
            </a:r>
          </a:p>
          <a:p>
            <a:pPr algn="ctr"/>
            <a:r>
              <a:rPr sz="1500" b="0">
                <a:solidFill>
                  <a:srgbClr val="FFFFFF"/>
                </a:solidFill>
                <a:latin typeface="Arial"/>
              </a:rPr>
              <a:t>Average CSAT (1 to 5)</a:t>
            </a:r>
          </a:p>
        </p:txBody>
      </p:sp>
      <p:pic>
        <p:nvPicPr>
          <p:cNvPr id="17" name="Picture 16" descr="smile_FFFFFF_2.0.png"/>
          <p:cNvPicPr>
            <a:picLocks noChangeAspect="1"/>
          </p:cNvPicPr>
          <p:nvPr/>
        </p:nvPicPr>
        <p:blipFill>
          <a:blip r:embed="rId5"/>
          <a:stretch>
            <a:fillRect/>
          </a:stretch>
        </p:blipFill>
        <p:spPr>
          <a:xfrm>
            <a:off x="6281928" y="1463040"/>
            <a:ext cx="384048" cy="384048"/>
          </a:xfrm>
          <a:prstGeom prst="rect">
            <a:avLst/>
          </a:prstGeom>
        </p:spPr>
      </p:pic>
      <p:sp>
        <p:nvSpPr>
          <p:cNvPr id="18" name="TextBox 17"/>
          <p:cNvSpPr txBox="1"/>
          <p:nvPr/>
        </p:nvSpPr>
        <p:spPr>
          <a:xfrm>
            <a:off x="6281928" y="3337560"/>
            <a:ext cx="2377440" cy="365760"/>
          </a:xfrm>
          <a:prstGeom prst="rect">
            <a:avLst/>
          </a:prstGeom>
          <a:noFill/>
        </p:spPr>
        <p:txBody>
          <a:bodyPr wrap="square" lIns="45720" rIns="45720" tIns="27432" bIns="27432" anchor="t">
            <a:spAutoFit/>
          </a:bodyPr>
          <a:lstStyle/>
          <a:p>
            <a:pPr algn="l"/>
            <a:r>
              <a:rPr sz="1200" b="1" i="0">
                <a:solidFill>
                  <a:srgbClr val="5F6B7A"/>
                </a:solidFill>
                <a:latin typeface="Arial"/>
              </a:rPr>
              <a:t>READ IT HONESTLY</a:t>
            </a:r>
          </a:p>
        </p:txBody>
      </p:sp>
      <p:sp>
        <p:nvSpPr>
          <p:cNvPr id="19" name="TextBox 18"/>
          <p:cNvSpPr txBox="1"/>
          <p:nvPr/>
        </p:nvSpPr>
        <p:spPr>
          <a:xfrm>
            <a:off x="6281928" y="3749039"/>
            <a:ext cx="2377440" cy="1554480"/>
          </a:xfrm>
          <a:prstGeom prst="rect">
            <a:avLst/>
          </a:prstGeom>
          <a:noFill/>
        </p:spPr>
        <p:txBody>
          <a:bodyPr wrap="square" lIns="45720" rIns="45720" tIns="27432" bIns="27432" anchor="t">
            <a:spAutoFit/>
          </a:bodyPr>
          <a:lstStyle/>
          <a:p>
            <a:pPr algn="l"/>
            <a:r>
              <a:rPr sz="1700" b="0" i="0">
                <a:solidFill>
                  <a:srgbClr val="0B0A0C"/>
                </a:solidFill>
                <a:latin typeface="Arial"/>
              </a:rPr>
              <a:t>only the 208 rated tickets, not all 600</a:t>
            </a:r>
          </a:p>
        </p:txBody>
      </p:sp>
      <p:sp>
        <p:nvSpPr>
          <p:cNvPr id="20" name="Rounded Rectangle 19"/>
          <p:cNvSpPr/>
          <p:nvPr/>
        </p:nvSpPr>
        <p:spPr>
          <a:xfrm>
            <a:off x="8942832" y="1325880"/>
            <a:ext cx="2651760" cy="40233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942832" y="1325880"/>
            <a:ext cx="2651760" cy="1828800"/>
          </a:xfrm>
          <a:prstGeom prst="rect">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4400" b="1">
                <a:solidFill>
                  <a:srgbClr val="FFFFFF"/>
                </a:solidFill>
                <a:latin typeface="Arial"/>
              </a:rPr>
              <a:t>7.8 h</a:t>
            </a:r>
          </a:p>
          <a:p>
            <a:pPr algn="ctr"/>
            <a:r>
              <a:rPr sz="1500" b="0">
                <a:solidFill>
                  <a:srgbClr val="FFFFFF"/>
                </a:solidFill>
                <a:latin typeface="Arial"/>
              </a:rPr>
              <a:t>Average resolution time</a:t>
            </a:r>
          </a:p>
        </p:txBody>
      </p:sp>
      <p:pic>
        <p:nvPicPr>
          <p:cNvPr id="22" name="Picture 21" descr="timer_FFFFFF_2.0.png"/>
          <p:cNvPicPr>
            <a:picLocks noChangeAspect="1"/>
          </p:cNvPicPr>
          <p:nvPr/>
        </p:nvPicPr>
        <p:blipFill>
          <a:blip r:embed="rId6"/>
          <a:stretch>
            <a:fillRect/>
          </a:stretch>
        </p:blipFill>
        <p:spPr>
          <a:xfrm>
            <a:off x="9079992" y="1463040"/>
            <a:ext cx="384048" cy="384048"/>
          </a:xfrm>
          <a:prstGeom prst="rect">
            <a:avLst/>
          </a:prstGeom>
        </p:spPr>
      </p:pic>
      <p:sp>
        <p:nvSpPr>
          <p:cNvPr id="23" name="TextBox 22"/>
          <p:cNvSpPr txBox="1"/>
          <p:nvPr/>
        </p:nvSpPr>
        <p:spPr>
          <a:xfrm>
            <a:off x="9079992" y="3337560"/>
            <a:ext cx="2377440" cy="365760"/>
          </a:xfrm>
          <a:prstGeom prst="rect">
            <a:avLst/>
          </a:prstGeom>
          <a:noFill/>
        </p:spPr>
        <p:txBody>
          <a:bodyPr wrap="square" lIns="45720" rIns="45720" tIns="27432" bIns="27432" anchor="t">
            <a:spAutoFit/>
          </a:bodyPr>
          <a:lstStyle/>
          <a:p>
            <a:pPr algn="l"/>
            <a:r>
              <a:rPr sz="1200" b="1" i="0">
                <a:solidFill>
                  <a:srgbClr val="5F6B7A"/>
                </a:solidFill>
                <a:latin typeface="Arial"/>
              </a:rPr>
              <a:t>READ IT HONESTLY</a:t>
            </a:r>
          </a:p>
        </p:txBody>
      </p:sp>
      <p:sp>
        <p:nvSpPr>
          <p:cNvPr id="24" name="TextBox 23"/>
          <p:cNvSpPr txBox="1"/>
          <p:nvPr/>
        </p:nvSpPr>
        <p:spPr>
          <a:xfrm>
            <a:off x="9079992" y="3749039"/>
            <a:ext cx="2377440" cy="1554480"/>
          </a:xfrm>
          <a:prstGeom prst="rect">
            <a:avLst/>
          </a:prstGeom>
          <a:noFill/>
        </p:spPr>
        <p:txBody>
          <a:bodyPr wrap="square" lIns="45720" rIns="45720" tIns="27432" bIns="27432" anchor="t">
            <a:spAutoFit/>
          </a:bodyPr>
          <a:lstStyle/>
          <a:p>
            <a:pPr algn="l"/>
            <a:r>
              <a:rPr sz="1700" b="0" i="0">
                <a:solidFill>
                  <a:srgbClr val="0B0A0C"/>
                </a:solidFill>
                <a:latin typeface="Arial"/>
              </a:rPr>
              <a:t>only the 105 tickets that have a duration</a:t>
            </a:r>
          </a:p>
        </p:txBody>
      </p:sp>
      <p:sp>
        <p:nvSpPr>
          <p:cNvPr id="25" name="Rounded Rectangle 24"/>
          <p:cNvSpPr/>
          <p:nvPr/>
        </p:nvSpPr>
        <p:spPr>
          <a:xfrm>
            <a:off x="548640" y="566928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A number without its caveat is a promise you cannot keep.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Pick the chart for the question</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3 · FROM NUMBERS TO DECISIONS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nb2_chart_chooser.png"/>
          <p:cNvPicPr>
            <a:picLocks noChangeAspect="1"/>
          </p:cNvPicPr>
          <p:nvPr/>
        </p:nvPicPr>
        <p:blipFill>
          <a:blip r:embed="rId3"/>
          <a:stretch>
            <a:fillRect/>
          </a:stretch>
        </p:blipFill>
        <p:spPr>
          <a:xfrm>
            <a:off x="1097280" y="1111910"/>
            <a:ext cx="9966960" cy="5182819"/>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Averages hide stories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3 · FROM NUMBERS TO DECISIONS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nb2_boxplot_anatomy.png"/>
          <p:cNvPicPr>
            <a:picLocks noChangeAspect="1"/>
          </p:cNvPicPr>
          <p:nvPr/>
        </p:nvPicPr>
        <p:blipFill>
          <a:blip r:embed="rId3"/>
          <a:stretch>
            <a:fillRect/>
          </a:stretch>
        </p:blipFill>
        <p:spPr>
          <a:xfrm>
            <a:off x="870806" y="1143000"/>
            <a:ext cx="10419906" cy="4480560"/>
          </a:xfrm>
          <a:prstGeom prst="rect">
            <a:avLst/>
          </a:prstGeom>
        </p:spPr>
      </p:pic>
      <p:sp>
        <p:nvSpPr>
          <p:cNvPr id="6" name="Rounded Rectangle 5"/>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The mean says 7.8 hours. The box plot shows who waits much longer.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finding, one caveat</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3 · FROM NUMBERS TO DECISIONS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nb2_quadrant_anatomy.png"/>
          <p:cNvPicPr>
            <a:picLocks noChangeAspect="1"/>
          </p:cNvPicPr>
          <p:nvPr/>
        </p:nvPicPr>
        <p:blipFill>
          <a:blip r:embed="rId3"/>
          <a:stretch>
            <a:fillRect/>
          </a:stretch>
        </p:blipFill>
        <p:spPr>
          <a:xfrm>
            <a:off x="1897866" y="1097280"/>
            <a:ext cx="8365787" cy="3931920"/>
          </a:xfrm>
          <a:prstGeom prst="rect">
            <a:avLst/>
          </a:prstGeom>
        </p:spPr>
      </p:pic>
      <p:sp>
        <p:nvSpPr>
          <p:cNvPr id="6" name="Rounded Rectangle 5"/>
          <p:cNvSpPr/>
          <p:nvPr/>
        </p:nvSpPr>
        <p:spPr>
          <a:xfrm>
            <a:off x="548640" y="5166360"/>
            <a:ext cx="5440680" cy="1143000"/>
          </a:xfrm>
          <a:prstGeom prst="roundRect">
            <a:avLst>
              <a:gd name="adj" fmla="val 10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Finding</a:t>
            </a:r>
          </a:p>
          <a:p>
            <a:pPr algn="ctr"/>
            <a:r>
              <a:rPr sz="1300" b="0">
                <a:solidFill>
                  <a:srgbClr val="FFFFFF"/>
                </a:solidFill>
                <a:latin typeface="Arial"/>
              </a:rPr>
              <a:t>Billing inquiry is the only type with average satisfaction above 3.0 (3.36).</a:t>
            </a:r>
          </a:p>
        </p:txBody>
      </p:sp>
      <p:sp>
        <p:nvSpPr>
          <p:cNvPr id="7" name="Rounded Rectangle 6"/>
          <p:cNvSpPr/>
          <p:nvPr/>
        </p:nvSpPr>
        <p:spPr>
          <a:xfrm>
            <a:off x="6199632" y="5166360"/>
            <a:ext cx="5440680" cy="1143000"/>
          </a:xfrm>
          <a:prstGeom prst="roundRect">
            <a:avLst>
              <a:gd name="adj" fmla="val 1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Caveat</a:t>
            </a:r>
          </a:p>
          <a:p>
            <a:pPr algn="ctr"/>
            <a:r>
              <a:rPr sz="1300" b="0">
                <a:solidFill>
                  <a:srgbClr val="FFFFFF"/>
                </a:solidFill>
                <a:latin typeface="Arial"/>
              </a:rPr>
              <a:t>Ratings come from a few dozen tickets per type: small gaps may be noise.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9224" y="1463040"/>
            <a:ext cx="9601200" cy="1737360"/>
          </a:xfrm>
        </p:spPr>
        <p:txBody>
          <a:bodyPr/>
          <a:lstStyle/>
          <a:p>
            <a:r>
              <a:t>AI behind the scenes</a:t>
            </a:r>
          </a:p>
        </p:txBody>
      </p:sp>
      <p:sp>
        <p:nvSpPr>
          <p:cNvPr id="3" name="Text Placeholder 2"/>
          <p:cNvSpPr>
            <a:spLocks noGrp="1"/>
          </p:cNvSpPr>
          <p:nvPr>
            <p:ph type="body" idx="11" sz="quarter"/>
          </p:nvPr>
        </p:nvSpPr>
        <p:spPr>
          <a:xfrm>
            <a:off x="676656" y="3383280"/>
            <a:ext cx="7772400" cy="1097280"/>
          </a:xfrm>
        </p:spPr>
        <p:txBody>
          <a:bodyPr/>
          <a:lstStyle/>
          <a:p>
            <a:r>
              <a:rPr sz="2400"/>
              <a:t>How can a language model answer from our own knowledge?</a:t>
            </a:r>
          </a:p>
        </p:txBody>
      </p:sp>
      <p:sp>
        <p:nvSpPr>
          <p:cNvPr id="4" name="Text Placeholder 3"/>
          <p:cNvSpPr>
            <a:spLocks noGrp="1"/>
          </p:cNvSpPr>
          <p:nvPr>
            <p:ph type="body" idx="13" sz="quarter"/>
          </p:nvPr>
        </p:nvSpPr>
        <p:spPr>
          <a:xfrm>
            <a:off x="822960" y="5669280"/>
            <a:ext cx="6400800" cy="411480"/>
          </a:xfrm>
        </p:spPr>
        <p:txBody>
          <a:bodyPr/>
          <a:lstStyle/>
          <a:p>
            <a:r>
              <a:t>Part 4 of 6  ·  You practise this in Lab 3</a:t>
            </a:r>
          </a:p>
        </p:txBody>
      </p:sp>
      <p:sp>
        <p:nvSpPr>
          <p:cNvPr id="5" name="Rectangle 4"/>
          <p:cNvSpPr/>
          <p:nvPr/>
        </p:nvSpPr>
        <p:spPr>
          <a:xfrm>
            <a:off x="822960"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72768"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22576"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072384" y="6263640"/>
            <a:ext cx="676656" cy="8229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822191"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0"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875520" y="4023360"/>
            <a:ext cx="1371600" cy="13716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rain-circuit_FFFFFF_2.0.png"/>
          <p:cNvPicPr>
            <a:picLocks noChangeAspect="1"/>
          </p:cNvPicPr>
          <p:nvPr/>
        </p:nvPicPr>
        <p:blipFill>
          <a:blip r:embed="rId3"/>
          <a:stretch>
            <a:fillRect/>
          </a:stretch>
        </p:blipFill>
        <p:spPr>
          <a:xfrm>
            <a:off x="10232136" y="4379976"/>
            <a:ext cx="658368" cy="65836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become tokens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7223760" cy="4526280"/>
          </a:xfrm>
          <a:prstGeom prst="roundRect">
            <a:avLst>
              <a:gd name="adj" fmla="val 4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tokens.png"/>
          <p:cNvPicPr>
            <a:picLocks noChangeAspect="1"/>
          </p:cNvPicPr>
          <p:nvPr/>
        </p:nvPicPr>
        <p:blipFill>
          <a:blip r:embed="rId3"/>
          <a:stretch>
            <a:fillRect/>
          </a:stretch>
        </p:blipFill>
        <p:spPr>
          <a:xfrm>
            <a:off x="640080" y="1976950"/>
            <a:ext cx="7040880" cy="2949819"/>
          </a:xfrm>
          <a:prstGeom prst="rect">
            <a:avLst/>
          </a:prstGeom>
        </p:spPr>
      </p:pic>
      <p:sp>
        <p:nvSpPr>
          <p:cNvPr id="7" name="Rounded Rectangle 6"/>
          <p:cNvSpPr/>
          <p:nvPr/>
        </p:nvSpPr>
        <p:spPr>
          <a:xfrm>
            <a:off x="8046720" y="1188720"/>
            <a:ext cx="3593592" cy="14173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046720" y="1188720"/>
            <a:ext cx="109728" cy="1417320"/>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321040" y="1371600"/>
            <a:ext cx="548640" cy="54864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cissors_FFFFFF_2.0.png"/>
          <p:cNvPicPr>
            <a:picLocks noChangeAspect="1"/>
          </p:cNvPicPr>
          <p:nvPr/>
        </p:nvPicPr>
        <p:blipFill>
          <a:blip r:embed="rId4"/>
          <a:stretch>
            <a:fillRect/>
          </a:stretch>
        </p:blipFill>
        <p:spPr>
          <a:xfrm>
            <a:off x="8430767" y="1481328"/>
            <a:ext cx="329184" cy="329184"/>
          </a:xfrm>
          <a:prstGeom prst="rect">
            <a:avLst/>
          </a:prstGeom>
        </p:spPr>
      </p:pic>
      <p:sp>
        <p:nvSpPr>
          <p:cNvPr id="11" name="TextBox 10"/>
          <p:cNvSpPr txBox="1"/>
          <p:nvPr/>
        </p:nvSpPr>
        <p:spPr>
          <a:xfrm>
            <a:off x="9006840" y="1298448"/>
            <a:ext cx="2560320" cy="640080"/>
          </a:xfrm>
          <a:prstGeom prst="rect">
            <a:avLst/>
          </a:prstGeom>
          <a:noFill/>
        </p:spPr>
        <p:txBody>
          <a:bodyPr wrap="square" lIns="45720" rIns="45720" tIns="27432" bIns="27432" anchor="t">
            <a:spAutoFit/>
          </a:bodyPr>
          <a:lstStyle/>
          <a:p>
            <a:pPr algn="l"/>
            <a:r>
              <a:rPr sz="1500" b="1" i="0">
                <a:solidFill>
                  <a:srgbClr val="034EA2"/>
                </a:solidFill>
                <a:latin typeface="Arial"/>
              </a:rPr>
              <a:t>A token is a piece of text</a:t>
            </a:r>
          </a:p>
        </p:txBody>
      </p:sp>
      <p:sp>
        <p:nvSpPr>
          <p:cNvPr id="12" name="TextBox 11"/>
          <p:cNvSpPr txBox="1"/>
          <p:nvPr/>
        </p:nvSpPr>
        <p:spPr>
          <a:xfrm>
            <a:off x="9006840" y="1965960"/>
            <a:ext cx="2560320" cy="594360"/>
          </a:xfrm>
          <a:prstGeom prst="rect">
            <a:avLst/>
          </a:prstGeom>
          <a:noFill/>
        </p:spPr>
        <p:txBody>
          <a:bodyPr wrap="square" lIns="45720" rIns="45720" tIns="27432" bIns="27432" anchor="t">
            <a:spAutoFit/>
          </a:bodyPr>
          <a:lstStyle/>
          <a:p>
            <a:pPr algn="l"/>
            <a:r>
              <a:rPr sz="1300" b="0" i="0">
                <a:solidFill>
                  <a:srgbClr val="0B0A0C"/>
                </a:solidFill>
                <a:latin typeface="Arial"/>
              </a:rPr>
              <a:t>a whole word, part of a word, or punctuation</a:t>
            </a:r>
          </a:p>
        </p:txBody>
      </p:sp>
      <p:sp>
        <p:nvSpPr>
          <p:cNvPr id="13" name="Rounded Rectangle 12"/>
          <p:cNvSpPr/>
          <p:nvPr/>
        </p:nvSpPr>
        <p:spPr>
          <a:xfrm>
            <a:off x="8046720" y="2743200"/>
            <a:ext cx="3593592" cy="14173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046720" y="2743200"/>
            <a:ext cx="109728" cy="1417320"/>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21040" y="2926080"/>
            <a:ext cx="548640" cy="54864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sh_FFFFFF_2.0.png"/>
          <p:cNvPicPr>
            <a:picLocks noChangeAspect="1"/>
          </p:cNvPicPr>
          <p:nvPr/>
        </p:nvPicPr>
        <p:blipFill>
          <a:blip r:embed="rId5"/>
          <a:stretch>
            <a:fillRect/>
          </a:stretch>
        </p:blipFill>
        <p:spPr>
          <a:xfrm>
            <a:off x="8430767" y="3035808"/>
            <a:ext cx="329184" cy="329184"/>
          </a:xfrm>
          <a:prstGeom prst="rect">
            <a:avLst/>
          </a:prstGeom>
        </p:spPr>
      </p:pic>
      <p:sp>
        <p:nvSpPr>
          <p:cNvPr id="17" name="TextBox 16"/>
          <p:cNvSpPr txBox="1"/>
          <p:nvPr/>
        </p:nvSpPr>
        <p:spPr>
          <a:xfrm>
            <a:off x="9006840" y="2852928"/>
            <a:ext cx="2560320" cy="640080"/>
          </a:xfrm>
          <a:prstGeom prst="rect">
            <a:avLst/>
          </a:prstGeom>
          <a:noFill/>
        </p:spPr>
        <p:txBody>
          <a:bodyPr wrap="square" lIns="45720" rIns="45720" tIns="27432" bIns="27432" anchor="t">
            <a:spAutoFit/>
          </a:bodyPr>
          <a:lstStyle/>
          <a:p>
            <a:pPr algn="l"/>
            <a:r>
              <a:rPr sz="1500" b="1" i="0">
                <a:solidFill>
                  <a:srgbClr val="50B848"/>
                </a:solidFill>
                <a:latin typeface="Arial"/>
              </a:rPr>
              <a:t>Each token becomes a number</a:t>
            </a:r>
          </a:p>
        </p:txBody>
      </p:sp>
      <p:sp>
        <p:nvSpPr>
          <p:cNvPr id="18" name="TextBox 17"/>
          <p:cNvSpPr txBox="1"/>
          <p:nvPr/>
        </p:nvSpPr>
        <p:spPr>
          <a:xfrm>
            <a:off x="9006840" y="3520440"/>
            <a:ext cx="2560320" cy="594360"/>
          </a:xfrm>
          <a:prstGeom prst="rect">
            <a:avLst/>
          </a:prstGeom>
          <a:noFill/>
        </p:spPr>
        <p:txBody>
          <a:bodyPr wrap="square" lIns="45720" rIns="45720" tIns="27432" bIns="27432" anchor="t">
            <a:spAutoFit/>
          </a:bodyPr>
          <a:lstStyle/>
          <a:p>
            <a:pPr algn="l"/>
            <a:r>
              <a:rPr sz="1300" b="0" i="0">
                <a:solidFill>
                  <a:srgbClr val="0B0A0C"/>
                </a:solidFill>
                <a:latin typeface="Arial"/>
              </a:rPr>
              <a:t>then a vector the model can compute with</a:t>
            </a:r>
          </a:p>
        </p:txBody>
      </p:sp>
      <p:sp>
        <p:nvSpPr>
          <p:cNvPr id="19" name="Rounded Rectangle 18"/>
          <p:cNvSpPr/>
          <p:nvPr/>
        </p:nvSpPr>
        <p:spPr>
          <a:xfrm>
            <a:off x="8046720" y="4297680"/>
            <a:ext cx="3593592" cy="141732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46720" y="4297680"/>
            <a:ext cx="109728" cy="1417320"/>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321040" y="4480560"/>
            <a:ext cx="548640" cy="54864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parkles_FFFFFF_2.0.png"/>
          <p:cNvPicPr>
            <a:picLocks noChangeAspect="1"/>
          </p:cNvPicPr>
          <p:nvPr/>
        </p:nvPicPr>
        <p:blipFill>
          <a:blip r:embed="rId6"/>
          <a:stretch>
            <a:fillRect/>
          </a:stretch>
        </p:blipFill>
        <p:spPr>
          <a:xfrm>
            <a:off x="8430767" y="4590288"/>
            <a:ext cx="329184" cy="329184"/>
          </a:xfrm>
          <a:prstGeom prst="rect">
            <a:avLst/>
          </a:prstGeom>
        </p:spPr>
      </p:pic>
      <p:sp>
        <p:nvSpPr>
          <p:cNvPr id="23" name="TextBox 22"/>
          <p:cNvSpPr txBox="1"/>
          <p:nvPr/>
        </p:nvSpPr>
        <p:spPr>
          <a:xfrm>
            <a:off x="9006840" y="4407408"/>
            <a:ext cx="2560320" cy="640080"/>
          </a:xfrm>
          <a:prstGeom prst="rect">
            <a:avLst/>
          </a:prstGeom>
          <a:noFill/>
        </p:spPr>
        <p:txBody>
          <a:bodyPr wrap="square" lIns="45720" rIns="45720" tIns="27432" bIns="27432" anchor="t">
            <a:spAutoFit/>
          </a:bodyPr>
          <a:lstStyle/>
          <a:p>
            <a:pPr algn="l"/>
            <a:r>
              <a:rPr sz="1500" b="1" i="0">
                <a:solidFill>
                  <a:srgbClr val="F37021"/>
                </a:solidFill>
                <a:latin typeface="Arial"/>
              </a:rPr>
              <a:t>The model guesses the next token</a:t>
            </a:r>
          </a:p>
        </p:txBody>
      </p:sp>
      <p:sp>
        <p:nvSpPr>
          <p:cNvPr id="24" name="TextBox 23"/>
          <p:cNvSpPr txBox="1"/>
          <p:nvPr/>
        </p:nvSpPr>
        <p:spPr>
          <a:xfrm>
            <a:off x="9006840" y="5074920"/>
            <a:ext cx="2560320" cy="594360"/>
          </a:xfrm>
          <a:prstGeom prst="rect">
            <a:avLst/>
          </a:prstGeom>
          <a:noFill/>
        </p:spPr>
        <p:txBody>
          <a:bodyPr wrap="square" lIns="45720" rIns="45720" tIns="27432" bIns="27432" anchor="t">
            <a:spAutoFit/>
          </a:bodyPr>
          <a:lstStyle/>
          <a:p>
            <a:pPr algn="l"/>
            <a:r>
              <a:rPr sz="1300" b="0" i="0">
                <a:solidFill>
                  <a:srgbClr val="0B0A0C"/>
                </a:solidFill>
                <a:latin typeface="Arial"/>
              </a:rPr>
              <a:t>that is its one job: the ??? at the end</a:t>
            </a:r>
          </a:p>
        </p:txBody>
      </p:sp>
      <p:sp>
        <p:nvSpPr>
          <p:cNvPr id="25" name="Rounded Rectangle 24"/>
          <p:cNvSpPr/>
          <p:nvPr/>
        </p:nvSpPr>
        <p:spPr>
          <a:xfrm>
            <a:off x="548640" y="5852160"/>
            <a:ext cx="11091672" cy="502920"/>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An LLM does not read words: it reads tokens. Context limits and prices are counted in tokens too.</a:t>
            </a:r>
          </a:p>
        </p:txBody>
      </p:sp>
      <p:sp>
        <p:nvSpPr>
          <p:cNvPr id="26" name="TextBox 25"/>
          <p:cNvSpPr txBox="1"/>
          <p:nvPr/>
        </p:nvSpPr>
        <p:spPr>
          <a:xfrm>
            <a:off x="3931920" y="6446520"/>
            <a:ext cx="6949440" cy="274320"/>
          </a:xfrm>
          <a:prstGeom prst="rect">
            <a:avLst/>
          </a:prstGeom>
          <a:noFill/>
        </p:spPr>
        <p:txBody>
          <a:bodyPr wrap="square" lIns="45720" rIns="45720" tIns="27432" bIns="27432" anchor="t">
            <a:spAutoFit/>
          </a:bodyPr>
          <a:lstStyle/>
          <a:p>
            <a:pPr algn="r"/>
            <a:r>
              <a:rPr sz="900" b="0" i="0">
                <a:solidFill>
                  <a:srgbClr val="5F6B7A"/>
                </a:solidFill>
                <a:latin typeface="Arial"/>
              </a:rPr>
              <a:t>Image: video frame, 3Blue1Brown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LLM writes one token at a time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7680960" cy="4389120"/>
          </a:xfrm>
          <a:prstGeom prst="roundRect">
            <a:avLst>
              <a:gd name="adj" fmla="val 4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transformer.png"/>
          <p:cNvPicPr>
            <a:picLocks noChangeAspect="1"/>
          </p:cNvPicPr>
          <p:nvPr/>
        </p:nvPicPr>
        <p:blipFill>
          <a:blip r:embed="rId3"/>
          <a:stretch>
            <a:fillRect/>
          </a:stretch>
        </p:blipFill>
        <p:spPr>
          <a:xfrm>
            <a:off x="700911" y="1280160"/>
            <a:ext cx="7376416" cy="4206240"/>
          </a:xfrm>
          <a:prstGeom prst="rect">
            <a:avLst/>
          </a:prstGeom>
        </p:spPr>
      </p:pic>
      <p:sp>
        <p:nvSpPr>
          <p:cNvPr id="7" name="Rounded Rectangle 6"/>
          <p:cNvSpPr/>
          <p:nvPr/>
        </p:nvSpPr>
        <p:spPr>
          <a:xfrm>
            <a:off x="8503920" y="1188720"/>
            <a:ext cx="3136392" cy="100584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95360" y="1435608"/>
            <a:ext cx="502920" cy="50292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1</a:t>
            </a:r>
          </a:p>
        </p:txBody>
      </p:sp>
      <p:sp>
        <p:nvSpPr>
          <p:cNvPr id="9" name="TextBox 8"/>
          <p:cNvSpPr txBox="1"/>
          <p:nvPr/>
        </p:nvSpPr>
        <p:spPr>
          <a:xfrm>
            <a:off x="9189720" y="1280160"/>
            <a:ext cx="2377440" cy="411480"/>
          </a:xfrm>
          <a:prstGeom prst="rect">
            <a:avLst/>
          </a:prstGeom>
          <a:noFill/>
        </p:spPr>
        <p:txBody>
          <a:bodyPr wrap="square" lIns="45720" rIns="45720" tIns="27432" bIns="27432" anchor="t">
            <a:spAutoFit/>
          </a:bodyPr>
          <a:lstStyle/>
          <a:p>
            <a:pPr algn="l"/>
            <a:r>
              <a:rPr sz="1400" b="1" i="0">
                <a:solidFill>
                  <a:srgbClr val="0B0A0C"/>
                </a:solidFill>
                <a:latin typeface="Arial"/>
              </a:rPr>
              <a:t>Read the text so far</a:t>
            </a:r>
          </a:p>
        </p:txBody>
      </p:sp>
      <p:sp>
        <p:nvSpPr>
          <p:cNvPr id="10" name="TextBox 9"/>
          <p:cNvSpPr txBox="1"/>
          <p:nvPr/>
        </p:nvSpPr>
        <p:spPr>
          <a:xfrm>
            <a:off x="9189720" y="1719072"/>
            <a:ext cx="2377440" cy="457200"/>
          </a:xfrm>
          <a:prstGeom prst="rect">
            <a:avLst/>
          </a:prstGeom>
          <a:noFill/>
        </p:spPr>
        <p:txBody>
          <a:bodyPr wrap="square" lIns="45720" rIns="45720" tIns="27432" bIns="27432" anchor="t">
            <a:spAutoFit/>
          </a:bodyPr>
          <a:lstStyle/>
          <a:p>
            <a:pPr algn="l"/>
            <a:r>
              <a:rPr sz="1150" b="0" i="0">
                <a:solidFill>
                  <a:srgbClr val="5F6B7A"/>
                </a:solidFill>
                <a:latin typeface="Arial"/>
              </a:rPr>
              <a:t>as a sequence of tokens</a:t>
            </a:r>
          </a:p>
        </p:txBody>
      </p:sp>
      <p:sp>
        <p:nvSpPr>
          <p:cNvPr id="11" name="Rounded Rectangle 10"/>
          <p:cNvSpPr/>
          <p:nvPr/>
        </p:nvSpPr>
        <p:spPr>
          <a:xfrm>
            <a:off x="8503920" y="2304288"/>
            <a:ext cx="3136392" cy="100584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95360" y="2551176"/>
            <a:ext cx="502920" cy="50292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2</a:t>
            </a:r>
          </a:p>
        </p:txBody>
      </p:sp>
      <p:sp>
        <p:nvSpPr>
          <p:cNvPr id="13" name="TextBox 12"/>
          <p:cNvSpPr txBox="1"/>
          <p:nvPr/>
        </p:nvSpPr>
        <p:spPr>
          <a:xfrm>
            <a:off x="9189720" y="2395728"/>
            <a:ext cx="2377440" cy="411480"/>
          </a:xfrm>
          <a:prstGeom prst="rect">
            <a:avLst/>
          </a:prstGeom>
          <a:noFill/>
        </p:spPr>
        <p:txBody>
          <a:bodyPr wrap="square" lIns="45720" rIns="45720" tIns="27432" bIns="27432" anchor="t">
            <a:spAutoFit/>
          </a:bodyPr>
          <a:lstStyle/>
          <a:p>
            <a:pPr algn="l"/>
            <a:r>
              <a:rPr sz="1400" b="1" i="0">
                <a:solidFill>
                  <a:srgbClr val="0B0A0C"/>
                </a:solidFill>
                <a:latin typeface="Arial"/>
              </a:rPr>
              <a:t>The transformer scores every token</a:t>
            </a:r>
          </a:p>
        </p:txBody>
      </p:sp>
      <p:sp>
        <p:nvSpPr>
          <p:cNvPr id="14" name="TextBox 13"/>
          <p:cNvSpPr txBox="1"/>
          <p:nvPr/>
        </p:nvSpPr>
        <p:spPr>
          <a:xfrm>
            <a:off x="9189720" y="2834640"/>
            <a:ext cx="2377440" cy="457200"/>
          </a:xfrm>
          <a:prstGeom prst="rect">
            <a:avLst/>
          </a:prstGeom>
          <a:noFill/>
        </p:spPr>
        <p:txBody>
          <a:bodyPr wrap="square" lIns="45720" rIns="45720" tIns="27432" bIns="27432" anchor="t">
            <a:spAutoFit/>
          </a:bodyPr>
          <a:lstStyle/>
          <a:p>
            <a:pPr algn="l"/>
            <a:r>
              <a:rPr sz="1150" b="0" i="0">
                <a:solidFill>
                  <a:srgbClr val="5F6B7A"/>
                </a:solidFill>
                <a:latin typeface="Arial"/>
              </a:rPr>
              <a:t>a probability for each possible next token</a:t>
            </a:r>
          </a:p>
        </p:txBody>
      </p:sp>
      <p:sp>
        <p:nvSpPr>
          <p:cNvPr id="15" name="Rounded Rectangle 14"/>
          <p:cNvSpPr/>
          <p:nvPr/>
        </p:nvSpPr>
        <p:spPr>
          <a:xfrm>
            <a:off x="8503920" y="3419856"/>
            <a:ext cx="3136392" cy="100584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595360" y="3666744"/>
            <a:ext cx="502920" cy="50292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3</a:t>
            </a:r>
          </a:p>
        </p:txBody>
      </p:sp>
      <p:sp>
        <p:nvSpPr>
          <p:cNvPr id="17" name="TextBox 16"/>
          <p:cNvSpPr txBox="1"/>
          <p:nvPr/>
        </p:nvSpPr>
        <p:spPr>
          <a:xfrm>
            <a:off x="9189720" y="3511296"/>
            <a:ext cx="2377440" cy="411480"/>
          </a:xfrm>
          <a:prstGeom prst="rect">
            <a:avLst/>
          </a:prstGeom>
          <a:noFill/>
        </p:spPr>
        <p:txBody>
          <a:bodyPr wrap="square" lIns="45720" rIns="45720" tIns="27432" bIns="27432" anchor="t">
            <a:spAutoFit/>
          </a:bodyPr>
          <a:lstStyle/>
          <a:p>
            <a:pPr algn="l"/>
            <a:r>
              <a:rPr sz="1400" b="1" i="0">
                <a:solidFill>
                  <a:srgbClr val="0B0A0C"/>
                </a:solidFill>
                <a:latin typeface="Arial"/>
              </a:rPr>
              <a:t>Pick one</a:t>
            </a:r>
          </a:p>
        </p:txBody>
      </p:sp>
      <p:sp>
        <p:nvSpPr>
          <p:cNvPr id="18" name="TextBox 17"/>
          <p:cNvSpPr txBox="1"/>
          <p:nvPr/>
        </p:nvSpPr>
        <p:spPr>
          <a:xfrm>
            <a:off x="9189720" y="3950208"/>
            <a:ext cx="2377440" cy="457200"/>
          </a:xfrm>
          <a:prstGeom prst="rect">
            <a:avLst/>
          </a:prstGeom>
          <a:noFill/>
        </p:spPr>
        <p:txBody>
          <a:bodyPr wrap="square" lIns="45720" rIns="45720" tIns="27432" bIns="27432" anchor="t">
            <a:spAutoFit/>
          </a:bodyPr>
          <a:lstStyle/>
          <a:p>
            <a:pPr algn="l"/>
            <a:r>
              <a:rPr sz="1150" b="0" i="0">
                <a:solidFill>
                  <a:srgbClr val="5F6B7A"/>
                </a:solidFill>
                <a:latin typeface="Arial"/>
              </a:rPr>
              <a:t>not always the top one, so answers can differ</a:t>
            </a:r>
          </a:p>
        </p:txBody>
      </p:sp>
      <p:sp>
        <p:nvSpPr>
          <p:cNvPr id="19" name="Rounded Rectangle 18"/>
          <p:cNvSpPr/>
          <p:nvPr/>
        </p:nvSpPr>
        <p:spPr>
          <a:xfrm>
            <a:off x="8503920" y="4535424"/>
            <a:ext cx="3136392" cy="100584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595360" y="4782312"/>
            <a:ext cx="502920" cy="502920"/>
          </a:xfrm>
          <a:prstGeom prst="ellipse">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4</a:t>
            </a:r>
          </a:p>
        </p:txBody>
      </p:sp>
      <p:sp>
        <p:nvSpPr>
          <p:cNvPr id="21" name="TextBox 20"/>
          <p:cNvSpPr txBox="1"/>
          <p:nvPr/>
        </p:nvSpPr>
        <p:spPr>
          <a:xfrm>
            <a:off x="9189720" y="4626864"/>
            <a:ext cx="2377440" cy="411480"/>
          </a:xfrm>
          <a:prstGeom prst="rect">
            <a:avLst/>
          </a:prstGeom>
          <a:noFill/>
        </p:spPr>
        <p:txBody>
          <a:bodyPr wrap="square" lIns="45720" rIns="45720" tIns="27432" bIns="27432" anchor="t">
            <a:spAutoFit/>
          </a:bodyPr>
          <a:lstStyle/>
          <a:p>
            <a:pPr algn="l"/>
            <a:r>
              <a:rPr sz="1400" b="1" i="0">
                <a:solidFill>
                  <a:srgbClr val="0B0A0C"/>
                </a:solidFill>
                <a:latin typeface="Arial"/>
              </a:rPr>
              <a:t>Add it and repeat</a:t>
            </a:r>
          </a:p>
        </p:txBody>
      </p:sp>
      <p:sp>
        <p:nvSpPr>
          <p:cNvPr id="22" name="TextBox 21"/>
          <p:cNvSpPr txBox="1"/>
          <p:nvPr/>
        </p:nvSpPr>
        <p:spPr>
          <a:xfrm>
            <a:off x="9189720" y="5065776"/>
            <a:ext cx="2377440" cy="457200"/>
          </a:xfrm>
          <a:prstGeom prst="rect">
            <a:avLst/>
          </a:prstGeom>
          <a:noFill/>
        </p:spPr>
        <p:txBody>
          <a:bodyPr wrap="square" lIns="45720" rIns="45720" tIns="27432" bIns="27432" anchor="t">
            <a:spAutoFit/>
          </a:bodyPr>
          <a:lstStyle/>
          <a:p>
            <a:pPr algn="l"/>
            <a:r>
              <a:rPr sz="1150" b="0" i="0">
                <a:solidFill>
                  <a:srgbClr val="5F6B7A"/>
                </a:solidFill>
                <a:latin typeface="Arial"/>
              </a:rPr>
              <a:t>until the answer is complete</a:t>
            </a:r>
          </a:p>
        </p:txBody>
      </p:sp>
      <p:sp>
        <p:nvSpPr>
          <p:cNvPr id="23" name="Rounded Rectangle 22"/>
          <p:cNvSpPr/>
          <p:nvPr/>
        </p:nvSpPr>
        <p:spPr>
          <a:xfrm>
            <a:off x="548640" y="5760720"/>
            <a:ext cx="11091672" cy="548640"/>
          </a:xfrm>
          <a:prstGeom prst="roundRect">
            <a:avLst>
              <a:gd name="adj" fmla="val 2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It predicts likely words, it does not look facts up. That is why it can sound sure and be wrong.</a:t>
            </a:r>
          </a:p>
        </p:txBody>
      </p:sp>
      <p:sp>
        <p:nvSpPr>
          <p:cNvPr id="24" name="TextBox 23"/>
          <p:cNvSpPr txBox="1"/>
          <p:nvPr/>
        </p:nvSpPr>
        <p:spPr>
          <a:xfrm>
            <a:off x="3931920" y="6446520"/>
            <a:ext cx="6949440" cy="274320"/>
          </a:xfrm>
          <a:prstGeom prst="rect">
            <a:avLst/>
          </a:prstGeom>
          <a:noFill/>
        </p:spPr>
        <p:txBody>
          <a:bodyPr wrap="square" lIns="45720" rIns="45720" tIns="27432" bIns="27432" anchor="t">
            <a:spAutoFit/>
          </a:bodyPr>
          <a:lstStyle/>
          <a:p>
            <a:pPr algn="r"/>
            <a:r>
              <a:rPr sz="900" b="0" i="0">
                <a:solidFill>
                  <a:srgbClr val="5F6B7A"/>
                </a:solidFill>
                <a:latin typeface="Arial"/>
              </a:rPr>
              <a:t>Image: video frame, 3Blue1Brown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an LLM can and cannot do</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TextBox 4"/>
          <p:cNvSpPr txBox="1"/>
          <p:nvPr/>
        </p:nvSpPr>
        <p:spPr>
          <a:xfrm>
            <a:off x="548640" y="1188720"/>
            <a:ext cx="5303520" cy="457200"/>
          </a:xfrm>
          <a:prstGeom prst="rect">
            <a:avLst/>
          </a:prstGeom>
          <a:noFill/>
        </p:spPr>
        <p:txBody>
          <a:bodyPr wrap="square" lIns="45720" rIns="45720" tIns="27432" bIns="27432" anchor="t">
            <a:spAutoFit/>
          </a:bodyPr>
          <a:lstStyle/>
          <a:p>
            <a:pPr algn="l"/>
            <a:r>
              <a:rPr sz="2000" b="1" i="0">
                <a:solidFill>
                  <a:srgbClr val="50B848"/>
                </a:solidFill>
                <a:latin typeface="Arial"/>
              </a:rPr>
              <a:t>What it does well</a:t>
            </a:r>
          </a:p>
        </p:txBody>
      </p:sp>
      <p:sp>
        <p:nvSpPr>
          <p:cNvPr id="6" name="Rounded Rectangle 5"/>
          <p:cNvSpPr/>
          <p:nvPr/>
        </p:nvSpPr>
        <p:spPr>
          <a:xfrm>
            <a:off x="548640" y="1783080"/>
            <a:ext cx="5303520" cy="777240"/>
          </a:xfrm>
          <a:prstGeom prst="roundRect">
            <a:avLst>
              <a:gd name="adj" fmla="val 10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0">
                <a:solidFill>
                  <a:srgbClr val="0B0A0C"/>
                </a:solidFill>
                <a:latin typeface="Arial"/>
              </a:rPr>
              <a:t>Writes fluent text</a:t>
            </a:r>
          </a:p>
        </p:txBody>
      </p:sp>
      <p:pic>
        <p:nvPicPr>
          <p:cNvPr id="7" name="Picture 6" descr="pen-line_50B848_2.0.png"/>
          <p:cNvPicPr>
            <a:picLocks noChangeAspect="1"/>
          </p:cNvPicPr>
          <p:nvPr/>
        </p:nvPicPr>
        <p:blipFill>
          <a:blip r:embed="rId3"/>
          <a:stretch>
            <a:fillRect/>
          </a:stretch>
        </p:blipFill>
        <p:spPr>
          <a:xfrm>
            <a:off x="5212080" y="1938528"/>
            <a:ext cx="457200" cy="457200"/>
          </a:xfrm>
          <a:prstGeom prst="rect">
            <a:avLst/>
          </a:prstGeom>
        </p:spPr>
      </p:pic>
      <p:sp>
        <p:nvSpPr>
          <p:cNvPr id="8" name="Rounded Rectangle 7"/>
          <p:cNvSpPr/>
          <p:nvPr/>
        </p:nvSpPr>
        <p:spPr>
          <a:xfrm>
            <a:off x="548640" y="2697480"/>
            <a:ext cx="5303520" cy="777240"/>
          </a:xfrm>
          <a:prstGeom prst="roundRect">
            <a:avLst>
              <a:gd name="adj" fmla="val 10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0">
                <a:solidFill>
                  <a:srgbClr val="0B0A0C"/>
                </a:solidFill>
                <a:latin typeface="Arial"/>
              </a:rPr>
              <a:t>Summarises long text</a:t>
            </a:r>
          </a:p>
        </p:txBody>
      </p:sp>
      <p:pic>
        <p:nvPicPr>
          <p:cNvPr id="9" name="Picture 8" descr="scroll-text_50B848_2.0.png"/>
          <p:cNvPicPr>
            <a:picLocks noChangeAspect="1"/>
          </p:cNvPicPr>
          <p:nvPr/>
        </p:nvPicPr>
        <p:blipFill>
          <a:blip r:embed="rId4"/>
          <a:stretch>
            <a:fillRect/>
          </a:stretch>
        </p:blipFill>
        <p:spPr>
          <a:xfrm>
            <a:off x="5212080" y="2852928"/>
            <a:ext cx="457200" cy="457200"/>
          </a:xfrm>
          <a:prstGeom prst="rect">
            <a:avLst/>
          </a:prstGeom>
        </p:spPr>
      </p:pic>
      <p:sp>
        <p:nvSpPr>
          <p:cNvPr id="10" name="Rounded Rectangle 9"/>
          <p:cNvSpPr/>
          <p:nvPr/>
        </p:nvSpPr>
        <p:spPr>
          <a:xfrm>
            <a:off x="548640" y="3611880"/>
            <a:ext cx="5303520" cy="777240"/>
          </a:xfrm>
          <a:prstGeom prst="roundRect">
            <a:avLst>
              <a:gd name="adj" fmla="val 10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0">
                <a:solidFill>
                  <a:srgbClr val="0B0A0C"/>
                </a:solidFill>
                <a:latin typeface="Arial"/>
              </a:rPr>
              <a:t>Follows instructions</a:t>
            </a:r>
          </a:p>
        </p:txBody>
      </p:sp>
      <p:pic>
        <p:nvPicPr>
          <p:cNvPr id="11" name="Picture 10" descr="list-checks_50B848_2.0.png"/>
          <p:cNvPicPr>
            <a:picLocks noChangeAspect="1"/>
          </p:cNvPicPr>
          <p:nvPr/>
        </p:nvPicPr>
        <p:blipFill>
          <a:blip r:embed="rId5"/>
          <a:stretch>
            <a:fillRect/>
          </a:stretch>
        </p:blipFill>
        <p:spPr>
          <a:xfrm>
            <a:off x="5212080" y="3767328"/>
            <a:ext cx="457200" cy="457200"/>
          </a:xfrm>
          <a:prstGeom prst="rect">
            <a:avLst/>
          </a:prstGeom>
        </p:spPr>
      </p:pic>
      <p:sp>
        <p:nvSpPr>
          <p:cNvPr id="12" name="Rounded Rectangle 11"/>
          <p:cNvSpPr/>
          <p:nvPr/>
        </p:nvSpPr>
        <p:spPr>
          <a:xfrm>
            <a:off x="548640" y="4526280"/>
            <a:ext cx="5303520" cy="777240"/>
          </a:xfrm>
          <a:prstGeom prst="roundRect">
            <a:avLst>
              <a:gd name="adj" fmla="val 10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0">
                <a:solidFill>
                  <a:srgbClr val="0B0A0C"/>
                </a:solidFill>
                <a:latin typeface="Arial"/>
              </a:rPr>
              <a:t>Answers general questions</a:t>
            </a:r>
          </a:p>
        </p:txBody>
      </p:sp>
      <p:pic>
        <p:nvPicPr>
          <p:cNvPr id="13" name="Picture 12" descr="message-circle_50B848_2.0.png"/>
          <p:cNvPicPr>
            <a:picLocks noChangeAspect="1"/>
          </p:cNvPicPr>
          <p:nvPr/>
        </p:nvPicPr>
        <p:blipFill>
          <a:blip r:embed="rId6"/>
          <a:stretch>
            <a:fillRect/>
          </a:stretch>
        </p:blipFill>
        <p:spPr>
          <a:xfrm>
            <a:off x="5212080" y="4681728"/>
            <a:ext cx="457200" cy="457200"/>
          </a:xfrm>
          <a:prstGeom prst="rect">
            <a:avLst/>
          </a:prstGeom>
        </p:spPr>
      </p:pic>
      <p:sp>
        <p:nvSpPr>
          <p:cNvPr id="14" name="TextBox 13"/>
          <p:cNvSpPr txBox="1"/>
          <p:nvPr/>
        </p:nvSpPr>
        <p:spPr>
          <a:xfrm>
            <a:off x="6336792" y="1188720"/>
            <a:ext cx="5303520" cy="457200"/>
          </a:xfrm>
          <a:prstGeom prst="rect">
            <a:avLst/>
          </a:prstGeom>
          <a:noFill/>
        </p:spPr>
        <p:txBody>
          <a:bodyPr wrap="square" lIns="45720" rIns="45720" tIns="27432" bIns="27432" anchor="t">
            <a:spAutoFit/>
          </a:bodyPr>
          <a:lstStyle/>
          <a:p>
            <a:pPr algn="l"/>
            <a:r>
              <a:rPr sz="2000" b="1" i="0">
                <a:solidFill>
                  <a:srgbClr val="F37021"/>
                </a:solidFill>
                <a:latin typeface="Arial"/>
              </a:rPr>
              <a:t>What it cannot do alone</a:t>
            </a:r>
          </a:p>
        </p:txBody>
      </p:sp>
      <p:sp>
        <p:nvSpPr>
          <p:cNvPr id="15" name="Rounded Rectangle 14"/>
          <p:cNvSpPr/>
          <p:nvPr/>
        </p:nvSpPr>
        <p:spPr>
          <a:xfrm>
            <a:off x="6336792" y="1783080"/>
            <a:ext cx="5303520" cy="777240"/>
          </a:xfrm>
          <a:prstGeom prst="roundRect">
            <a:avLst>
              <a:gd name="adj" fmla="val 10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600" b="1">
                <a:solidFill>
                  <a:srgbClr val="0B0A0C"/>
                </a:solidFill>
                <a:latin typeface="Arial"/>
              </a:rPr>
              <a:t>Knows nothing recent</a:t>
            </a:r>
          </a:p>
          <a:p>
            <a:pPr algn="l"/>
            <a:r>
              <a:rPr sz="1300" b="0">
                <a:solidFill>
                  <a:srgbClr val="0B0A0C"/>
                </a:solidFill>
                <a:latin typeface="Arial"/>
              </a:rPr>
              <a:t>it stops at a training cutoff date</a:t>
            </a:r>
          </a:p>
        </p:txBody>
      </p:sp>
      <p:pic>
        <p:nvPicPr>
          <p:cNvPr id="16" name="Picture 15" descr="calendar-x_F37021_2.0.png"/>
          <p:cNvPicPr>
            <a:picLocks noChangeAspect="1"/>
          </p:cNvPicPr>
          <p:nvPr/>
        </p:nvPicPr>
        <p:blipFill>
          <a:blip r:embed="rId7"/>
          <a:stretch>
            <a:fillRect/>
          </a:stretch>
        </p:blipFill>
        <p:spPr>
          <a:xfrm>
            <a:off x="11018520" y="1938528"/>
            <a:ext cx="457200" cy="457200"/>
          </a:xfrm>
          <a:prstGeom prst="rect">
            <a:avLst/>
          </a:prstGeom>
        </p:spPr>
      </p:pic>
      <p:sp>
        <p:nvSpPr>
          <p:cNvPr id="17" name="Rounded Rectangle 16"/>
          <p:cNvSpPr/>
          <p:nvPr/>
        </p:nvSpPr>
        <p:spPr>
          <a:xfrm>
            <a:off x="6336792" y="2697480"/>
            <a:ext cx="5303520" cy="777240"/>
          </a:xfrm>
          <a:prstGeom prst="roundRect">
            <a:avLst>
              <a:gd name="adj" fmla="val 10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600" b="1">
                <a:solidFill>
                  <a:srgbClr val="0B0A0C"/>
                </a:solidFill>
                <a:latin typeface="Arial"/>
              </a:rPr>
              <a:t>Has not seen your data</a:t>
            </a:r>
          </a:p>
          <a:p>
            <a:pPr algn="l"/>
            <a:r>
              <a:rPr sz="1300" b="0">
                <a:solidFill>
                  <a:srgbClr val="0B0A0C"/>
                </a:solidFill>
                <a:latin typeface="Arial"/>
              </a:rPr>
              <a:t>your articles and tickets are private</a:t>
            </a:r>
          </a:p>
        </p:txBody>
      </p:sp>
      <p:pic>
        <p:nvPicPr>
          <p:cNvPr id="18" name="Picture 17" descr="lock_F37021_2.0.png"/>
          <p:cNvPicPr>
            <a:picLocks noChangeAspect="1"/>
          </p:cNvPicPr>
          <p:nvPr/>
        </p:nvPicPr>
        <p:blipFill>
          <a:blip r:embed="rId8"/>
          <a:stretch>
            <a:fillRect/>
          </a:stretch>
        </p:blipFill>
        <p:spPr>
          <a:xfrm>
            <a:off x="11018520" y="2852928"/>
            <a:ext cx="457200" cy="457200"/>
          </a:xfrm>
          <a:prstGeom prst="rect">
            <a:avLst/>
          </a:prstGeom>
        </p:spPr>
      </p:pic>
      <p:sp>
        <p:nvSpPr>
          <p:cNvPr id="19" name="Rounded Rectangle 18"/>
          <p:cNvSpPr/>
          <p:nvPr/>
        </p:nvSpPr>
        <p:spPr>
          <a:xfrm>
            <a:off x="6336792" y="3611880"/>
            <a:ext cx="5303520" cy="777240"/>
          </a:xfrm>
          <a:prstGeom prst="roundRect">
            <a:avLst>
              <a:gd name="adj" fmla="val 10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600" b="1">
                <a:solidFill>
                  <a:srgbClr val="0B0A0C"/>
                </a:solidFill>
                <a:latin typeface="Arial"/>
              </a:rPr>
              <a:t>Can be confidently wrong</a:t>
            </a:r>
          </a:p>
          <a:p>
            <a:pPr algn="l"/>
            <a:r>
              <a:rPr sz="1300" b="0">
                <a:solidFill>
                  <a:srgbClr val="0B0A0C"/>
                </a:solidFill>
                <a:latin typeface="Arial"/>
              </a:rPr>
              <a:t>this is called hallucination</a:t>
            </a:r>
          </a:p>
        </p:txBody>
      </p:sp>
      <p:pic>
        <p:nvPicPr>
          <p:cNvPr id="20" name="Picture 19" descr="triangle-alert_F37021_2.0.png"/>
          <p:cNvPicPr>
            <a:picLocks noChangeAspect="1"/>
          </p:cNvPicPr>
          <p:nvPr/>
        </p:nvPicPr>
        <p:blipFill>
          <a:blip r:embed="rId9"/>
          <a:stretch>
            <a:fillRect/>
          </a:stretch>
        </p:blipFill>
        <p:spPr>
          <a:xfrm>
            <a:off x="11018520" y="3767328"/>
            <a:ext cx="457200" cy="457200"/>
          </a:xfrm>
          <a:prstGeom prst="rect">
            <a:avLst/>
          </a:prstGeom>
        </p:spPr>
      </p:pic>
      <p:sp>
        <p:nvSpPr>
          <p:cNvPr id="21" name="Rounded Rectangle 20"/>
          <p:cNvSpPr/>
          <p:nvPr/>
        </p:nvSpPr>
        <p:spPr>
          <a:xfrm>
            <a:off x="6336792" y="4526280"/>
            <a:ext cx="5303520" cy="777240"/>
          </a:xfrm>
          <a:prstGeom prst="roundRect">
            <a:avLst>
              <a:gd name="adj" fmla="val 10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600" b="1">
                <a:solidFill>
                  <a:srgbClr val="0B0A0C"/>
                </a:solidFill>
                <a:latin typeface="Arial"/>
              </a:rPr>
              <a:t>Reads limited text</a:t>
            </a:r>
          </a:p>
          <a:p>
            <a:pPr algn="l"/>
            <a:r>
              <a:rPr sz="1300" b="0">
                <a:solidFill>
                  <a:srgbClr val="0B0A0C"/>
                </a:solidFill>
                <a:latin typeface="Arial"/>
              </a:rPr>
              <a:t>the context window has a size limit</a:t>
            </a:r>
          </a:p>
        </p:txBody>
      </p:sp>
      <p:pic>
        <p:nvPicPr>
          <p:cNvPr id="22" name="Picture 21" descr="ruler_F37021_2.0.png"/>
          <p:cNvPicPr>
            <a:picLocks noChangeAspect="1"/>
          </p:cNvPicPr>
          <p:nvPr/>
        </p:nvPicPr>
        <p:blipFill>
          <a:blip r:embed="rId10"/>
          <a:stretch>
            <a:fillRect/>
          </a:stretch>
        </p:blipFill>
        <p:spPr>
          <a:xfrm>
            <a:off x="11018520" y="4681728"/>
            <a:ext cx="457200" cy="457200"/>
          </a:xfrm>
          <a:prstGeom prst="rect">
            <a:avLst/>
          </a:prstGeom>
        </p:spPr>
      </p:pic>
      <p:sp>
        <p:nvSpPr>
          <p:cNvPr id="23" name="Rounded Rectangle 22"/>
          <p:cNvSpPr/>
          <p:nvPr/>
        </p:nvSpPr>
        <p:spPr>
          <a:xfrm>
            <a:off x="548640" y="566928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To use an LLM at work, we give it the right knowledge at the right moment.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kinds of data, two kinds of questions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graphicFrame>
        <p:nvGraphicFramePr>
          <p:cNvPr id="5" name="Table 4"/>
          <p:cNvGraphicFramePr>
            <a:graphicFrameLocks noGrp="1"/>
          </p:cNvGraphicFramePr>
          <p:nvPr/>
        </p:nvGraphicFramePr>
        <p:xfrm>
          <a:off x="548640" y="1280160"/>
          <a:ext cx="11091672" cy="4389120"/>
        </p:xfrm>
        <a:graphic>
          <a:graphicData uri="http://schemas.openxmlformats.org/drawingml/2006/table">
            <a:tbl>
              <a:tblPr firstRow="0" bandRow="0">
                <a:tableStyleId>{2D5ABB26-0587-4C30-8999-92F81FD0307C}</a:tableStyleId>
              </a:tblPr>
              <a:tblGrid>
                <a:gridCol w="2377440"/>
                <a:gridCol w="4023360"/>
                <a:gridCol w="4690872"/>
              </a:tblGrid>
              <a:tr h="731520">
                <a:tc>
                  <a:txBody>
                    <a:bodyPr wrap="square"/>
                    <a:lstStyle/>
                    <a:p>
                      <a:r>
                        <a:rPr sz="1700" b="1">
                          <a:solidFill>
                            <a:srgbClr val="FFFFFF"/>
                          </a:solidFill>
                          <a:latin typeface="Arial"/>
                        </a:rPr>
                        <a:t/>
                      </a:r>
                    </a:p>
                  </a:txBody>
                  <a:tcPr marL="109728" marR="109728" anchor="ctr">
                    <a:solidFill>
                      <a:srgbClr val="034EA2"/>
                    </a:solidFill>
                    <a:lnB w="9525">
                      <a:solidFill>
                        <a:srgbClr val="C9D3E3"/>
                      </a:solidFill>
                    </a:lnB>
                  </a:tcPr>
                </a:tc>
                <a:tc>
                  <a:txBody>
                    <a:bodyPr wrap="square"/>
                    <a:lstStyle/>
                    <a:p>
                      <a:r>
                        <a:rPr sz="1700" b="1">
                          <a:solidFill>
                            <a:srgbClr val="FFFFFF"/>
                          </a:solidFill>
                          <a:latin typeface="Arial"/>
                        </a:rPr>
                        <a:t>Structured data</a:t>
                      </a:r>
                    </a:p>
                  </a:txBody>
                  <a:tcPr marL="109728" marR="109728" anchor="ctr">
                    <a:solidFill>
                      <a:srgbClr val="034EA2"/>
                    </a:solidFill>
                    <a:lnB w="9525">
                      <a:solidFill>
                        <a:srgbClr val="C9D3E3"/>
                      </a:solidFill>
                    </a:lnB>
                  </a:tcPr>
                </a:tc>
                <a:tc>
                  <a:txBody>
                    <a:bodyPr wrap="square"/>
                    <a:lstStyle/>
                    <a:p>
                      <a:r>
                        <a:rPr sz="1700" b="1">
                          <a:solidFill>
                            <a:srgbClr val="FFFFFF"/>
                          </a:solidFill>
                          <a:latin typeface="Arial"/>
                        </a:rPr>
                        <a:t>Unstructured data</a:t>
                      </a:r>
                    </a:p>
                  </a:txBody>
                  <a:tcPr marL="109728" marR="109728" anchor="ctr">
                    <a:solidFill>
                      <a:srgbClr val="034EA2"/>
                    </a:solidFill>
                    <a:lnB w="9525">
                      <a:solidFill>
                        <a:srgbClr val="C9D3E3"/>
                      </a:solidFill>
                    </a:lnB>
                  </a:tcPr>
                </a:tc>
              </a:tr>
              <a:tr h="731520">
                <a:tc>
                  <a:txBody>
                    <a:bodyPr wrap="square"/>
                    <a:lstStyle/>
                    <a:p>
                      <a:r>
                        <a:rPr sz="1600" b="1">
                          <a:solidFill>
                            <a:srgbClr val="0B0A0C"/>
                          </a:solidFill>
                          <a:latin typeface="Arial"/>
                        </a:rPr>
                        <a:t>Looks like</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rows and columns</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text, documents, images</a:t>
                      </a:r>
                    </a:p>
                  </a:txBody>
                  <a:tcPr marL="109728" marR="109728" anchor="ctr">
                    <a:solidFill>
                      <a:srgbClr val="FFFFFF"/>
                    </a:solidFill>
                    <a:lnB w="9525">
                      <a:solidFill>
                        <a:srgbClr val="C9D3E3"/>
                      </a:solidFill>
                    </a:lnB>
                  </a:tcPr>
                </a:tc>
              </a:tr>
              <a:tr h="731520">
                <a:tc>
                  <a:txBody>
                    <a:bodyPr wrap="square"/>
                    <a:lstStyle/>
                    <a:p>
                      <a:r>
                        <a:rPr sz="1600" b="1">
                          <a:solidFill>
                            <a:srgbClr val="0B0A0C"/>
                          </a:solidFill>
                          <a:latin typeface="Arial"/>
                        </a:rPr>
                        <a:t>Example</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the tickets table</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support articles</a:t>
                      </a:r>
                    </a:p>
                  </a:txBody>
                  <a:tcPr marL="109728" marR="109728" anchor="ctr">
                    <a:solidFill>
                      <a:srgbClr val="F2F5FA"/>
                    </a:solidFill>
                    <a:lnB w="9525">
                      <a:solidFill>
                        <a:srgbClr val="C9D3E3"/>
                      </a:solidFill>
                    </a:lnB>
                  </a:tcPr>
                </a:tc>
              </a:tr>
              <a:tr h="731520">
                <a:tc>
                  <a:txBody>
                    <a:bodyPr wrap="square"/>
                    <a:lstStyle/>
                    <a:p>
                      <a:r>
                        <a:rPr sz="1600" b="1">
                          <a:solidFill>
                            <a:srgbClr val="0B0A0C"/>
                          </a:solidFill>
                          <a:latin typeface="Arial"/>
                        </a:rPr>
                        <a:t>Best tool</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SQL</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embeddings and vector search</a:t>
                      </a:r>
                    </a:p>
                  </a:txBody>
                  <a:tcPr marL="109728" marR="109728" anchor="ctr">
                    <a:solidFill>
                      <a:srgbClr val="FFFFFF"/>
                    </a:solidFill>
                    <a:lnB w="9525">
                      <a:solidFill>
                        <a:srgbClr val="C9D3E3"/>
                      </a:solidFill>
                    </a:lnB>
                  </a:tcPr>
                </a:tc>
              </a:tr>
              <a:tr h="731520">
                <a:tc>
                  <a:txBody>
                    <a:bodyPr wrap="square"/>
                    <a:lstStyle/>
                    <a:p>
                      <a:r>
                        <a:rPr sz="1600" b="1">
                          <a:solidFill>
                            <a:srgbClr val="0B0A0C"/>
                          </a:solidFill>
                          <a:latin typeface="Arial"/>
                        </a:rPr>
                        <a:t>Typical question</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How many refund tickets this week?</a:t>
                      </a:r>
                    </a:p>
                  </a:txBody>
                  <a:tcPr marL="109728" marR="109728" anchor="ctr">
                    <a:solidFill>
                      <a:srgbClr val="F2F5FA"/>
                    </a:solidFill>
                    <a:lnB w="9525">
                      <a:solidFill>
                        <a:srgbClr val="C9D3E3"/>
                      </a:solidFill>
                    </a:lnB>
                  </a:tcPr>
                </a:tc>
                <a:tc>
                  <a:txBody>
                    <a:bodyPr wrap="square"/>
                    <a:lstStyle/>
                    <a:p>
                      <a:r>
                        <a:rPr sz="1600" b="0">
                          <a:solidFill>
                            <a:srgbClr val="0B0A0C"/>
                          </a:solidFill>
                          <a:latin typeface="Arial"/>
                        </a:rPr>
                        <a:t>How do I fix Bluetooth pairing?</a:t>
                      </a:r>
                    </a:p>
                  </a:txBody>
                  <a:tcPr marL="109728" marR="109728" anchor="ctr">
                    <a:solidFill>
                      <a:srgbClr val="F2F5FA"/>
                    </a:solidFill>
                    <a:lnB w="9525">
                      <a:solidFill>
                        <a:srgbClr val="C9D3E3"/>
                      </a:solidFill>
                    </a:lnB>
                  </a:tcPr>
                </a:tc>
              </a:tr>
              <a:tr h="731520">
                <a:tc>
                  <a:txBody>
                    <a:bodyPr wrap="square"/>
                    <a:lstStyle/>
                    <a:p>
                      <a:r>
                        <a:rPr sz="1600" b="1">
                          <a:solidFill>
                            <a:srgbClr val="0B0A0C"/>
                          </a:solidFill>
                          <a:latin typeface="Arial"/>
                        </a:rPr>
                        <a:t>Superpower</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exact counts and averages</a:t>
                      </a:r>
                    </a:p>
                  </a:txBody>
                  <a:tcPr marL="109728" marR="109728" anchor="ctr">
                    <a:solidFill>
                      <a:srgbClr val="FFFFFF"/>
                    </a:solidFill>
                    <a:lnB w="9525">
                      <a:solidFill>
                        <a:srgbClr val="C9D3E3"/>
                      </a:solidFill>
                    </a:lnB>
                  </a:tcPr>
                </a:tc>
                <a:tc>
                  <a:txBody>
                    <a:bodyPr wrap="square"/>
                    <a:lstStyle/>
                    <a:p>
                      <a:r>
                        <a:rPr sz="1600" b="0">
                          <a:solidFill>
                            <a:srgbClr val="0B0A0C"/>
                          </a:solidFill>
                          <a:latin typeface="Arial"/>
                        </a:rPr>
                        <a:t>finds meaning: "refund" is close to "money back"</a:t>
                      </a:r>
                    </a:p>
                  </a:txBody>
                  <a:tcPr marL="109728" marR="109728" anchor="ctr">
                    <a:solidFill>
                      <a:srgbClr val="FFFFFF"/>
                    </a:solidFill>
                    <a:lnB w="9525">
                      <a:solidFill>
                        <a:srgbClr val="C9D3E3"/>
                      </a:solidFill>
                    </a:lnB>
                  </a:tcPr>
                </a:tc>
              </a:tr>
            </a:tbl>
          </a:graphicData>
        </a:graphic>
      </p:graphicFrame>
      <p:sp>
        <p:nvSpPr>
          <p:cNvPr id="6" name="Rounded Rectangle 5"/>
          <p:cNvSpPr/>
          <p:nvPr/>
        </p:nvSpPr>
        <p:spPr>
          <a:xfrm>
            <a:off x="548640" y="580644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SQL counts. Semantic search finds meaning. Real systems need both.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vector?</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43000"/>
            <a:ext cx="5394960" cy="411480"/>
          </a:xfrm>
          <a:prstGeom prst="roundRect">
            <a:avLst>
              <a:gd name="adj" fmla="val 3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1  Data becomes numbers</a:t>
            </a:r>
          </a:p>
        </p:txBody>
      </p:sp>
      <p:pic>
        <p:nvPicPr>
          <p:cNvPr id="6" name="Picture 5" descr="image-160.png"/>
          <p:cNvPicPr>
            <a:picLocks noChangeAspect="1"/>
          </p:cNvPicPr>
          <p:nvPr/>
        </p:nvPicPr>
        <p:blipFill>
          <a:blip r:embed="rId3"/>
          <a:stretch>
            <a:fillRect/>
          </a:stretch>
        </p:blipFill>
        <p:spPr>
          <a:xfrm>
            <a:off x="548640" y="1895906"/>
            <a:ext cx="5394960" cy="2883306"/>
          </a:xfrm>
          <a:prstGeom prst="rect">
            <a:avLst/>
          </a:prstGeom>
        </p:spPr>
      </p:pic>
      <p:sp>
        <p:nvSpPr>
          <p:cNvPr id="7" name="Rounded Rectangle 6"/>
          <p:cNvSpPr/>
          <p:nvPr/>
        </p:nvSpPr>
        <p:spPr>
          <a:xfrm>
            <a:off x="6245352" y="1143000"/>
            <a:ext cx="5394960" cy="411480"/>
          </a:xfrm>
          <a:prstGeom prst="roundRect">
            <a:avLst>
              <a:gd name="adj" fmla="val 30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2  Similar meaning, nearby points</a:t>
            </a:r>
          </a:p>
        </p:txBody>
      </p:sp>
      <p:pic>
        <p:nvPicPr>
          <p:cNvPr id="8" name="Picture 7" descr="image-161.png"/>
          <p:cNvPicPr>
            <a:picLocks noChangeAspect="1"/>
          </p:cNvPicPr>
          <p:nvPr/>
        </p:nvPicPr>
        <p:blipFill>
          <a:blip r:embed="rId4"/>
          <a:stretch>
            <a:fillRect/>
          </a:stretch>
        </p:blipFill>
        <p:spPr>
          <a:xfrm>
            <a:off x="6245352" y="2447391"/>
            <a:ext cx="5394960" cy="1780336"/>
          </a:xfrm>
          <a:prstGeom prst="rect">
            <a:avLst/>
          </a:prstGeom>
        </p:spPr>
      </p:pic>
      <p:sp>
        <p:nvSpPr>
          <p:cNvPr id="9" name="Rounded Rectangle 8"/>
          <p:cNvSpPr/>
          <p:nvPr/>
        </p:nvSpPr>
        <p:spPr>
          <a:xfrm>
            <a:off x="548640" y="534924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An embedding turns meaning into a position: similar meaning, nearby points.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vector database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43000"/>
            <a:ext cx="5394960" cy="411480"/>
          </a:xfrm>
          <a:prstGeom prst="roundRect">
            <a:avLst>
              <a:gd name="adj" fmla="val 3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FFFFFF"/>
                </a:solidFill>
                <a:latin typeface="Arial"/>
              </a:rPr>
              <a:t>Each row: vector + original data + metadata</a:t>
            </a:r>
          </a:p>
        </p:txBody>
      </p:sp>
      <p:pic>
        <p:nvPicPr>
          <p:cNvPr id="6" name="Picture 5" descr="image-166.png"/>
          <p:cNvPicPr>
            <a:picLocks noChangeAspect="1"/>
          </p:cNvPicPr>
          <p:nvPr/>
        </p:nvPicPr>
        <p:blipFill>
          <a:blip r:embed="rId3"/>
          <a:stretch>
            <a:fillRect/>
          </a:stretch>
        </p:blipFill>
        <p:spPr>
          <a:xfrm>
            <a:off x="548640" y="1668144"/>
            <a:ext cx="5394960" cy="3521710"/>
          </a:xfrm>
          <a:prstGeom prst="rect">
            <a:avLst/>
          </a:prstGeom>
        </p:spPr>
      </p:pic>
      <p:sp>
        <p:nvSpPr>
          <p:cNvPr id="7" name="Rounded Rectangle 6"/>
          <p:cNvSpPr/>
          <p:nvPr/>
        </p:nvSpPr>
        <p:spPr>
          <a:xfrm>
            <a:off x="6245352" y="1143000"/>
            <a:ext cx="5394960" cy="411480"/>
          </a:xfrm>
          <a:prstGeom prst="roundRect">
            <a:avLst>
              <a:gd name="adj" fmla="val 30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FFFFFF"/>
                </a:solidFill>
                <a:latin typeface="Arial"/>
              </a:rPr>
              <a:t>A search returns the nearest rows</a:t>
            </a:r>
          </a:p>
        </p:txBody>
      </p:sp>
      <p:pic>
        <p:nvPicPr>
          <p:cNvPr id="8" name="Picture 7" descr="image-162.png"/>
          <p:cNvPicPr>
            <a:picLocks noChangeAspect="1"/>
          </p:cNvPicPr>
          <p:nvPr/>
        </p:nvPicPr>
        <p:blipFill>
          <a:blip r:embed="rId4"/>
          <a:stretch>
            <a:fillRect/>
          </a:stretch>
        </p:blipFill>
        <p:spPr>
          <a:xfrm>
            <a:off x="6245352" y="2478887"/>
            <a:ext cx="5394960" cy="1900224"/>
          </a:xfrm>
          <a:prstGeom prst="rect">
            <a:avLst/>
          </a:prstGeom>
        </p:spPr>
      </p:pic>
      <p:sp>
        <p:nvSpPr>
          <p:cNvPr id="9" name="Rounded Rectangle 8"/>
          <p:cNvSpPr/>
          <p:nvPr/>
        </p:nvSpPr>
        <p:spPr>
          <a:xfrm>
            <a:off x="548640" y="544068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We search with the vector, and answer with the original text.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Searching millions of vectors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43000"/>
            <a:ext cx="5394960" cy="411480"/>
          </a:xfrm>
          <a:prstGeom prst="roundRect">
            <a:avLst>
              <a:gd name="adj" fmla="val 3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Exact: compare with every vector</a:t>
            </a:r>
          </a:p>
        </p:txBody>
      </p:sp>
      <p:pic>
        <p:nvPicPr>
          <p:cNvPr id="6" name="Picture 5" descr="image.png"/>
          <p:cNvPicPr>
            <a:picLocks noChangeAspect="1"/>
          </p:cNvPicPr>
          <p:nvPr/>
        </p:nvPicPr>
        <p:blipFill>
          <a:blip r:embed="rId3"/>
          <a:stretch>
            <a:fillRect/>
          </a:stretch>
        </p:blipFill>
        <p:spPr>
          <a:xfrm>
            <a:off x="548640" y="2088726"/>
            <a:ext cx="5394959" cy="2497666"/>
          </a:xfrm>
          <a:prstGeom prst="rect">
            <a:avLst/>
          </a:prstGeom>
        </p:spPr>
      </p:pic>
      <p:sp>
        <p:nvSpPr>
          <p:cNvPr id="7" name="Rounded Rectangle 6"/>
          <p:cNvSpPr/>
          <p:nvPr/>
        </p:nvSpPr>
        <p:spPr>
          <a:xfrm>
            <a:off x="6245352" y="1143000"/>
            <a:ext cx="5394960" cy="411480"/>
          </a:xfrm>
          <a:prstGeom prst="roundRect">
            <a:avLst>
              <a:gd name="adj" fmla="val 30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FFFFFF"/>
                </a:solidFill>
                <a:latin typeface="Arial"/>
              </a:rPr>
              <a:t>kNN searches all, ANN only a neighbourhood</a:t>
            </a:r>
          </a:p>
        </p:txBody>
      </p:sp>
      <p:pic>
        <p:nvPicPr>
          <p:cNvPr id="8" name="Picture 7" descr="image-187.png"/>
          <p:cNvPicPr>
            <a:picLocks noChangeAspect="1"/>
          </p:cNvPicPr>
          <p:nvPr/>
        </p:nvPicPr>
        <p:blipFill>
          <a:blip r:embed="rId4"/>
          <a:stretch>
            <a:fillRect/>
          </a:stretch>
        </p:blipFill>
        <p:spPr>
          <a:xfrm>
            <a:off x="6245352" y="2129688"/>
            <a:ext cx="5394960" cy="2415743"/>
          </a:xfrm>
          <a:prstGeom prst="rect">
            <a:avLst/>
          </a:prstGeom>
        </p:spPr>
      </p:pic>
      <p:sp>
        <p:nvSpPr>
          <p:cNvPr id="9" name="Rounded Rectangle 8"/>
          <p:cNvSpPr/>
          <p:nvPr/>
        </p:nvSpPr>
        <p:spPr>
          <a:xfrm>
            <a:off x="548640" y="534924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Approximate search trades a little accuracy for a lot of speed.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in one picture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pic>
        <p:nvPicPr>
          <p:cNvPr id="5" name="Picture 4" descr="rag_last.png"/>
          <p:cNvPicPr>
            <a:picLocks noChangeAspect="1"/>
          </p:cNvPicPr>
          <p:nvPr/>
        </p:nvPicPr>
        <p:blipFill>
          <a:blip r:embed="rId3"/>
          <a:stretch>
            <a:fillRect/>
          </a:stretch>
        </p:blipFill>
        <p:spPr>
          <a:xfrm>
            <a:off x="779342" y="1097280"/>
            <a:ext cx="10602835" cy="4434840"/>
          </a:xfrm>
          <a:prstGeom prst="rect">
            <a:avLst/>
          </a:prstGeom>
        </p:spPr>
      </p:pic>
      <p:sp>
        <p:nvSpPr>
          <p:cNvPr id="6" name="Rounded Rectangle 5"/>
          <p:cNvSpPr/>
          <p:nvPr/>
        </p:nvSpPr>
        <p:spPr>
          <a:xfrm>
            <a:off x="548640" y="5760720"/>
            <a:ext cx="11091672" cy="566928"/>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RAG = retrieve the right knowledge first, then let the LLM answer from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A · Indexing: prepare the knowledge once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11091672" cy="137160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188720"/>
            <a:ext cx="2286000" cy="1371600"/>
          </a:xfrm>
          <a:prstGeom prst="roundRect">
            <a:avLst>
              <a:gd name="adj" fmla="val 6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1  Chunk</a:t>
            </a:r>
          </a:p>
        </p:txBody>
      </p:sp>
      <p:pic>
        <p:nvPicPr>
          <p:cNvPr id="7" name="Picture 6" descr="image-6.png"/>
          <p:cNvPicPr>
            <a:picLocks noChangeAspect="1"/>
          </p:cNvPicPr>
          <p:nvPr/>
        </p:nvPicPr>
        <p:blipFill>
          <a:blip r:embed="rId3"/>
          <a:stretch>
            <a:fillRect/>
          </a:stretch>
        </p:blipFill>
        <p:spPr>
          <a:xfrm>
            <a:off x="3083206" y="1261872"/>
            <a:ext cx="5583627" cy="1225296"/>
          </a:xfrm>
          <a:prstGeom prst="rect">
            <a:avLst/>
          </a:prstGeom>
        </p:spPr>
      </p:pic>
      <p:sp>
        <p:nvSpPr>
          <p:cNvPr id="8" name="TextBox 7"/>
          <p:cNvSpPr txBox="1"/>
          <p:nvPr/>
        </p:nvSpPr>
        <p:spPr>
          <a:xfrm>
            <a:off x="8961120" y="1188720"/>
            <a:ext cx="2606040" cy="1371600"/>
          </a:xfrm>
          <a:prstGeom prst="rect">
            <a:avLst/>
          </a:prstGeom>
          <a:noFill/>
        </p:spPr>
        <p:txBody>
          <a:bodyPr wrap="square" lIns="45720" rIns="45720" tIns="27432" bIns="27432" anchor="ctr">
            <a:spAutoFit/>
          </a:bodyPr>
          <a:lstStyle/>
          <a:p>
            <a:pPr algn="l"/>
            <a:r>
              <a:rPr sz="1500" b="0" i="0">
                <a:solidFill>
                  <a:srgbClr val="0B0A0C"/>
                </a:solidFill>
                <a:latin typeface="Arial"/>
              </a:rPr>
              <a:t>Split big documents into small, focused pieces.</a:t>
            </a:r>
          </a:p>
        </p:txBody>
      </p:sp>
      <p:sp>
        <p:nvSpPr>
          <p:cNvPr id="9" name="Rounded Rectangle 8"/>
          <p:cNvSpPr/>
          <p:nvPr/>
        </p:nvSpPr>
        <p:spPr>
          <a:xfrm>
            <a:off x="548640" y="2697480"/>
            <a:ext cx="11091672" cy="137160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48640" y="2697480"/>
            <a:ext cx="2286000" cy="1371600"/>
          </a:xfrm>
          <a:prstGeom prst="roundRect">
            <a:avLst>
              <a:gd name="adj" fmla="val 6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2  Embed</a:t>
            </a:r>
          </a:p>
        </p:txBody>
      </p:sp>
      <p:pic>
        <p:nvPicPr>
          <p:cNvPr id="11" name="Picture 10" descr="image-9.png"/>
          <p:cNvPicPr>
            <a:picLocks noChangeAspect="1"/>
          </p:cNvPicPr>
          <p:nvPr/>
        </p:nvPicPr>
        <p:blipFill>
          <a:blip r:embed="rId4"/>
          <a:stretch>
            <a:fillRect/>
          </a:stretch>
        </p:blipFill>
        <p:spPr>
          <a:xfrm>
            <a:off x="4073114" y="2770632"/>
            <a:ext cx="3603811" cy="1225295"/>
          </a:xfrm>
          <a:prstGeom prst="rect">
            <a:avLst/>
          </a:prstGeom>
        </p:spPr>
      </p:pic>
      <p:sp>
        <p:nvSpPr>
          <p:cNvPr id="12" name="TextBox 11"/>
          <p:cNvSpPr txBox="1"/>
          <p:nvPr/>
        </p:nvSpPr>
        <p:spPr>
          <a:xfrm>
            <a:off x="8961120" y="2697480"/>
            <a:ext cx="2606040" cy="1371600"/>
          </a:xfrm>
          <a:prstGeom prst="rect">
            <a:avLst/>
          </a:prstGeom>
          <a:noFill/>
        </p:spPr>
        <p:txBody>
          <a:bodyPr wrap="square" lIns="45720" rIns="45720" tIns="27432" bIns="27432" anchor="ctr">
            <a:spAutoFit/>
          </a:bodyPr>
          <a:lstStyle/>
          <a:p>
            <a:pPr algn="l"/>
            <a:r>
              <a:rPr sz="1500" b="0" i="0">
                <a:solidFill>
                  <a:srgbClr val="0B0A0C"/>
                </a:solidFill>
                <a:latin typeface="Arial"/>
              </a:rPr>
              <a:t>Turn each chunk into a vector with an embedding model.</a:t>
            </a:r>
          </a:p>
        </p:txBody>
      </p:sp>
      <p:sp>
        <p:nvSpPr>
          <p:cNvPr id="13" name="Rounded Rectangle 12"/>
          <p:cNvSpPr/>
          <p:nvPr/>
        </p:nvSpPr>
        <p:spPr>
          <a:xfrm>
            <a:off x="548640" y="4206240"/>
            <a:ext cx="11091672" cy="137160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48640" y="4206240"/>
            <a:ext cx="2286000" cy="1371600"/>
          </a:xfrm>
          <a:prstGeom prst="roundRect">
            <a:avLst>
              <a:gd name="adj" fmla="val 6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3  Store</a:t>
            </a:r>
          </a:p>
        </p:txBody>
      </p:sp>
      <p:pic>
        <p:nvPicPr>
          <p:cNvPr id="15" name="Picture 14" descr="image-10.png"/>
          <p:cNvPicPr>
            <a:picLocks noChangeAspect="1"/>
          </p:cNvPicPr>
          <p:nvPr/>
        </p:nvPicPr>
        <p:blipFill>
          <a:blip r:embed="rId5"/>
          <a:stretch>
            <a:fillRect/>
          </a:stretch>
        </p:blipFill>
        <p:spPr>
          <a:xfrm>
            <a:off x="4487892" y="4279392"/>
            <a:ext cx="2774255" cy="1225296"/>
          </a:xfrm>
          <a:prstGeom prst="rect">
            <a:avLst/>
          </a:prstGeom>
        </p:spPr>
      </p:pic>
      <p:sp>
        <p:nvSpPr>
          <p:cNvPr id="16" name="TextBox 15"/>
          <p:cNvSpPr txBox="1"/>
          <p:nvPr/>
        </p:nvSpPr>
        <p:spPr>
          <a:xfrm>
            <a:off x="8961120" y="4206240"/>
            <a:ext cx="2606040" cy="1371600"/>
          </a:xfrm>
          <a:prstGeom prst="rect">
            <a:avLst/>
          </a:prstGeom>
          <a:noFill/>
        </p:spPr>
        <p:txBody>
          <a:bodyPr wrap="square" lIns="45720" rIns="45720" tIns="27432" bIns="27432" anchor="ctr">
            <a:spAutoFit/>
          </a:bodyPr>
          <a:lstStyle/>
          <a:p>
            <a:pPr algn="l"/>
            <a:r>
              <a:rPr sz="1500" b="0" i="0">
                <a:solidFill>
                  <a:srgbClr val="0B0A0C"/>
                </a:solidFill>
                <a:latin typeface="Arial"/>
              </a:rPr>
              <a:t>Save the vector, the original text and metadata in the vector database.</a:t>
            </a:r>
          </a:p>
        </p:txBody>
      </p:sp>
      <p:sp>
        <p:nvSpPr>
          <p:cNvPr id="17" name="Rounded Rectangle 16"/>
          <p:cNvSpPr/>
          <p:nvPr/>
        </p:nvSpPr>
        <p:spPr>
          <a:xfrm>
            <a:off x="548640" y="5806440"/>
            <a:ext cx="11091672" cy="548640"/>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Small, focused chunks give sharper vectors and let us retrieve exactly the right passage.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B · Query (1 of 2): ask, embed, retrieve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11091672" cy="137160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188720"/>
            <a:ext cx="2286000" cy="1371600"/>
          </a:xfrm>
          <a:prstGeom prst="roundRect">
            <a:avLst>
              <a:gd name="adj" fmla="val 6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4  Ask</a:t>
            </a:r>
          </a:p>
        </p:txBody>
      </p:sp>
      <p:pic>
        <p:nvPicPr>
          <p:cNvPr id="7" name="Picture 6" descr="image-11.png"/>
          <p:cNvPicPr>
            <a:picLocks noChangeAspect="1"/>
          </p:cNvPicPr>
          <p:nvPr/>
        </p:nvPicPr>
        <p:blipFill>
          <a:blip r:embed="rId3"/>
          <a:stretch>
            <a:fillRect/>
          </a:stretch>
        </p:blipFill>
        <p:spPr>
          <a:xfrm>
            <a:off x="3825769" y="1261872"/>
            <a:ext cx="4098501" cy="1225296"/>
          </a:xfrm>
          <a:prstGeom prst="rect">
            <a:avLst/>
          </a:prstGeom>
        </p:spPr>
      </p:pic>
      <p:sp>
        <p:nvSpPr>
          <p:cNvPr id="8" name="TextBox 7"/>
          <p:cNvSpPr txBox="1"/>
          <p:nvPr/>
        </p:nvSpPr>
        <p:spPr>
          <a:xfrm>
            <a:off x="8961120" y="1188720"/>
            <a:ext cx="2606040" cy="1371600"/>
          </a:xfrm>
          <a:prstGeom prst="rect">
            <a:avLst/>
          </a:prstGeom>
          <a:noFill/>
        </p:spPr>
        <p:txBody>
          <a:bodyPr wrap="square" lIns="45720" rIns="45720" tIns="27432" bIns="27432" anchor="ctr">
            <a:spAutoFit/>
          </a:bodyPr>
          <a:lstStyle/>
          <a:p>
            <a:pPr algn="l"/>
            <a:r>
              <a:rPr sz="1500" b="0" i="0">
                <a:solidFill>
                  <a:srgbClr val="0B0A0C"/>
                </a:solidFill>
                <a:latin typeface="Arial"/>
              </a:rPr>
              <a:t>The user types a question in the app.</a:t>
            </a:r>
          </a:p>
        </p:txBody>
      </p:sp>
      <p:sp>
        <p:nvSpPr>
          <p:cNvPr id="9" name="Rounded Rectangle 8"/>
          <p:cNvSpPr/>
          <p:nvPr/>
        </p:nvSpPr>
        <p:spPr>
          <a:xfrm>
            <a:off x="548640" y="2697480"/>
            <a:ext cx="11091672" cy="137160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48640" y="2697480"/>
            <a:ext cx="2286000" cy="1371600"/>
          </a:xfrm>
          <a:prstGeom prst="roundRect">
            <a:avLst>
              <a:gd name="adj" fmla="val 6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5  Embed the question</a:t>
            </a:r>
          </a:p>
        </p:txBody>
      </p:sp>
      <p:pic>
        <p:nvPicPr>
          <p:cNvPr id="11" name="Picture 10" descr="image-12.png"/>
          <p:cNvPicPr>
            <a:picLocks noChangeAspect="1"/>
          </p:cNvPicPr>
          <p:nvPr/>
        </p:nvPicPr>
        <p:blipFill>
          <a:blip r:embed="rId4"/>
          <a:stretch>
            <a:fillRect/>
          </a:stretch>
        </p:blipFill>
        <p:spPr>
          <a:xfrm>
            <a:off x="3577589" y="2770632"/>
            <a:ext cx="4594860" cy="1225296"/>
          </a:xfrm>
          <a:prstGeom prst="rect">
            <a:avLst/>
          </a:prstGeom>
        </p:spPr>
      </p:pic>
      <p:sp>
        <p:nvSpPr>
          <p:cNvPr id="12" name="TextBox 11"/>
          <p:cNvSpPr txBox="1"/>
          <p:nvPr/>
        </p:nvSpPr>
        <p:spPr>
          <a:xfrm>
            <a:off x="8961120" y="2697480"/>
            <a:ext cx="2606040" cy="1371600"/>
          </a:xfrm>
          <a:prstGeom prst="rect">
            <a:avLst/>
          </a:prstGeom>
          <a:noFill/>
        </p:spPr>
        <p:txBody>
          <a:bodyPr wrap="square" lIns="45720" rIns="45720" tIns="27432" bIns="27432" anchor="ctr">
            <a:spAutoFit/>
          </a:bodyPr>
          <a:lstStyle/>
          <a:p>
            <a:pPr algn="l"/>
            <a:r>
              <a:rPr sz="1500" b="0" i="0">
                <a:solidFill>
                  <a:srgbClr val="0B0A0C"/>
                </a:solidFill>
                <a:latin typeface="Arial"/>
              </a:rPr>
              <a:t>Same embedding model as the chunks, or the vectors cannot be compared.</a:t>
            </a:r>
          </a:p>
        </p:txBody>
      </p:sp>
      <p:sp>
        <p:nvSpPr>
          <p:cNvPr id="13" name="Rounded Rectangle 12"/>
          <p:cNvSpPr/>
          <p:nvPr/>
        </p:nvSpPr>
        <p:spPr>
          <a:xfrm>
            <a:off x="548640" y="4206240"/>
            <a:ext cx="11091672" cy="137160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48640" y="4206240"/>
            <a:ext cx="2286000" cy="1371600"/>
          </a:xfrm>
          <a:prstGeom prst="roundRect">
            <a:avLst>
              <a:gd name="adj" fmla="val 6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6  Retrieve</a:t>
            </a:r>
          </a:p>
        </p:txBody>
      </p:sp>
      <p:pic>
        <p:nvPicPr>
          <p:cNvPr id="15" name="Picture 14" descr="image-14.png"/>
          <p:cNvPicPr>
            <a:picLocks noChangeAspect="1"/>
          </p:cNvPicPr>
          <p:nvPr/>
        </p:nvPicPr>
        <p:blipFill>
          <a:blip r:embed="rId5"/>
          <a:stretch>
            <a:fillRect/>
          </a:stretch>
        </p:blipFill>
        <p:spPr>
          <a:xfrm>
            <a:off x="4343400" y="4279392"/>
            <a:ext cx="3063240" cy="1225296"/>
          </a:xfrm>
          <a:prstGeom prst="rect">
            <a:avLst/>
          </a:prstGeom>
        </p:spPr>
      </p:pic>
      <p:sp>
        <p:nvSpPr>
          <p:cNvPr id="16" name="TextBox 15"/>
          <p:cNvSpPr txBox="1"/>
          <p:nvPr/>
        </p:nvSpPr>
        <p:spPr>
          <a:xfrm>
            <a:off x="8961120" y="4206240"/>
            <a:ext cx="2606040" cy="1371600"/>
          </a:xfrm>
          <a:prstGeom prst="rect">
            <a:avLst/>
          </a:prstGeom>
          <a:noFill/>
        </p:spPr>
        <p:txBody>
          <a:bodyPr wrap="square" lIns="45720" rIns="45720" tIns="27432" bIns="27432" anchor="ctr">
            <a:spAutoFit/>
          </a:bodyPr>
          <a:lstStyle/>
          <a:p>
            <a:pPr algn="l"/>
            <a:r>
              <a:rPr sz="1500" b="0" i="0">
                <a:solidFill>
                  <a:srgbClr val="0B0A0C"/>
                </a:solidFill>
                <a:latin typeface="Arial"/>
              </a:rPr>
              <a:t>The database returns the k nearest chunks (approximate search).</a:t>
            </a:r>
          </a:p>
        </p:txBody>
      </p:sp>
      <p:sp>
        <p:nvSpPr>
          <p:cNvPr id="17" name="Rounded Rectangle 16"/>
          <p:cNvSpPr/>
          <p:nvPr/>
        </p:nvSpPr>
        <p:spPr>
          <a:xfrm>
            <a:off x="548640" y="5806440"/>
            <a:ext cx="11091672" cy="548640"/>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The question becomes a vector, and the nearest chunks come back.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 B · Query (2 of 2): re-rank and generate</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11091672" cy="173736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188720"/>
            <a:ext cx="2286000" cy="1737360"/>
          </a:xfrm>
          <a:prstGeom prst="roundRect">
            <a:avLst>
              <a:gd name="adj" fmla="val 6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7  Re-rank (optional)</a:t>
            </a:r>
          </a:p>
        </p:txBody>
      </p:sp>
      <p:pic>
        <p:nvPicPr>
          <p:cNvPr id="7" name="Picture 6" descr="image-15.png"/>
          <p:cNvPicPr>
            <a:picLocks noChangeAspect="1"/>
          </p:cNvPicPr>
          <p:nvPr/>
        </p:nvPicPr>
        <p:blipFill>
          <a:blip r:embed="rId3"/>
          <a:stretch>
            <a:fillRect/>
          </a:stretch>
        </p:blipFill>
        <p:spPr>
          <a:xfrm>
            <a:off x="3630583" y="1261872"/>
            <a:ext cx="4488872" cy="1591055"/>
          </a:xfrm>
          <a:prstGeom prst="rect">
            <a:avLst/>
          </a:prstGeom>
        </p:spPr>
      </p:pic>
      <p:sp>
        <p:nvSpPr>
          <p:cNvPr id="8" name="TextBox 7"/>
          <p:cNvSpPr txBox="1"/>
          <p:nvPr/>
        </p:nvSpPr>
        <p:spPr>
          <a:xfrm>
            <a:off x="8961120" y="1188720"/>
            <a:ext cx="2606040" cy="1737360"/>
          </a:xfrm>
          <a:prstGeom prst="rect">
            <a:avLst/>
          </a:prstGeom>
          <a:noFill/>
        </p:spPr>
        <p:txBody>
          <a:bodyPr wrap="square" lIns="45720" rIns="45720" tIns="27432" bIns="27432" anchor="ctr">
            <a:spAutoFit/>
          </a:bodyPr>
          <a:lstStyle/>
          <a:p>
            <a:pPr algn="l"/>
            <a:r>
              <a:rPr sz="1500" b="0" i="0">
                <a:solidFill>
                  <a:srgbClr val="0B0A0C"/>
                </a:solidFill>
                <a:latin typeface="Arial"/>
              </a:rPr>
              <a:t>A cross-encoder scores each chunk together with the question. We skip this step in the lab.</a:t>
            </a:r>
          </a:p>
        </p:txBody>
      </p:sp>
      <p:sp>
        <p:nvSpPr>
          <p:cNvPr id="9" name="Rounded Rectangle 8"/>
          <p:cNvSpPr/>
          <p:nvPr/>
        </p:nvSpPr>
        <p:spPr>
          <a:xfrm>
            <a:off x="548640" y="3090672"/>
            <a:ext cx="11091672" cy="1737360"/>
          </a:xfrm>
          <a:prstGeom prst="roundRect">
            <a:avLst>
              <a:gd name="adj" fmla="val 6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48640" y="3090672"/>
            <a:ext cx="2286000" cy="1737360"/>
          </a:xfrm>
          <a:prstGeom prst="roundRect">
            <a:avLst>
              <a:gd name="adj" fmla="val 6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Arial"/>
              </a:rPr>
              <a:t>8  Generate</a:t>
            </a:r>
          </a:p>
        </p:txBody>
      </p:sp>
      <p:pic>
        <p:nvPicPr>
          <p:cNvPr id="11" name="Picture 10" descr="image-16.png"/>
          <p:cNvPicPr>
            <a:picLocks noChangeAspect="1"/>
          </p:cNvPicPr>
          <p:nvPr/>
        </p:nvPicPr>
        <p:blipFill>
          <a:blip r:embed="rId4"/>
          <a:stretch>
            <a:fillRect/>
          </a:stretch>
        </p:blipFill>
        <p:spPr>
          <a:xfrm>
            <a:off x="3460263" y="3163824"/>
            <a:ext cx="4829512" cy="1591056"/>
          </a:xfrm>
          <a:prstGeom prst="rect">
            <a:avLst/>
          </a:prstGeom>
        </p:spPr>
      </p:pic>
      <p:sp>
        <p:nvSpPr>
          <p:cNvPr id="12" name="TextBox 11"/>
          <p:cNvSpPr txBox="1"/>
          <p:nvPr/>
        </p:nvSpPr>
        <p:spPr>
          <a:xfrm>
            <a:off x="8961120" y="3090672"/>
            <a:ext cx="2606040" cy="1737360"/>
          </a:xfrm>
          <a:prstGeom prst="rect">
            <a:avLst/>
          </a:prstGeom>
          <a:noFill/>
        </p:spPr>
        <p:txBody>
          <a:bodyPr wrap="square" lIns="45720" rIns="45720" tIns="27432" bIns="27432" anchor="ctr">
            <a:spAutoFit/>
          </a:bodyPr>
          <a:lstStyle/>
          <a:p>
            <a:pPr algn="l"/>
            <a:r>
              <a:rPr sz="1500" b="0" i="0">
                <a:solidFill>
                  <a:srgbClr val="0B0A0C"/>
                </a:solidFill>
                <a:latin typeface="Arial"/>
              </a:rPr>
              <a:t>A prompt with the question and the chunks goes to the LLM, which answers from them and cites sources.</a:t>
            </a:r>
          </a:p>
        </p:txBody>
      </p:sp>
      <p:sp>
        <p:nvSpPr>
          <p:cNvPr id="13" name="Rounded Rectangle 12"/>
          <p:cNvSpPr/>
          <p:nvPr/>
        </p:nvSpPr>
        <p:spPr>
          <a:xfrm>
            <a:off x="548640" y="5806440"/>
            <a:ext cx="11091672" cy="548640"/>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The LLM answers from the retrieved chunks, and cites them.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RAG still fails</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4 · AI BEHIND THE SCENES</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280160"/>
            <a:ext cx="265176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280160"/>
            <a:ext cx="2651760" cy="128016"/>
          </a:xfrm>
          <a:prstGeom prst="rect">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earch-x_034EA2_2.0.png"/>
          <p:cNvPicPr>
            <a:picLocks noChangeAspect="1"/>
          </p:cNvPicPr>
          <p:nvPr/>
        </p:nvPicPr>
        <p:blipFill>
          <a:blip r:embed="rId3"/>
          <a:stretch>
            <a:fillRect/>
          </a:stretch>
        </p:blipFill>
        <p:spPr>
          <a:xfrm>
            <a:off x="685800" y="1554480"/>
            <a:ext cx="502920" cy="502920"/>
          </a:xfrm>
          <a:prstGeom prst="rect">
            <a:avLst/>
          </a:prstGeom>
        </p:spPr>
      </p:pic>
      <p:sp>
        <p:nvSpPr>
          <p:cNvPr id="8" name="TextBox 7"/>
          <p:cNvSpPr txBox="1"/>
          <p:nvPr/>
        </p:nvSpPr>
        <p:spPr>
          <a:xfrm>
            <a:off x="685800" y="2194560"/>
            <a:ext cx="2377440" cy="822960"/>
          </a:xfrm>
          <a:prstGeom prst="rect">
            <a:avLst/>
          </a:prstGeom>
          <a:noFill/>
        </p:spPr>
        <p:txBody>
          <a:bodyPr wrap="square" lIns="45720" rIns="45720" tIns="27432" bIns="27432" anchor="t">
            <a:spAutoFit/>
          </a:bodyPr>
          <a:lstStyle/>
          <a:p>
            <a:pPr algn="l"/>
            <a:r>
              <a:rPr sz="2100" b="1" i="0">
                <a:solidFill>
                  <a:srgbClr val="034EA2"/>
                </a:solidFill>
                <a:latin typeface="Arial"/>
              </a:rPr>
              <a:t>Wording mismatch</a:t>
            </a:r>
          </a:p>
        </p:txBody>
      </p:sp>
      <p:sp>
        <p:nvSpPr>
          <p:cNvPr id="9" name="TextBox 8"/>
          <p:cNvSpPr txBox="1"/>
          <p:nvPr/>
        </p:nvSpPr>
        <p:spPr>
          <a:xfrm>
            <a:off x="685800" y="3108960"/>
            <a:ext cx="2377440" cy="1645920"/>
          </a:xfrm>
          <a:prstGeom prst="rect">
            <a:avLst/>
          </a:prstGeom>
          <a:noFill/>
        </p:spPr>
        <p:txBody>
          <a:bodyPr wrap="square" lIns="45720" rIns="45720" tIns="27432" bIns="27432" anchor="t">
            <a:spAutoFit/>
          </a:bodyPr>
          <a:lstStyle/>
          <a:p>
            <a:pPr algn="l"/>
            <a:r>
              <a:rPr sz="1700" b="0" i="0">
                <a:solidFill>
                  <a:srgbClr val="0B0A0C"/>
                </a:solidFill>
                <a:latin typeface="Arial"/>
              </a:rPr>
              <a:t>the closest chunk is similar, but does not answer the question</a:t>
            </a:r>
          </a:p>
        </p:txBody>
      </p:sp>
      <p:sp>
        <p:nvSpPr>
          <p:cNvPr id="10" name="Rounded Rectangle 9"/>
          <p:cNvSpPr/>
          <p:nvPr/>
        </p:nvSpPr>
        <p:spPr>
          <a:xfrm>
            <a:off x="3346704" y="1280160"/>
            <a:ext cx="265176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46704" y="1280160"/>
            <a:ext cx="2651760" cy="128016"/>
          </a:xfrm>
          <a:prstGeom prst="rect">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cissors_50B848_2.0.png"/>
          <p:cNvPicPr>
            <a:picLocks noChangeAspect="1"/>
          </p:cNvPicPr>
          <p:nvPr/>
        </p:nvPicPr>
        <p:blipFill>
          <a:blip r:embed="rId4"/>
          <a:stretch>
            <a:fillRect/>
          </a:stretch>
        </p:blipFill>
        <p:spPr>
          <a:xfrm>
            <a:off x="3483864" y="1554480"/>
            <a:ext cx="502920" cy="502920"/>
          </a:xfrm>
          <a:prstGeom prst="rect">
            <a:avLst/>
          </a:prstGeom>
        </p:spPr>
      </p:pic>
      <p:sp>
        <p:nvSpPr>
          <p:cNvPr id="13" name="TextBox 12"/>
          <p:cNvSpPr txBox="1"/>
          <p:nvPr/>
        </p:nvSpPr>
        <p:spPr>
          <a:xfrm>
            <a:off x="3483864" y="2194560"/>
            <a:ext cx="2377440" cy="822960"/>
          </a:xfrm>
          <a:prstGeom prst="rect">
            <a:avLst/>
          </a:prstGeom>
          <a:noFill/>
        </p:spPr>
        <p:txBody>
          <a:bodyPr wrap="square" lIns="45720" rIns="45720" tIns="27432" bIns="27432" anchor="t">
            <a:spAutoFit/>
          </a:bodyPr>
          <a:lstStyle/>
          <a:p>
            <a:pPr algn="l"/>
            <a:r>
              <a:rPr sz="2100" b="1" i="0">
                <a:solidFill>
                  <a:srgbClr val="50B848"/>
                </a:solidFill>
                <a:latin typeface="Arial"/>
              </a:rPr>
              <a:t>Bad chunks</a:t>
            </a:r>
          </a:p>
        </p:txBody>
      </p:sp>
      <p:sp>
        <p:nvSpPr>
          <p:cNvPr id="14" name="TextBox 13"/>
          <p:cNvSpPr txBox="1"/>
          <p:nvPr/>
        </p:nvSpPr>
        <p:spPr>
          <a:xfrm>
            <a:off x="3483864" y="3108960"/>
            <a:ext cx="2377440" cy="1645920"/>
          </a:xfrm>
          <a:prstGeom prst="rect">
            <a:avLst/>
          </a:prstGeom>
          <a:noFill/>
        </p:spPr>
        <p:txBody>
          <a:bodyPr wrap="square" lIns="45720" rIns="45720" tIns="27432" bIns="27432" anchor="t">
            <a:spAutoFit/>
          </a:bodyPr>
          <a:lstStyle/>
          <a:p>
            <a:pPr algn="l"/>
            <a:r>
              <a:rPr sz="1700" b="0" i="0">
                <a:solidFill>
                  <a:srgbClr val="0B0A0C"/>
                </a:solidFill>
                <a:latin typeface="Arial"/>
              </a:rPr>
              <a:t>ideas split in half, or two topics mixed in one chunk</a:t>
            </a:r>
          </a:p>
        </p:txBody>
      </p:sp>
      <p:sp>
        <p:nvSpPr>
          <p:cNvPr id="15" name="Rounded Rectangle 14"/>
          <p:cNvSpPr/>
          <p:nvPr/>
        </p:nvSpPr>
        <p:spPr>
          <a:xfrm>
            <a:off x="6144768" y="1280160"/>
            <a:ext cx="265176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44768" y="1280160"/>
            <a:ext cx="2651760" cy="12801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alculator_F37021_2.0.png"/>
          <p:cNvPicPr>
            <a:picLocks noChangeAspect="1"/>
          </p:cNvPicPr>
          <p:nvPr/>
        </p:nvPicPr>
        <p:blipFill>
          <a:blip r:embed="rId5"/>
          <a:stretch>
            <a:fillRect/>
          </a:stretch>
        </p:blipFill>
        <p:spPr>
          <a:xfrm>
            <a:off x="6281928" y="1554480"/>
            <a:ext cx="502920" cy="502920"/>
          </a:xfrm>
          <a:prstGeom prst="rect">
            <a:avLst/>
          </a:prstGeom>
        </p:spPr>
      </p:pic>
      <p:sp>
        <p:nvSpPr>
          <p:cNvPr id="18" name="TextBox 17"/>
          <p:cNvSpPr txBox="1"/>
          <p:nvPr/>
        </p:nvSpPr>
        <p:spPr>
          <a:xfrm>
            <a:off x="6281928" y="2194560"/>
            <a:ext cx="2377440" cy="822960"/>
          </a:xfrm>
          <a:prstGeom prst="rect">
            <a:avLst/>
          </a:prstGeom>
          <a:noFill/>
        </p:spPr>
        <p:txBody>
          <a:bodyPr wrap="square" lIns="45720" rIns="45720" tIns="27432" bIns="27432" anchor="t">
            <a:spAutoFit/>
          </a:bodyPr>
          <a:lstStyle/>
          <a:p>
            <a:pPr algn="l"/>
            <a:r>
              <a:rPr sz="2100" b="1" i="0">
                <a:solidFill>
                  <a:srgbClr val="F37021"/>
                </a:solidFill>
                <a:latin typeface="Arial"/>
              </a:rPr>
              <a:t>Needs counting</a:t>
            </a:r>
          </a:p>
        </p:txBody>
      </p:sp>
      <p:sp>
        <p:nvSpPr>
          <p:cNvPr id="19" name="TextBox 18"/>
          <p:cNvSpPr txBox="1"/>
          <p:nvPr/>
        </p:nvSpPr>
        <p:spPr>
          <a:xfrm>
            <a:off x="6281928" y="3108960"/>
            <a:ext cx="2377440" cy="1645920"/>
          </a:xfrm>
          <a:prstGeom prst="rect">
            <a:avLst/>
          </a:prstGeom>
          <a:noFill/>
        </p:spPr>
        <p:txBody>
          <a:bodyPr wrap="square" lIns="45720" rIns="45720" tIns="27432" bIns="27432" anchor="t">
            <a:spAutoFit/>
          </a:bodyPr>
          <a:lstStyle/>
          <a:p>
            <a:pPr algn="l"/>
            <a:r>
              <a:rPr sz="1700" b="0" i="0">
                <a:solidFill>
                  <a:srgbClr val="0B0A0C"/>
                </a:solidFill>
                <a:latin typeface="Arial"/>
              </a:rPr>
              <a:t>"How many tickets?" is a SQL question, not a retrieval question</a:t>
            </a:r>
          </a:p>
        </p:txBody>
      </p:sp>
      <p:sp>
        <p:nvSpPr>
          <p:cNvPr id="20" name="Rounded Rectangle 19"/>
          <p:cNvSpPr/>
          <p:nvPr/>
        </p:nvSpPr>
        <p:spPr>
          <a:xfrm>
            <a:off x="8942832" y="1280160"/>
            <a:ext cx="2651760" cy="35661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942832" y="1280160"/>
            <a:ext cx="2651760" cy="128016"/>
          </a:xfrm>
          <a:prstGeom prst="rect">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warning_19226D_2.0.png"/>
          <p:cNvPicPr>
            <a:picLocks noChangeAspect="1"/>
          </p:cNvPicPr>
          <p:nvPr/>
        </p:nvPicPr>
        <p:blipFill>
          <a:blip r:embed="rId6"/>
          <a:stretch>
            <a:fillRect/>
          </a:stretch>
        </p:blipFill>
        <p:spPr>
          <a:xfrm>
            <a:off x="9079992" y="1554480"/>
            <a:ext cx="502920" cy="502920"/>
          </a:xfrm>
          <a:prstGeom prst="rect">
            <a:avLst/>
          </a:prstGeom>
        </p:spPr>
      </p:pic>
      <p:sp>
        <p:nvSpPr>
          <p:cNvPr id="23" name="TextBox 22"/>
          <p:cNvSpPr txBox="1"/>
          <p:nvPr/>
        </p:nvSpPr>
        <p:spPr>
          <a:xfrm>
            <a:off x="9079992" y="2194560"/>
            <a:ext cx="2377440" cy="822960"/>
          </a:xfrm>
          <a:prstGeom prst="rect">
            <a:avLst/>
          </a:prstGeom>
          <a:noFill/>
        </p:spPr>
        <p:txBody>
          <a:bodyPr wrap="square" lIns="45720" rIns="45720" tIns="27432" bIns="27432" anchor="t">
            <a:spAutoFit/>
          </a:bodyPr>
          <a:lstStyle/>
          <a:p>
            <a:pPr algn="l"/>
            <a:r>
              <a:rPr sz="2100" b="1" i="0">
                <a:solidFill>
                  <a:srgbClr val="19226D"/>
                </a:solidFill>
                <a:latin typeface="Arial"/>
              </a:rPr>
              <a:t>Wrong sources</a:t>
            </a:r>
          </a:p>
        </p:txBody>
      </p:sp>
      <p:sp>
        <p:nvSpPr>
          <p:cNvPr id="24" name="TextBox 23"/>
          <p:cNvSpPr txBox="1"/>
          <p:nvPr/>
        </p:nvSpPr>
        <p:spPr>
          <a:xfrm>
            <a:off x="9079992" y="3108960"/>
            <a:ext cx="2377440" cy="1645920"/>
          </a:xfrm>
          <a:prstGeom prst="rect">
            <a:avLst/>
          </a:prstGeom>
          <a:noFill/>
        </p:spPr>
        <p:txBody>
          <a:bodyPr wrap="square" lIns="45720" rIns="45720" tIns="27432" bIns="27432" anchor="t">
            <a:spAutoFit/>
          </a:bodyPr>
          <a:lstStyle/>
          <a:p>
            <a:pPr algn="l"/>
            <a:r>
              <a:rPr sz="1700" b="0" i="0">
                <a:solidFill>
                  <a:srgbClr val="0B0A0C"/>
                </a:solidFill>
                <a:latin typeface="Arial"/>
              </a:rPr>
              <a:t>if the articles are wrong or old, the answer is too</a:t>
            </a:r>
          </a:p>
        </p:txBody>
      </p:sp>
      <p:sp>
        <p:nvSpPr>
          <p:cNvPr id="25" name="Rounded Rectangle 24"/>
          <p:cNvSpPr/>
          <p:nvPr/>
        </p:nvSpPr>
        <p:spPr>
          <a:xfrm>
            <a:off x="548640" y="5166360"/>
            <a:ext cx="11091672" cy="566928"/>
          </a:xfrm>
          <a:prstGeom prst="roundRect">
            <a:avLst>
              <a:gd name="adj" fmla="val 20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700" b="1">
                <a:solidFill>
                  <a:srgbClr val="FFFFFF"/>
                </a:solidFill>
                <a:latin typeface="Arial"/>
              </a:rPr>
              <a:t>Safe default: if the articles do not answer the question, say "I do not know".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9224" y="1463040"/>
            <a:ext cx="9601200" cy="1737360"/>
          </a:xfrm>
        </p:spPr>
        <p:txBody>
          <a:bodyPr/>
          <a:lstStyle/>
          <a:p>
            <a:r>
              <a:t>Putting it together</a:t>
            </a:r>
          </a:p>
        </p:txBody>
      </p:sp>
      <p:sp>
        <p:nvSpPr>
          <p:cNvPr id="3" name="Text Placeholder 2"/>
          <p:cNvSpPr>
            <a:spLocks noGrp="1"/>
          </p:cNvSpPr>
          <p:nvPr>
            <p:ph type="body" idx="11" sz="quarter"/>
          </p:nvPr>
        </p:nvSpPr>
        <p:spPr>
          <a:xfrm>
            <a:off x="676656" y="3383280"/>
            <a:ext cx="7772400" cy="1097280"/>
          </a:xfrm>
        </p:spPr>
        <p:txBody>
          <a:bodyPr/>
          <a:lstStyle/>
          <a:p>
            <a:r>
              <a:rPr sz="2400"/>
              <a:t>How does it all fit, and what changes in the real world?</a:t>
            </a:r>
          </a:p>
        </p:txBody>
      </p:sp>
      <p:sp>
        <p:nvSpPr>
          <p:cNvPr id="4" name="Text Placeholder 3"/>
          <p:cNvSpPr>
            <a:spLocks noGrp="1"/>
          </p:cNvSpPr>
          <p:nvPr>
            <p:ph type="body" idx="13" sz="quarter"/>
          </p:nvPr>
        </p:nvSpPr>
        <p:spPr>
          <a:xfrm>
            <a:off x="822960" y="5669280"/>
            <a:ext cx="6400800" cy="411480"/>
          </a:xfrm>
        </p:spPr>
        <p:txBody>
          <a:bodyPr/>
          <a:lstStyle/>
          <a:p>
            <a:r>
              <a:t>Part 5 of 6  ·  Recap before the labs</a:t>
            </a:r>
          </a:p>
        </p:txBody>
      </p:sp>
      <p:sp>
        <p:nvSpPr>
          <p:cNvPr id="5" name="Rectangle 4"/>
          <p:cNvSpPr/>
          <p:nvPr/>
        </p:nvSpPr>
        <p:spPr>
          <a:xfrm>
            <a:off x="822960"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72768"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22576"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072384"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822191" y="6263640"/>
            <a:ext cx="676656" cy="8229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0" y="6263640"/>
            <a:ext cx="676656" cy="82296"/>
          </a:xfrm>
          <a:prstGeom prst="rect">
            <a:avLst/>
          </a:prstGeom>
          <a:solidFill>
            <a:srgbClr val="4B5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875520" y="4023360"/>
            <a:ext cx="1371600" cy="13716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workflow_FFFFFF_2.0.png"/>
          <p:cNvPicPr>
            <a:picLocks noChangeAspect="1"/>
          </p:cNvPicPr>
          <p:nvPr/>
        </p:nvPicPr>
        <p:blipFill>
          <a:blip r:embed="rId3"/>
          <a:stretch>
            <a:fillRect/>
          </a:stretch>
        </p:blipFill>
        <p:spPr>
          <a:xfrm>
            <a:off x="10232136" y="4379976"/>
            <a:ext cx="658368" cy="65836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whole flow, and SQL or RAG?</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5 · PUTTING IT TOGETHER</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2743200"/>
            <a:ext cx="1737360" cy="822960"/>
          </a:xfrm>
          <a:prstGeom prst="roundRect">
            <a:avLst>
              <a:gd name="adj" fmla="val 15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Arial"/>
              </a:rPr>
              <a:t>Raw tickets (CSV)</a:t>
            </a:r>
          </a:p>
        </p:txBody>
      </p:sp>
      <p:cxnSp>
        <p:nvCxnSpPr>
          <p:cNvPr id="6" name="Connector 5"/>
          <p:cNvCxnSpPr/>
          <p:nvPr/>
        </p:nvCxnSpPr>
        <p:spPr>
          <a:xfrm>
            <a:off x="2286000" y="3154680"/>
            <a:ext cx="411480"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97480" y="2743200"/>
            <a:ext cx="1737360" cy="822960"/>
          </a:xfrm>
          <a:prstGeom prst="roundRect">
            <a:avLst>
              <a:gd name="adj" fmla="val 15000"/>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Arial"/>
              </a:rPr>
              <a:t>ETL with pandas</a:t>
            </a:r>
          </a:p>
        </p:txBody>
      </p:sp>
      <p:cxnSp>
        <p:nvCxnSpPr>
          <p:cNvPr id="8" name="Connector 7"/>
          <p:cNvCxnSpPr/>
          <p:nvPr/>
        </p:nvCxnSpPr>
        <p:spPr>
          <a:xfrm>
            <a:off x="4434840" y="3154680"/>
            <a:ext cx="411480"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46320" y="2743200"/>
            <a:ext cx="2011680" cy="822960"/>
          </a:xfrm>
          <a:prstGeom prst="roundRect">
            <a:avLst>
              <a:gd name="adj" fmla="val 15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FFFFFF"/>
                </a:solidFill>
                <a:latin typeface="Arial"/>
              </a:rPr>
              <a:t>Database (PostgreSQL + pgvector)</a:t>
            </a:r>
          </a:p>
        </p:txBody>
      </p:sp>
      <p:sp>
        <p:nvSpPr>
          <p:cNvPr id="10" name="Rounded Rectangle 9"/>
          <p:cNvSpPr/>
          <p:nvPr/>
        </p:nvSpPr>
        <p:spPr>
          <a:xfrm>
            <a:off x="7680960" y="1325880"/>
            <a:ext cx="1737360" cy="731520"/>
          </a:xfrm>
          <a:prstGeom prst="roundRect">
            <a:avLst>
              <a:gd name="adj" fmla="val 15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Arial"/>
              </a:rPr>
              <a:t>SQL queries</a:t>
            </a:r>
          </a:p>
        </p:txBody>
      </p:sp>
      <p:sp>
        <p:nvSpPr>
          <p:cNvPr id="11" name="Rounded Rectangle 10"/>
          <p:cNvSpPr/>
          <p:nvPr/>
        </p:nvSpPr>
        <p:spPr>
          <a:xfrm>
            <a:off x="9692640" y="1325880"/>
            <a:ext cx="1920240" cy="731520"/>
          </a:xfrm>
          <a:prstGeom prst="roundRect">
            <a:avLst>
              <a:gd name="adj" fmla="val 15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Arial"/>
              </a:rPr>
              <a:t>Dashboard (Plotly)</a:t>
            </a:r>
          </a:p>
        </p:txBody>
      </p:sp>
      <p:sp>
        <p:nvSpPr>
          <p:cNvPr id="12" name="Rounded Rectangle 11"/>
          <p:cNvSpPr/>
          <p:nvPr/>
        </p:nvSpPr>
        <p:spPr>
          <a:xfrm>
            <a:off x="7680960" y="4160520"/>
            <a:ext cx="1920240" cy="731520"/>
          </a:xfrm>
          <a:prstGeom prst="roundRect">
            <a:avLst>
              <a:gd name="adj" fmla="val 15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a:solidFill>
                  <a:srgbClr val="FFFFFF"/>
                </a:solidFill>
                <a:latin typeface="Arial"/>
              </a:rPr>
              <a:t>Embeddings + vector search</a:t>
            </a:r>
          </a:p>
        </p:txBody>
      </p:sp>
      <p:sp>
        <p:nvSpPr>
          <p:cNvPr id="13" name="Rounded Rectangle 12"/>
          <p:cNvSpPr/>
          <p:nvPr/>
        </p:nvSpPr>
        <p:spPr>
          <a:xfrm>
            <a:off x="9875520" y="4160520"/>
            <a:ext cx="1737360" cy="731520"/>
          </a:xfrm>
          <a:prstGeom prst="roundRect">
            <a:avLst>
              <a:gd name="adj" fmla="val 15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Arial"/>
              </a:rPr>
              <a:t>LLM answer + sources</a:t>
            </a:r>
          </a:p>
        </p:txBody>
      </p:sp>
      <p:cxnSp>
        <p:nvCxnSpPr>
          <p:cNvPr id="14" name="Connector 13"/>
          <p:cNvCxnSpPr/>
          <p:nvPr/>
        </p:nvCxnSpPr>
        <p:spPr>
          <a:xfrm flipV="1">
            <a:off x="6858000" y="1737360"/>
            <a:ext cx="822960" cy="118872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418320" y="1691640"/>
            <a:ext cx="274320"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3383280"/>
            <a:ext cx="822960" cy="114300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601200" y="4526280"/>
            <a:ext cx="274320" cy="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680960" y="2651760"/>
            <a:ext cx="3931920" cy="822960"/>
          </a:xfrm>
          <a:prstGeom prst="roundRect">
            <a:avLst>
              <a:gd name="adj" fmla="val 15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Arial"/>
              </a:rPr>
              <a:t>Web app (Streamlit)  ·  Agent picks the path</a:t>
            </a:r>
          </a:p>
        </p:txBody>
      </p:sp>
      <p:cxnSp>
        <p:nvCxnSpPr>
          <p:cNvPr id="19" name="Connector 18"/>
          <p:cNvCxnSpPr/>
          <p:nvPr/>
        </p:nvCxnSpPr>
        <p:spPr>
          <a:xfrm>
            <a:off x="10652760" y="2057400"/>
            <a:ext cx="0" cy="59436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744200" y="3474720"/>
            <a:ext cx="0" cy="685800"/>
          </a:xfrm>
          <a:prstGeom prst="line">
            <a:avLst/>
          </a:prstGeom>
          <a:ln w="285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5166360"/>
            <a:ext cx="3566160" cy="109728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0">
                <a:solidFill>
                  <a:srgbClr val="034EA2"/>
                </a:solidFill>
                <a:latin typeface="Arial"/>
              </a:rPr>
              <a:t>"How many refund tickets this week?"</a:t>
            </a:r>
          </a:p>
          <a:p>
            <a:pPr algn="ctr"/>
            <a:r>
              <a:rPr sz="1800" b="1">
                <a:solidFill>
                  <a:srgbClr val="034EA2"/>
                </a:solidFill>
                <a:latin typeface="Arial"/>
              </a:rPr>
              <a:t>SQL</a:t>
            </a:r>
          </a:p>
        </p:txBody>
      </p:sp>
      <p:sp>
        <p:nvSpPr>
          <p:cNvPr id="22" name="Rounded Rectangle 21"/>
          <p:cNvSpPr/>
          <p:nvPr/>
        </p:nvSpPr>
        <p:spPr>
          <a:xfrm>
            <a:off x="4297680" y="5166360"/>
            <a:ext cx="3566160" cy="1097280"/>
          </a:xfrm>
          <a:prstGeom prst="roundRect">
            <a:avLst>
              <a:gd name="adj" fmla="val 10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0">
                <a:solidFill>
                  <a:srgbClr val="50B848"/>
                </a:solidFill>
                <a:latin typeface="Arial"/>
              </a:rPr>
              <a:t>"What is our refund policy?"</a:t>
            </a:r>
          </a:p>
          <a:p>
            <a:pPr algn="ctr"/>
            <a:r>
              <a:rPr sz="1800" b="1">
                <a:solidFill>
                  <a:srgbClr val="50B848"/>
                </a:solidFill>
                <a:latin typeface="Arial"/>
              </a:rPr>
              <a:t>RAG</a:t>
            </a:r>
          </a:p>
        </p:txBody>
      </p:sp>
      <p:sp>
        <p:nvSpPr>
          <p:cNvPr id="23" name="Rounded Rectangle 22"/>
          <p:cNvSpPr/>
          <p:nvPr/>
        </p:nvSpPr>
        <p:spPr>
          <a:xfrm>
            <a:off x="8046720" y="5166360"/>
            <a:ext cx="3593592" cy="1097280"/>
          </a:xfrm>
          <a:prstGeom prst="roundRect">
            <a:avLst>
              <a:gd name="adj" fmla="val 10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0">
                <a:solidFill>
                  <a:srgbClr val="F37021"/>
                </a:solidFill>
                <a:latin typeface="Arial"/>
              </a:rPr>
              <a:t>"Biggest ticket type, and how do I help it?"</a:t>
            </a:r>
          </a:p>
          <a:p>
            <a:pPr algn="ctr"/>
            <a:r>
              <a:rPr sz="1800" b="1">
                <a:solidFill>
                  <a:srgbClr val="F37021"/>
                </a:solidFill>
                <a:latin typeface="Arial"/>
              </a:rPr>
              <a:t>Agent (both)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ship it: a real-world checklist</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5 · PUTTING IT TOGETHER</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280160"/>
            <a:ext cx="2194560" cy="768096"/>
          </a:xfrm>
          <a:prstGeom prst="roundRect">
            <a:avLst>
              <a:gd name="adj" fmla="val 15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Privacy</a:t>
            </a:r>
          </a:p>
        </p:txBody>
      </p:sp>
      <p:sp>
        <p:nvSpPr>
          <p:cNvPr id="6" name="Rounded Rectangle 5"/>
          <p:cNvSpPr/>
          <p:nvPr/>
        </p:nvSpPr>
        <p:spPr>
          <a:xfrm>
            <a:off x="2788920" y="1280160"/>
            <a:ext cx="5120640" cy="768096"/>
          </a:xfrm>
          <a:prstGeom prst="roundRect">
            <a:avLst>
              <a:gd name="adj" fmla="val 15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926080" y="1280160"/>
            <a:ext cx="4389120" cy="768096"/>
          </a:xfrm>
          <a:prstGeom prst="rect">
            <a:avLst/>
          </a:prstGeom>
          <a:noFill/>
        </p:spPr>
        <p:txBody>
          <a:bodyPr wrap="square" lIns="45720" rIns="45720" tIns="27432" bIns="27432" anchor="ctr">
            <a:spAutoFit/>
          </a:bodyPr>
          <a:lstStyle/>
          <a:p>
            <a:pPr algn="l"/>
            <a:r>
              <a:rPr sz="1400" b="0" i="0">
                <a:solidFill>
                  <a:srgbClr val="0B0A0C"/>
                </a:solidFill>
                <a:latin typeface="Arial"/>
              </a:rPr>
              <a:t>tickets can contain personal data: who may see and use it?</a:t>
            </a:r>
          </a:p>
        </p:txBody>
      </p:sp>
      <p:pic>
        <p:nvPicPr>
          <p:cNvPr id="8" name="Picture 7" descr="shield-check_034EA2_2.0.png"/>
          <p:cNvPicPr>
            <a:picLocks noChangeAspect="1"/>
          </p:cNvPicPr>
          <p:nvPr/>
        </p:nvPicPr>
        <p:blipFill>
          <a:blip r:embed="rId3"/>
          <a:stretch>
            <a:fillRect/>
          </a:stretch>
        </p:blipFill>
        <p:spPr>
          <a:xfrm>
            <a:off x="7360920" y="1435607"/>
            <a:ext cx="457200" cy="457200"/>
          </a:xfrm>
          <a:prstGeom prst="rect">
            <a:avLst/>
          </a:prstGeom>
        </p:spPr>
      </p:pic>
      <p:sp>
        <p:nvSpPr>
          <p:cNvPr id="9" name="Rounded Rectangle 8"/>
          <p:cNvSpPr/>
          <p:nvPr/>
        </p:nvSpPr>
        <p:spPr>
          <a:xfrm>
            <a:off x="548640" y="2176272"/>
            <a:ext cx="2194560" cy="768096"/>
          </a:xfrm>
          <a:prstGeom prst="roundRect">
            <a:avLst>
              <a:gd name="adj" fmla="val 15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Cost</a:t>
            </a:r>
          </a:p>
        </p:txBody>
      </p:sp>
      <p:sp>
        <p:nvSpPr>
          <p:cNvPr id="10" name="Rounded Rectangle 9"/>
          <p:cNvSpPr/>
          <p:nvPr/>
        </p:nvSpPr>
        <p:spPr>
          <a:xfrm>
            <a:off x="2788920" y="2176272"/>
            <a:ext cx="5120640" cy="768096"/>
          </a:xfrm>
          <a:prstGeom prst="roundRect">
            <a:avLst>
              <a:gd name="adj" fmla="val 15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26080" y="2176272"/>
            <a:ext cx="4389120" cy="768096"/>
          </a:xfrm>
          <a:prstGeom prst="rect">
            <a:avLst/>
          </a:prstGeom>
          <a:noFill/>
        </p:spPr>
        <p:txBody>
          <a:bodyPr wrap="square" lIns="45720" rIns="45720" tIns="27432" bIns="27432" anchor="ctr">
            <a:spAutoFit/>
          </a:bodyPr>
          <a:lstStyle/>
          <a:p>
            <a:pPr algn="l"/>
            <a:r>
              <a:rPr sz="1400" b="0" i="0">
                <a:solidFill>
                  <a:srgbClr val="0B0A0C"/>
                </a:solidFill>
                <a:latin typeface="Arial"/>
              </a:rPr>
              <a:t>API usage grows with users: set budgets and limits</a:t>
            </a:r>
          </a:p>
        </p:txBody>
      </p:sp>
      <p:pic>
        <p:nvPicPr>
          <p:cNvPr id="12" name="Picture 11" descr="wallet_50B848_2.0.png"/>
          <p:cNvPicPr>
            <a:picLocks noChangeAspect="1"/>
          </p:cNvPicPr>
          <p:nvPr/>
        </p:nvPicPr>
        <p:blipFill>
          <a:blip r:embed="rId4"/>
          <a:stretch>
            <a:fillRect/>
          </a:stretch>
        </p:blipFill>
        <p:spPr>
          <a:xfrm>
            <a:off x="7360920" y="2331720"/>
            <a:ext cx="457200" cy="457200"/>
          </a:xfrm>
          <a:prstGeom prst="rect">
            <a:avLst/>
          </a:prstGeom>
        </p:spPr>
      </p:pic>
      <p:sp>
        <p:nvSpPr>
          <p:cNvPr id="13" name="Rounded Rectangle 12"/>
          <p:cNvSpPr/>
          <p:nvPr/>
        </p:nvSpPr>
        <p:spPr>
          <a:xfrm>
            <a:off x="548640" y="3072384"/>
            <a:ext cx="2194560" cy="768096"/>
          </a:xfrm>
          <a:prstGeom prst="roundRect">
            <a:avLst>
              <a:gd name="adj" fmla="val 15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Evaluation</a:t>
            </a:r>
          </a:p>
        </p:txBody>
      </p:sp>
      <p:sp>
        <p:nvSpPr>
          <p:cNvPr id="14" name="Rounded Rectangle 13"/>
          <p:cNvSpPr/>
          <p:nvPr/>
        </p:nvSpPr>
        <p:spPr>
          <a:xfrm>
            <a:off x="2788920" y="3072384"/>
            <a:ext cx="5120640" cy="768096"/>
          </a:xfrm>
          <a:prstGeom prst="roundRect">
            <a:avLst>
              <a:gd name="adj" fmla="val 15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26080" y="3072384"/>
            <a:ext cx="4389120" cy="768096"/>
          </a:xfrm>
          <a:prstGeom prst="rect">
            <a:avLst/>
          </a:prstGeom>
          <a:noFill/>
        </p:spPr>
        <p:txBody>
          <a:bodyPr wrap="square" lIns="45720" rIns="45720" tIns="27432" bIns="27432" anchor="ctr">
            <a:spAutoFit/>
          </a:bodyPr>
          <a:lstStyle/>
          <a:p>
            <a:pPr algn="l"/>
            <a:r>
              <a:rPr sz="1400" b="0" i="0">
                <a:solidFill>
                  <a:srgbClr val="0B0A0C"/>
                </a:solidFill>
                <a:latin typeface="Arial"/>
              </a:rPr>
              <a:t>keep a test set of questions and check answers</a:t>
            </a:r>
          </a:p>
        </p:txBody>
      </p:sp>
      <p:pic>
        <p:nvPicPr>
          <p:cNvPr id="16" name="Picture 15" descr="clipboard-check_F37021_2.0.png"/>
          <p:cNvPicPr>
            <a:picLocks noChangeAspect="1"/>
          </p:cNvPicPr>
          <p:nvPr/>
        </p:nvPicPr>
        <p:blipFill>
          <a:blip r:embed="rId5"/>
          <a:stretch>
            <a:fillRect/>
          </a:stretch>
        </p:blipFill>
        <p:spPr>
          <a:xfrm>
            <a:off x="7360920" y="3227832"/>
            <a:ext cx="457200" cy="457200"/>
          </a:xfrm>
          <a:prstGeom prst="rect">
            <a:avLst/>
          </a:prstGeom>
        </p:spPr>
      </p:pic>
      <p:sp>
        <p:nvSpPr>
          <p:cNvPr id="17" name="Rounded Rectangle 16"/>
          <p:cNvSpPr/>
          <p:nvPr/>
        </p:nvSpPr>
        <p:spPr>
          <a:xfrm>
            <a:off x="548640" y="3968496"/>
            <a:ext cx="2194560" cy="768096"/>
          </a:xfrm>
          <a:prstGeom prst="roundRect">
            <a:avLst>
              <a:gd name="adj" fmla="val 15000"/>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Monitoring</a:t>
            </a:r>
          </a:p>
        </p:txBody>
      </p:sp>
      <p:sp>
        <p:nvSpPr>
          <p:cNvPr id="18" name="Rounded Rectangle 17"/>
          <p:cNvSpPr/>
          <p:nvPr/>
        </p:nvSpPr>
        <p:spPr>
          <a:xfrm>
            <a:off x="2788920" y="3968496"/>
            <a:ext cx="5120640" cy="768096"/>
          </a:xfrm>
          <a:prstGeom prst="roundRect">
            <a:avLst>
              <a:gd name="adj" fmla="val 15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26080" y="3968496"/>
            <a:ext cx="4389120" cy="768096"/>
          </a:xfrm>
          <a:prstGeom prst="rect">
            <a:avLst/>
          </a:prstGeom>
          <a:noFill/>
        </p:spPr>
        <p:txBody>
          <a:bodyPr wrap="square" lIns="45720" rIns="45720" tIns="27432" bIns="27432" anchor="ctr">
            <a:spAutoFit/>
          </a:bodyPr>
          <a:lstStyle/>
          <a:p>
            <a:pPr algn="l"/>
            <a:r>
              <a:rPr sz="1400" b="0" i="0">
                <a:solidFill>
                  <a:srgbClr val="0B0A0C"/>
                </a:solidFill>
                <a:latin typeface="Arial"/>
              </a:rPr>
              <a:t>watch quality, errors and cost after launch</a:t>
            </a:r>
          </a:p>
        </p:txBody>
      </p:sp>
      <p:pic>
        <p:nvPicPr>
          <p:cNvPr id="20" name="Picture 19" descr="activity_33B2C1_2.0.png"/>
          <p:cNvPicPr>
            <a:picLocks noChangeAspect="1"/>
          </p:cNvPicPr>
          <p:nvPr/>
        </p:nvPicPr>
        <p:blipFill>
          <a:blip r:embed="rId6"/>
          <a:stretch>
            <a:fillRect/>
          </a:stretch>
        </p:blipFill>
        <p:spPr>
          <a:xfrm>
            <a:off x="7360920" y="4123944"/>
            <a:ext cx="457200" cy="457200"/>
          </a:xfrm>
          <a:prstGeom prst="rect">
            <a:avLst/>
          </a:prstGeom>
        </p:spPr>
      </p:pic>
      <p:sp>
        <p:nvSpPr>
          <p:cNvPr id="21" name="Rounded Rectangle 20"/>
          <p:cNvSpPr/>
          <p:nvPr/>
        </p:nvSpPr>
        <p:spPr>
          <a:xfrm>
            <a:off x="548640" y="4864608"/>
            <a:ext cx="2194560" cy="768096"/>
          </a:xfrm>
          <a:prstGeom prst="roundRect">
            <a:avLst>
              <a:gd name="adj" fmla="val 15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Human in the loop</a:t>
            </a:r>
          </a:p>
        </p:txBody>
      </p:sp>
      <p:sp>
        <p:nvSpPr>
          <p:cNvPr id="22" name="Rounded Rectangle 21"/>
          <p:cNvSpPr/>
          <p:nvPr/>
        </p:nvSpPr>
        <p:spPr>
          <a:xfrm>
            <a:off x="2788920" y="4864608"/>
            <a:ext cx="5120640" cy="768096"/>
          </a:xfrm>
          <a:prstGeom prst="roundRect">
            <a:avLst>
              <a:gd name="adj" fmla="val 15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926080" y="4864608"/>
            <a:ext cx="4389120" cy="768096"/>
          </a:xfrm>
          <a:prstGeom prst="rect">
            <a:avLst/>
          </a:prstGeom>
          <a:noFill/>
        </p:spPr>
        <p:txBody>
          <a:bodyPr wrap="square" lIns="45720" rIns="45720" tIns="27432" bIns="27432" anchor="ctr">
            <a:spAutoFit/>
          </a:bodyPr>
          <a:lstStyle/>
          <a:p>
            <a:pPr algn="l"/>
            <a:r>
              <a:rPr sz="1400" b="0" i="0">
                <a:solidFill>
                  <a:srgbClr val="0B0A0C"/>
                </a:solidFill>
                <a:latin typeface="Arial"/>
              </a:rPr>
              <a:t>a person reviews answers that matter</a:t>
            </a:r>
          </a:p>
        </p:txBody>
      </p:sp>
      <p:pic>
        <p:nvPicPr>
          <p:cNvPr id="24" name="Picture 23" descr="user-check_19226D_2.0.png"/>
          <p:cNvPicPr>
            <a:picLocks noChangeAspect="1"/>
          </p:cNvPicPr>
          <p:nvPr/>
        </p:nvPicPr>
        <p:blipFill>
          <a:blip r:embed="rId7"/>
          <a:stretch>
            <a:fillRect/>
          </a:stretch>
        </p:blipFill>
        <p:spPr>
          <a:xfrm>
            <a:off x="7360920" y="5020056"/>
            <a:ext cx="457200" cy="457200"/>
          </a:xfrm>
          <a:prstGeom prst="rect">
            <a:avLst/>
          </a:prstGeom>
        </p:spPr>
      </p:pic>
      <p:sp>
        <p:nvSpPr>
          <p:cNvPr id="25" name="Rounded Rectangle 24"/>
          <p:cNvSpPr/>
          <p:nvPr/>
        </p:nvSpPr>
        <p:spPr>
          <a:xfrm>
            <a:off x="8229600" y="1280160"/>
            <a:ext cx="3410712" cy="502920"/>
          </a:xfrm>
          <a:prstGeom prst="roundRect">
            <a:avLst>
              <a:gd name="adj" fmla="val 20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a:solidFill>
                  <a:srgbClr val="FFFFFF"/>
                </a:solidFill>
                <a:latin typeface="Arial"/>
              </a:rPr>
              <a:t>Keep learning</a:t>
            </a:r>
          </a:p>
        </p:txBody>
      </p:sp>
      <p:sp>
        <p:nvSpPr>
          <p:cNvPr id="26" name="Rounded Rectangle 25"/>
          <p:cNvSpPr/>
          <p:nvPr/>
        </p:nvSpPr>
        <p:spPr>
          <a:xfrm>
            <a:off x="8229600" y="1920240"/>
            <a:ext cx="3410712" cy="1234440"/>
          </a:xfrm>
          <a:prstGeom prst="roundRect">
            <a:avLst>
              <a:gd name="adj" fmla="val 8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66760" y="2029968"/>
            <a:ext cx="3154680" cy="365760"/>
          </a:xfrm>
          <a:prstGeom prst="rect">
            <a:avLst/>
          </a:prstGeom>
          <a:noFill/>
        </p:spPr>
        <p:txBody>
          <a:bodyPr wrap="square" lIns="45720" rIns="45720" tIns="27432" bIns="27432" anchor="t">
            <a:spAutoFit/>
          </a:bodyPr>
          <a:lstStyle/>
          <a:p>
            <a:pPr algn="l"/>
            <a:r>
              <a:rPr sz="1500" b="1" i="0">
                <a:solidFill>
                  <a:srgbClr val="19226D"/>
                </a:solidFill>
                <a:latin typeface="Arial"/>
              </a:rPr>
              <a:t>Practise SQL</a:t>
            </a:r>
          </a:p>
        </p:txBody>
      </p:sp>
      <p:sp>
        <p:nvSpPr>
          <p:cNvPr id="28" name="TextBox 27"/>
          <p:cNvSpPr txBox="1"/>
          <p:nvPr/>
        </p:nvSpPr>
        <p:spPr>
          <a:xfrm>
            <a:off x="8366760" y="2450592"/>
            <a:ext cx="3154680" cy="685800"/>
          </a:xfrm>
          <a:prstGeom prst="rect">
            <a:avLst/>
          </a:prstGeom>
          <a:noFill/>
        </p:spPr>
        <p:txBody>
          <a:bodyPr wrap="square" lIns="45720" rIns="45720" tIns="27432" bIns="27432" anchor="t">
            <a:spAutoFit/>
          </a:bodyPr>
          <a:lstStyle/>
          <a:p>
            <a:pPr algn="l"/>
            <a:r>
              <a:rPr sz="1300" b="0" i="0">
                <a:solidFill>
                  <a:srgbClr val="0B0A0C"/>
                </a:solidFill>
                <a:latin typeface="Arial"/>
              </a:rPr>
              <a:t>JOIN, GROUP BY and window functions on real data</a:t>
            </a:r>
          </a:p>
        </p:txBody>
      </p:sp>
      <p:sp>
        <p:nvSpPr>
          <p:cNvPr id="29" name="Rounded Rectangle 28"/>
          <p:cNvSpPr/>
          <p:nvPr/>
        </p:nvSpPr>
        <p:spPr>
          <a:xfrm>
            <a:off x="8229600" y="3291840"/>
            <a:ext cx="3410712" cy="1234440"/>
          </a:xfrm>
          <a:prstGeom prst="roundRect">
            <a:avLst>
              <a:gd name="adj" fmla="val 8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66760" y="3401568"/>
            <a:ext cx="3154680" cy="365760"/>
          </a:xfrm>
          <a:prstGeom prst="rect">
            <a:avLst/>
          </a:prstGeom>
          <a:noFill/>
        </p:spPr>
        <p:txBody>
          <a:bodyPr wrap="square" lIns="45720" rIns="45720" tIns="27432" bIns="27432" anchor="t">
            <a:spAutoFit/>
          </a:bodyPr>
          <a:lstStyle/>
          <a:p>
            <a:pPr algn="l"/>
            <a:r>
              <a:rPr sz="1500" b="1" i="0">
                <a:solidFill>
                  <a:srgbClr val="19226D"/>
                </a:solidFill>
                <a:latin typeface="Arial"/>
              </a:rPr>
              <a:t>Build a small RAG app</a:t>
            </a:r>
          </a:p>
        </p:txBody>
      </p:sp>
      <p:sp>
        <p:nvSpPr>
          <p:cNvPr id="31" name="TextBox 30"/>
          <p:cNvSpPr txBox="1"/>
          <p:nvPr/>
        </p:nvSpPr>
        <p:spPr>
          <a:xfrm>
            <a:off x="8366760" y="3822191"/>
            <a:ext cx="3154680" cy="685800"/>
          </a:xfrm>
          <a:prstGeom prst="rect">
            <a:avLst/>
          </a:prstGeom>
          <a:noFill/>
        </p:spPr>
        <p:txBody>
          <a:bodyPr wrap="square" lIns="45720" rIns="45720" tIns="27432" bIns="27432" anchor="t">
            <a:spAutoFit/>
          </a:bodyPr>
          <a:lstStyle/>
          <a:p>
            <a:pPr algn="l"/>
            <a:r>
              <a:rPr sz="1300" b="0" i="0">
                <a:solidFill>
                  <a:srgbClr val="0B0A0C"/>
                </a:solidFill>
                <a:latin typeface="Arial"/>
              </a:rPr>
              <a:t>your own documents, with sources and a test set</a:t>
            </a:r>
          </a:p>
        </p:txBody>
      </p:sp>
      <p:sp>
        <p:nvSpPr>
          <p:cNvPr id="32" name="Rounded Rectangle 31"/>
          <p:cNvSpPr/>
          <p:nvPr/>
        </p:nvSpPr>
        <p:spPr>
          <a:xfrm>
            <a:off x="8229600" y="4663440"/>
            <a:ext cx="3410712" cy="1234440"/>
          </a:xfrm>
          <a:prstGeom prst="roundRect">
            <a:avLst>
              <a:gd name="adj" fmla="val 8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66760" y="4773168"/>
            <a:ext cx="3154680" cy="365760"/>
          </a:xfrm>
          <a:prstGeom prst="rect">
            <a:avLst/>
          </a:prstGeom>
          <a:noFill/>
        </p:spPr>
        <p:txBody>
          <a:bodyPr wrap="square" lIns="45720" rIns="45720" tIns="27432" bIns="27432" anchor="t">
            <a:spAutoFit/>
          </a:bodyPr>
          <a:lstStyle/>
          <a:p>
            <a:pPr algn="l"/>
            <a:r>
              <a:rPr sz="1500" b="1" i="0">
                <a:solidFill>
                  <a:srgbClr val="19226D"/>
                </a:solidFill>
                <a:latin typeface="Arial"/>
              </a:rPr>
              <a:t>Explore agents</a:t>
            </a:r>
          </a:p>
        </p:txBody>
      </p:sp>
      <p:sp>
        <p:nvSpPr>
          <p:cNvPr id="34" name="TextBox 33"/>
          <p:cNvSpPr txBox="1"/>
          <p:nvPr/>
        </p:nvSpPr>
        <p:spPr>
          <a:xfrm>
            <a:off x="8366760" y="5193792"/>
            <a:ext cx="3154680" cy="685800"/>
          </a:xfrm>
          <a:prstGeom prst="rect">
            <a:avLst/>
          </a:prstGeom>
          <a:noFill/>
        </p:spPr>
        <p:txBody>
          <a:bodyPr wrap="square" lIns="45720" rIns="45720" tIns="27432" bIns="27432" anchor="t">
            <a:spAutoFit/>
          </a:bodyPr>
          <a:lstStyle/>
          <a:p>
            <a:pPr algn="l"/>
            <a:r>
              <a:rPr sz="1300" b="0" i="0">
                <a:solidFill>
                  <a:srgbClr val="0B0A0C"/>
                </a:solidFill>
                <a:latin typeface="Arial"/>
              </a:rPr>
              <a:t>add a tool, add a guardrail, inspect the trace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9224" y="1463040"/>
            <a:ext cx="9601200" cy="1737360"/>
          </a:xfrm>
        </p:spPr>
        <p:txBody>
          <a:bodyPr/>
          <a:lstStyle/>
          <a:p>
            <a:r>
              <a:t>This afternoon: the project</a:t>
            </a:r>
          </a:p>
        </p:txBody>
      </p:sp>
      <p:sp>
        <p:nvSpPr>
          <p:cNvPr id="3" name="Text Placeholder 2"/>
          <p:cNvSpPr>
            <a:spLocks noGrp="1"/>
          </p:cNvSpPr>
          <p:nvPr>
            <p:ph type="body" idx="11" sz="quarter"/>
          </p:nvPr>
        </p:nvSpPr>
        <p:spPr>
          <a:xfrm>
            <a:off x="676656" y="3383280"/>
            <a:ext cx="7772400" cy="1097280"/>
          </a:xfrm>
        </p:spPr>
        <p:txBody>
          <a:bodyPr/>
          <a:lstStyle/>
          <a:p>
            <a:r>
              <a:rPr sz="2400"/>
              <a:t>What you will build, step by step.</a:t>
            </a:r>
          </a:p>
        </p:txBody>
      </p:sp>
      <p:sp>
        <p:nvSpPr>
          <p:cNvPr id="4" name="Text Placeholder 3"/>
          <p:cNvSpPr>
            <a:spLocks noGrp="1"/>
          </p:cNvSpPr>
          <p:nvPr>
            <p:ph type="body" idx="13" sz="quarter"/>
          </p:nvPr>
        </p:nvSpPr>
        <p:spPr>
          <a:xfrm>
            <a:off x="822960" y="5669280"/>
            <a:ext cx="6400800" cy="411480"/>
          </a:xfrm>
        </p:spPr>
        <p:txBody>
          <a:bodyPr/>
          <a:lstStyle/>
          <a:p>
            <a:r>
              <a:t>Part 6 of 6  ·  Labs 1 to 5</a:t>
            </a:r>
          </a:p>
        </p:txBody>
      </p:sp>
      <p:sp>
        <p:nvSpPr>
          <p:cNvPr id="5" name="Rectangle 4"/>
          <p:cNvSpPr/>
          <p:nvPr/>
        </p:nvSpPr>
        <p:spPr>
          <a:xfrm>
            <a:off x="822960"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72768"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22576"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072384"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822191" y="6263640"/>
            <a:ext cx="676656"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0" y="6263640"/>
            <a:ext cx="676656" cy="82296"/>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875520" y="4023360"/>
            <a:ext cx="1371600" cy="137160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cket_FFFFFF_2.0.png"/>
          <p:cNvPicPr>
            <a:picLocks noChangeAspect="1"/>
          </p:cNvPicPr>
          <p:nvPr/>
        </p:nvPicPr>
        <p:blipFill>
          <a:blip r:embed="rId3"/>
          <a:stretch>
            <a:fillRect/>
          </a:stretch>
        </p:blipFill>
        <p:spPr>
          <a:xfrm>
            <a:off x="10232136" y="4379976"/>
            <a:ext cx="658368" cy="658368"/>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afternoon: the project</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02920" y="1280160"/>
            <a:ext cx="2148840" cy="2286000"/>
          </a:xfrm>
          <a:prstGeom prst="roundRect">
            <a:avLst>
              <a:gd name="adj" fmla="val 8000"/>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spcAft>
                <a:spcPts val="600"/>
              </a:spcAft>
            </a:pPr>
            <a:r>
              <a:rPr sz="2400" b="1">
                <a:solidFill>
                  <a:srgbClr val="FFFFFF"/>
                </a:solidFill>
                <a:latin typeface="Arial"/>
              </a:rPr>
              <a:t>Lab 1</a:t>
            </a:r>
          </a:p>
          <a:p>
            <a:pPr algn="ctr">
              <a:spcAft>
                <a:spcPts val="600"/>
              </a:spcAft>
            </a:pPr>
            <a:r>
              <a:rPr sz="1600" b="1">
                <a:solidFill>
                  <a:srgbClr val="FFFFFF"/>
                </a:solidFill>
                <a:latin typeface="Arial"/>
              </a:rPr>
              <a:t>Data, ETL and SQL</a:t>
            </a:r>
          </a:p>
          <a:p>
            <a:pPr algn="ctr">
              <a:spcAft>
                <a:spcPts val="600"/>
              </a:spcAft>
            </a:pPr>
            <a:r>
              <a:rPr sz="1400" b="0">
                <a:solidFill>
                  <a:srgbClr val="FFFFFF"/>
                </a:solidFill>
                <a:latin typeface="Arial"/>
              </a:rPr>
              <a:t>45 min</a:t>
            </a:r>
          </a:p>
        </p:txBody>
      </p:sp>
      <p:pic>
        <p:nvPicPr>
          <p:cNvPr id="6" name="Picture 5" descr="database_FFFFFF_2.0.png"/>
          <p:cNvPicPr>
            <a:picLocks noChangeAspect="1"/>
          </p:cNvPicPr>
          <p:nvPr/>
        </p:nvPicPr>
        <p:blipFill>
          <a:blip r:embed="rId3"/>
          <a:stretch>
            <a:fillRect/>
          </a:stretch>
        </p:blipFill>
        <p:spPr>
          <a:xfrm>
            <a:off x="1307592" y="1463040"/>
            <a:ext cx="548640" cy="548640"/>
          </a:xfrm>
          <a:prstGeom prst="rect">
            <a:avLst/>
          </a:prstGeom>
        </p:spPr>
      </p:pic>
      <p:cxnSp>
        <p:nvCxnSpPr>
          <p:cNvPr id="7" name="Connector 6"/>
          <p:cNvCxnSpPr/>
          <p:nvPr/>
        </p:nvCxnSpPr>
        <p:spPr>
          <a:xfrm>
            <a:off x="2660904" y="2423160"/>
            <a:ext cx="128016"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70632" y="1280160"/>
            <a:ext cx="2148840" cy="2286000"/>
          </a:xfrm>
          <a:prstGeom prst="roundRect">
            <a:avLst>
              <a:gd name="adj" fmla="val 8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spcAft>
                <a:spcPts val="600"/>
              </a:spcAft>
            </a:pPr>
            <a:r>
              <a:rPr sz="2400" b="1">
                <a:solidFill>
                  <a:srgbClr val="FFFFFF"/>
                </a:solidFill>
                <a:latin typeface="Arial"/>
              </a:rPr>
              <a:t>Lab 2</a:t>
            </a:r>
          </a:p>
          <a:p>
            <a:pPr algn="ctr">
              <a:spcAft>
                <a:spcPts val="600"/>
              </a:spcAft>
            </a:pPr>
            <a:r>
              <a:rPr sz="1600" b="1">
                <a:solidFill>
                  <a:srgbClr val="FFFFFF"/>
                </a:solidFill>
                <a:latin typeface="Arial"/>
              </a:rPr>
              <a:t>Dashboard</a:t>
            </a:r>
          </a:p>
          <a:p>
            <a:pPr algn="ctr">
              <a:spcAft>
                <a:spcPts val="600"/>
              </a:spcAft>
            </a:pPr>
            <a:r>
              <a:rPr sz="1400" b="0">
                <a:solidFill>
                  <a:srgbClr val="FFFFFF"/>
                </a:solidFill>
                <a:latin typeface="Arial"/>
              </a:rPr>
              <a:t>25 min</a:t>
            </a:r>
          </a:p>
        </p:txBody>
      </p:sp>
      <p:pic>
        <p:nvPicPr>
          <p:cNvPr id="9" name="Picture 8" descr="chart-column_FFFFFF_2.0.png"/>
          <p:cNvPicPr>
            <a:picLocks noChangeAspect="1"/>
          </p:cNvPicPr>
          <p:nvPr/>
        </p:nvPicPr>
        <p:blipFill>
          <a:blip r:embed="rId4"/>
          <a:stretch>
            <a:fillRect/>
          </a:stretch>
        </p:blipFill>
        <p:spPr>
          <a:xfrm>
            <a:off x="3575304" y="1463040"/>
            <a:ext cx="548640" cy="548640"/>
          </a:xfrm>
          <a:prstGeom prst="rect">
            <a:avLst/>
          </a:prstGeom>
        </p:spPr>
      </p:pic>
      <p:cxnSp>
        <p:nvCxnSpPr>
          <p:cNvPr id="10" name="Connector 9"/>
          <p:cNvCxnSpPr/>
          <p:nvPr/>
        </p:nvCxnSpPr>
        <p:spPr>
          <a:xfrm>
            <a:off x="4928616" y="2423160"/>
            <a:ext cx="128016"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38344" y="1280160"/>
            <a:ext cx="2148840" cy="2286000"/>
          </a:xfrm>
          <a:prstGeom prst="roundRect">
            <a:avLst>
              <a:gd name="adj" fmla="val 8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spcAft>
                <a:spcPts val="600"/>
              </a:spcAft>
            </a:pPr>
            <a:r>
              <a:rPr sz="2400" b="1">
                <a:solidFill>
                  <a:srgbClr val="FFFFFF"/>
                </a:solidFill>
                <a:latin typeface="Arial"/>
              </a:rPr>
              <a:t>Lab 3</a:t>
            </a:r>
          </a:p>
          <a:p>
            <a:pPr algn="ctr">
              <a:spcAft>
                <a:spcPts val="600"/>
              </a:spcAft>
            </a:pPr>
            <a:r>
              <a:rPr sz="1600" b="1">
                <a:solidFill>
                  <a:srgbClr val="FFFFFF"/>
                </a:solidFill>
                <a:latin typeface="Arial"/>
              </a:rPr>
              <a:t>Embeddings and RAG</a:t>
            </a:r>
          </a:p>
          <a:p>
            <a:pPr algn="ctr">
              <a:spcAft>
                <a:spcPts val="600"/>
              </a:spcAft>
            </a:pPr>
            <a:r>
              <a:rPr sz="1400" b="0">
                <a:solidFill>
                  <a:srgbClr val="FFFFFF"/>
                </a:solidFill>
                <a:latin typeface="Arial"/>
              </a:rPr>
              <a:t>50 min</a:t>
            </a:r>
          </a:p>
        </p:txBody>
      </p:sp>
      <p:pic>
        <p:nvPicPr>
          <p:cNvPr id="12" name="Picture 11" descr="brain-circuit_FFFFFF_2.0.png"/>
          <p:cNvPicPr>
            <a:picLocks noChangeAspect="1"/>
          </p:cNvPicPr>
          <p:nvPr/>
        </p:nvPicPr>
        <p:blipFill>
          <a:blip r:embed="rId5"/>
          <a:stretch>
            <a:fillRect/>
          </a:stretch>
        </p:blipFill>
        <p:spPr>
          <a:xfrm>
            <a:off x="5843016" y="1463040"/>
            <a:ext cx="548640" cy="548640"/>
          </a:xfrm>
          <a:prstGeom prst="rect">
            <a:avLst/>
          </a:prstGeom>
        </p:spPr>
      </p:pic>
      <p:cxnSp>
        <p:nvCxnSpPr>
          <p:cNvPr id="13" name="Connector 12"/>
          <p:cNvCxnSpPr/>
          <p:nvPr/>
        </p:nvCxnSpPr>
        <p:spPr>
          <a:xfrm>
            <a:off x="7196327" y="2423160"/>
            <a:ext cx="128017"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06055" y="1280160"/>
            <a:ext cx="2148840" cy="2286000"/>
          </a:xfrm>
          <a:prstGeom prst="roundRect">
            <a:avLst>
              <a:gd name="adj" fmla="val 8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spcAft>
                <a:spcPts val="600"/>
              </a:spcAft>
            </a:pPr>
            <a:r>
              <a:rPr sz="2400" b="1">
                <a:solidFill>
                  <a:srgbClr val="FFFFFF"/>
                </a:solidFill>
                <a:latin typeface="Arial"/>
              </a:rPr>
              <a:t>Lab 4</a:t>
            </a:r>
          </a:p>
          <a:p>
            <a:pPr algn="ctr">
              <a:spcAft>
                <a:spcPts val="600"/>
              </a:spcAft>
            </a:pPr>
            <a:r>
              <a:rPr sz="1600" b="1">
                <a:solidFill>
                  <a:srgbClr val="FFFFFF"/>
                </a:solidFill>
                <a:latin typeface="Arial"/>
              </a:rPr>
              <a:t>Streamlit app</a:t>
            </a:r>
          </a:p>
          <a:p>
            <a:pPr algn="ctr">
              <a:spcAft>
                <a:spcPts val="600"/>
              </a:spcAft>
            </a:pPr>
            <a:r>
              <a:rPr sz="1400" b="0">
                <a:solidFill>
                  <a:srgbClr val="FFFFFF"/>
                </a:solidFill>
                <a:latin typeface="Arial"/>
              </a:rPr>
              <a:t>40 min</a:t>
            </a:r>
          </a:p>
        </p:txBody>
      </p:sp>
      <p:pic>
        <p:nvPicPr>
          <p:cNvPr id="15" name="Picture 14" descr="app-window_FFFFFF_2.0.png"/>
          <p:cNvPicPr>
            <a:picLocks noChangeAspect="1"/>
          </p:cNvPicPr>
          <p:nvPr/>
        </p:nvPicPr>
        <p:blipFill>
          <a:blip r:embed="rId6"/>
          <a:stretch>
            <a:fillRect/>
          </a:stretch>
        </p:blipFill>
        <p:spPr>
          <a:xfrm>
            <a:off x="8110727" y="1463040"/>
            <a:ext cx="548640" cy="548640"/>
          </a:xfrm>
          <a:prstGeom prst="rect">
            <a:avLst/>
          </a:prstGeom>
        </p:spPr>
      </p:pic>
      <p:cxnSp>
        <p:nvCxnSpPr>
          <p:cNvPr id="16" name="Connector 15"/>
          <p:cNvCxnSpPr/>
          <p:nvPr/>
        </p:nvCxnSpPr>
        <p:spPr>
          <a:xfrm>
            <a:off x="9464040" y="2423160"/>
            <a:ext cx="128015" cy="0"/>
          </a:xfrm>
          <a:prstGeom prst="line">
            <a:avLst/>
          </a:prstGeom>
          <a:ln w="317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73768" y="1280160"/>
            <a:ext cx="2148840" cy="2286000"/>
          </a:xfrm>
          <a:prstGeom prst="roundRect">
            <a:avLst>
              <a:gd name="adj" fmla="val 8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a:lstStyle/>
          <a:p>
            <a:pPr algn="ctr">
              <a:spcAft>
                <a:spcPts val="600"/>
              </a:spcAft>
            </a:pPr>
            <a:r>
              <a:rPr sz="2400" b="1">
                <a:solidFill>
                  <a:srgbClr val="FFFFFF"/>
                </a:solidFill>
                <a:latin typeface="Arial"/>
              </a:rPr>
              <a:t>Bonus</a:t>
            </a:r>
          </a:p>
          <a:p>
            <a:pPr algn="ctr">
              <a:spcAft>
                <a:spcPts val="600"/>
              </a:spcAft>
            </a:pPr>
            <a:r>
              <a:rPr sz="1600" b="1">
                <a:solidFill>
                  <a:srgbClr val="FFFFFF"/>
                </a:solidFill>
                <a:latin typeface="Arial"/>
              </a:rPr>
              <a:t>LangChain agent</a:t>
            </a:r>
          </a:p>
          <a:p>
            <a:pPr algn="ctr">
              <a:spcAft>
                <a:spcPts val="600"/>
              </a:spcAft>
            </a:pPr>
            <a:r>
              <a:rPr sz="1400" b="0">
                <a:solidFill>
                  <a:srgbClr val="FFFFFF"/>
                </a:solidFill>
                <a:latin typeface="Arial"/>
              </a:rPr>
              <a:t>+30 to 45 min</a:t>
            </a:r>
          </a:p>
        </p:txBody>
      </p:sp>
      <p:pic>
        <p:nvPicPr>
          <p:cNvPr id="18" name="Picture 17" descr="bot_FFFFFF_2.0.png"/>
          <p:cNvPicPr>
            <a:picLocks noChangeAspect="1"/>
          </p:cNvPicPr>
          <p:nvPr/>
        </p:nvPicPr>
        <p:blipFill>
          <a:blip r:embed="rId7"/>
          <a:stretch>
            <a:fillRect/>
          </a:stretch>
        </p:blipFill>
        <p:spPr>
          <a:xfrm>
            <a:off x="10378440" y="1463040"/>
            <a:ext cx="548640" cy="548640"/>
          </a:xfrm>
          <a:prstGeom prst="rect">
            <a:avLst/>
          </a:prstGeom>
        </p:spPr>
      </p:pic>
      <p:sp>
        <p:nvSpPr>
          <p:cNvPr id="19" name="Rounded Rectangle 18"/>
          <p:cNvSpPr/>
          <p:nvPr/>
        </p:nvSpPr>
        <p:spPr>
          <a:xfrm>
            <a:off x="548640" y="3931920"/>
            <a:ext cx="5394960" cy="1737360"/>
          </a:xfrm>
          <a:prstGeom prst="roundRect">
            <a:avLst>
              <a:gd name="adj" fmla="val 8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600"/>
              </a:spcAft>
            </a:pPr>
            <a:r>
              <a:rPr sz="1500" b="1">
                <a:solidFill>
                  <a:srgbClr val="19226D"/>
                </a:solidFill>
                <a:latin typeface="Arial"/>
              </a:rPr>
              <a:t>You work with</a:t>
            </a:r>
          </a:p>
          <a:p>
            <a:pPr algn="l">
              <a:spcAft>
                <a:spcPts val="600"/>
              </a:spcAft>
            </a:pPr>
            <a:r>
              <a:rPr sz="1400" b="0">
                <a:solidFill>
                  <a:srgbClr val="19226D"/>
                </a:solidFill>
                <a:latin typeface="Arial"/>
              </a:rPr>
              <a:t>a real Kaggle customer-support dataset (600 tickets), a team database on Supabase, and a separate knowledge base of 18 fictional articles</a:t>
            </a:r>
          </a:p>
        </p:txBody>
      </p:sp>
      <p:sp>
        <p:nvSpPr>
          <p:cNvPr id="20" name="Rounded Rectangle 19"/>
          <p:cNvSpPr/>
          <p:nvPr/>
        </p:nvSpPr>
        <p:spPr>
          <a:xfrm>
            <a:off x="6245352" y="3931920"/>
            <a:ext cx="5394960" cy="1737360"/>
          </a:xfrm>
          <a:prstGeom prst="roundRect">
            <a:avLst>
              <a:gd name="adj" fmla="val 8000"/>
            </a:avLst>
          </a:prstGeom>
          <a:solidFill>
            <a:srgbClr val="E9F6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600"/>
              </a:spcAft>
            </a:pPr>
            <a:r>
              <a:rPr sz="1500" b="1">
                <a:solidFill>
                  <a:srgbClr val="19226D"/>
                </a:solidFill>
                <a:latin typeface="Arial"/>
              </a:rPr>
              <a:t>Each lab shows</a:t>
            </a:r>
          </a:p>
          <a:p>
            <a:pPr algn="l">
              <a:spcAft>
                <a:spcPts val="600"/>
              </a:spcAft>
            </a:pPr>
            <a:r>
              <a:rPr sz="1400" b="0">
                <a:solidFill>
                  <a:srgbClr val="19226D"/>
                </a:solidFill>
                <a:latin typeface="Arial"/>
              </a:rPr>
              <a:t>what the code does, why it is needed, and what you should see. Short coding tasks (TODOs) come with hints.</a:t>
            </a:r>
          </a:p>
        </p:txBody>
      </p:sp>
      <p:sp>
        <p:nvSpPr>
          <p:cNvPr id="21" name="Rounded Rectangle 20"/>
          <p:cNvSpPr/>
          <p:nvPr/>
        </p:nvSpPr>
        <p:spPr>
          <a:xfrm>
            <a:off x="548640" y="5852160"/>
            <a:ext cx="11091672" cy="502920"/>
          </a:xfrm>
          <a:prstGeom prst="roundRect">
            <a:avLst>
              <a:gd name="adj" fmla="val 20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Arial"/>
              </a:rPr>
              <a:t>After the labs: a short review where you show your database, charts and AI answers.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toolbox this afternoon</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TextBox 4"/>
          <p:cNvSpPr txBox="1"/>
          <p:nvPr/>
        </p:nvSpPr>
        <p:spPr>
          <a:xfrm>
            <a:off x="548640" y="1097280"/>
            <a:ext cx="10972800" cy="365760"/>
          </a:xfrm>
          <a:prstGeom prst="rect">
            <a:avLst/>
          </a:prstGeom>
          <a:noFill/>
        </p:spPr>
        <p:txBody>
          <a:bodyPr wrap="square" lIns="45720" rIns="45720" tIns="27432" bIns="27432" anchor="t">
            <a:spAutoFit/>
          </a:bodyPr>
          <a:lstStyle/>
          <a:p>
            <a:pPr algn="l"/>
            <a:r>
              <a:rPr sz="1300" b="1" i="0">
                <a:solidFill>
                  <a:srgbClr val="034EA2"/>
                </a:solidFill>
                <a:latin typeface="Arial"/>
              </a:rPr>
              <a:t>DATA</a:t>
            </a:r>
          </a:p>
        </p:txBody>
      </p:sp>
      <p:sp>
        <p:nvSpPr>
          <p:cNvPr id="6" name="Rounded Rectangle 5"/>
          <p:cNvSpPr/>
          <p:nvPr/>
        </p:nvSpPr>
        <p:spPr>
          <a:xfrm>
            <a:off x="548640" y="146304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ogo_python_3776AB.png"/>
          <p:cNvPicPr>
            <a:picLocks noChangeAspect="1"/>
          </p:cNvPicPr>
          <p:nvPr/>
        </p:nvPicPr>
        <p:blipFill>
          <a:blip r:embed="rId3"/>
          <a:stretch>
            <a:fillRect/>
          </a:stretch>
        </p:blipFill>
        <p:spPr>
          <a:xfrm>
            <a:off x="1188719" y="1645920"/>
            <a:ext cx="822960" cy="822960"/>
          </a:xfrm>
          <a:prstGeom prst="rect">
            <a:avLst/>
          </a:prstGeom>
        </p:spPr>
      </p:pic>
      <p:sp>
        <p:nvSpPr>
          <p:cNvPr id="8" name="TextBox 7"/>
          <p:cNvSpPr txBox="1"/>
          <p:nvPr/>
        </p:nvSpPr>
        <p:spPr>
          <a:xfrm>
            <a:off x="640080" y="256032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Python</a:t>
            </a:r>
          </a:p>
        </p:txBody>
      </p:sp>
      <p:sp>
        <p:nvSpPr>
          <p:cNvPr id="9" name="TextBox 8"/>
          <p:cNvSpPr txBox="1"/>
          <p:nvPr/>
        </p:nvSpPr>
        <p:spPr>
          <a:xfrm>
            <a:off x="640080" y="292608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the language of all five labs</a:t>
            </a:r>
          </a:p>
        </p:txBody>
      </p:sp>
      <p:sp>
        <p:nvSpPr>
          <p:cNvPr id="10" name="Rounded Rectangle 9"/>
          <p:cNvSpPr/>
          <p:nvPr/>
        </p:nvSpPr>
        <p:spPr>
          <a:xfrm>
            <a:off x="2798064" y="146304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o_pandas_150458.png"/>
          <p:cNvPicPr>
            <a:picLocks noChangeAspect="1"/>
          </p:cNvPicPr>
          <p:nvPr/>
        </p:nvPicPr>
        <p:blipFill>
          <a:blip r:embed="rId4"/>
          <a:stretch>
            <a:fillRect/>
          </a:stretch>
        </p:blipFill>
        <p:spPr>
          <a:xfrm>
            <a:off x="3438144" y="1645920"/>
            <a:ext cx="822960" cy="822960"/>
          </a:xfrm>
          <a:prstGeom prst="rect">
            <a:avLst/>
          </a:prstGeom>
        </p:spPr>
      </p:pic>
      <p:sp>
        <p:nvSpPr>
          <p:cNvPr id="12" name="TextBox 11"/>
          <p:cNvSpPr txBox="1"/>
          <p:nvPr/>
        </p:nvSpPr>
        <p:spPr>
          <a:xfrm>
            <a:off x="2889504" y="256032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pandas</a:t>
            </a:r>
          </a:p>
        </p:txBody>
      </p:sp>
      <p:sp>
        <p:nvSpPr>
          <p:cNvPr id="13" name="TextBox 12"/>
          <p:cNvSpPr txBox="1"/>
          <p:nvPr/>
        </p:nvSpPr>
        <p:spPr>
          <a:xfrm>
            <a:off x="2889504" y="292608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clean tables in memory</a:t>
            </a:r>
          </a:p>
        </p:txBody>
      </p:sp>
      <p:sp>
        <p:nvSpPr>
          <p:cNvPr id="14" name="Rounded Rectangle 13"/>
          <p:cNvSpPr/>
          <p:nvPr/>
        </p:nvSpPr>
        <p:spPr>
          <a:xfrm>
            <a:off x="5047488" y="146304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ogo_postgresql_4169E1.png"/>
          <p:cNvPicPr>
            <a:picLocks noChangeAspect="1"/>
          </p:cNvPicPr>
          <p:nvPr/>
        </p:nvPicPr>
        <p:blipFill>
          <a:blip r:embed="rId5"/>
          <a:stretch>
            <a:fillRect/>
          </a:stretch>
        </p:blipFill>
        <p:spPr>
          <a:xfrm>
            <a:off x="5687568" y="1645920"/>
            <a:ext cx="822960" cy="822960"/>
          </a:xfrm>
          <a:prstGeom prst="rect">
            <a:avLst/>
          </a:prstGeom>
        </p:spPr>
      </p:pic>
      <p:sp>
        <p:nvSpPr>
          <p:cNvPr id="16" name="TextBox 15"/>
          <p:cNvSpPr txBox="1"/>
          <p:nvPr/>
        </p:nvSpPr>
        <p:spPr>
          <a:xfrm>
            <a:off x="5138927" y="256032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PostgreSQL</a:t>
            </a:r>
          </a:p>
        </p:txBody>
      </p:sp>
      <p:sp>
        <p:nvSpPr>
          <p:cNvPr id="17" name="TextBox 16"/>
          <p:cNvSpPr txBox="1"/>
          <p:nvPr/>
        </p:nvSpPr>
        <p:spPr>
          <a:xfrm>
            <a:off x="5138927" y="292608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the relational database</a:t>
            </a:r>
          </a:p>
        </p:txBody>
      </p:sp>
      <p:sp>
        <p:nvSpPr>
          <p:cNvPr id="18" name="Rounded Rectangle 17"/>
          <p:cNvSpPr/>
          <p:nvPr/>
        </p:nvSpPr>
        <p:spPr>
          <a:xfrm>
            <a:off x="7296912" y="146304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ogo_supabase_3FCF8E.png"/>
          <p:cNvPicPr>
            <a:picLocks noChangeAspect="1"/>
          </p:cNvPicPr>
          <p:nvPr/>
        </p:nvPicPr>
        <p:blipFill>
          <a:blip r:embed="rId6"/>
          <a:stretch>
            <a:fillRect/>
          </a:stretch>
        </p:blipFill>
        <p:spPr>
          <a:xfrm>
            <a:off x="7936992" y="1645920"/>
            <a:ext cx="822960" cy="822960"/>
          </a:xfrm>
          <a:prstGeom prst="rect">
            <a:avLst/>
          </a:prstGeom>
        </p:spPr>
      </p:pic>
      <p:sp>
        <p:nvSpPr>
          <p:cNvPr id="20" name="TextBox 19"/>
          <p:cNvSpPr txBox="1"/>
          <p:nvPr/>
        </p:nvSpPr>
        <p:spPr>
          <a:xfrm>
            <a:off x="7388352" y="256032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Supabase</a:t>
            </a:r>
          </a:p>
        </p:txBody>
      </p:sp>
      <p:sp>
        <p:nvSpPr>
          <p:cNvPr id="21" name="TextBox 20"/>
          <p:cNvSpPr txBox="1"/>
          <p:nvPr/>
        </p:nvSpPr>
        <p:spPr>
          <a:xfrm>
            <a:off x="7388352" y="292608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hosted Postgres with pgvector</a:t>
            </a:r>
          </a:p>
        </p:txBody>
      </p:sp>
      <p:sp>
        <p:nvSpPr>
          <p:cNvPr id="22" name="Rounded Rectangle 21"/>
          <p:cNvSpPr/>
          <p:nvPr/>
        </p:nvSpPr>
        <p:spPr>
          <a:xfrm>
            <a:off x="9546336" y="146304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ogo_kaggle_20BEFF.png"/>
          <p:cNvPicPr>
            <a:picLocks noChangeAspect="1"/>
          </p:cNvPicPr>
          <p:nvPr/>
        </p:nvPicPr>
        <p:blipFill>
          <a:blip r:embed="rId7"/>
          <a:stretch>
            <a:fillRect/>
          </a:stretch>
        </p:blipFill>
        <p:spPr>
          <a:xfrm>
            <a:off x="10186415" y="1645920"/>
            <a:ext cx="822960" cy="822960"/>
          </a:xfrm>
          <a:prstGeom prst="rect">
            <a:avLst/>
          </a:prstGeom>
        </p:spPr>
      </p:pic>
      <p:sp>
        <p:nvSpPr>
          <p:cNvPr id="24" name="TextBox 23"/>
          <p:cNvSpPr txBox="1"/>
          <p:nvPr/>
        </p:nvSpPr>
        <p:spPr>
          <a:xfrm>
            <a:off x="9637776" y="256032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Kaggle</a:t>
            </a:r>
          </a:p>
        </p:txBody>
      </p:sp>
      <p:sp>
        <p:nvSpPr>
          <p:cNvPr id="25" name="TextBox 24"/>
          <p:cNvSpPr txBox="1"/>
          <p:nvPr/>
        </p:nvSpPr>
        <p:spPr>
          <a:xfrm>
            <a:off x="9637776" y="292608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source of the ticket data</a:t>
            </a:r>
          </a:p>
        </p:txBody>
      </p:sp>
      <p:sp>
        <p:nvSpPr>
          <p:cNvPr id="26" name="TextBox 25"/>
          <p:cNvSpPr txBox="1"/>
          <p:nvPr/>
        </p:nvSpPr>
        <p:spPr>
          <a:xfrm>
            <a:off x="548640" y="3547872"/>
            <a:ext cx="10972800" cy="320040"/>
          </a:xfrm>
          <a:prstGeom prst="rect">
            <a:avLst/>
          </a:prstGeom>
          <a:noFill/>
        </p:spPr>
        <p:txBody>
          <a:bodyPr wrap="square" lIns="45720" rIns="45720" tIns="27432" bIns="27432" anchor="t">
            <a:spAutoFit/>
          </a:bodyPr>
          <a:lstStyle/>
          <a:p>
            <a:pPr algn="l"/>
            <a:r>
              <a:rPr sz="1300" b="1" i="0">
                <a:solidFill>
                  <a:srgbClr val="50B848"/>
                </a:solidFill>
                <a:latin typeface="Arial"/>
              </a:rPr>
              <a:t>BUILD, SHARE AND AI</a:t>
            </a:r>
          </a:p>
        </p:txBody>
      </p:sp>
      <p:sp>
        <p:nvSpPr>
          <p:cNvPr id="27" name="Rounded Rectangle 26"/>
          <p:cNvSpPr/>
          <p:nvPr/>
        </p:nvSpPr>
        <p:spPr>
          <a:xfrm>
            <a:off x="548640" y="388620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go_plotly_3F4F75.png"/>
          <p:cNvPicPr>
            <a:picLocks noChangeAspect="1"/>
          </p:cNvPicPr>
          <p:nvPr/>
        </p:nvPicPr>
        <p:blipFill>
          <a:blip r:embed="rId8"/>
          <a:stretch>
            <a:fillRect/>
          </a:stretch>
        </p:blipFill>
        <p:spPr>
          <a:xfrm>
            <a:off x="1188719" y="4069080"/>
            <a:ext cx="822960" cy="822960"/>
          </a:xfrm>
          <a:prstGeom prst="rect">
            <a:avLst/>
          </a:prstGeom>
        </p:spPr>
      </p:pic>
      <p:sp>
        <p:nvSpPr>
          <p:cNvPr id="29" name="TextBox 28"/>
          <p:cNvSpPr txBox="1"/>
          <p:nvPr/>
        </p:nvSpPr>
        <p:spPr>
          <a:xfrm>
            <a:off x="640080" y="498348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Plotly</a:t>
            </a:r>
          </a:p>
        </p:txBody>
      </p:sp>
      <p:sp>
        <p:nvSpPr>
          <p:cNvPr id="30" name="TextBox 29"/>
          <p:cNvSpPr txBox="1"/>
          <p:nvPr/>
        </p:nvSpPr>
        <p:spPr>
          <a:xfrm>
            <a:off x="640080" y="534924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interactive charts</a:t>
            </a:r>
          </a:p>
        </p:txBody>
      </p:sp>
      <p:sp>
        <p:nvSpPr>
          <p:cNvPr id="31" name="Rounded Rectangle 30"/>
          <p:cNvSpPr/>
          <p:nvPr/>
        </p:nvSpPr>
        <p:spPr>
          <a:xfrm>
            <a:off x="2798064" y="388620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logo_streamlit_FF4B4B.png"/>
          <p:cNvPicPr>
            <a:picLocks noChangeAspect="1"/>
          </p:cNvPicPr>
          <p:nvPr/>
        </p:nvPicPr>
        <p:blipFill>
          <a:blip r:embed="rId9"/>
          <a:stretch>
            <a:fillRect/>
          </a:stretch>
        </p:blipFill>
        <p:spPr>
          <a:xfrm>
            <a:off x="3438144" y="4069080"/>
            <a:ext cx="822960" cy="822960"/>
          </a:xfrm>
          <a:prstGeom prst="rect">
            <a:avLst/>
          </a:prstGeom>
        </p:spPr>
      </p:pic>
      <p:sp>
        <p:nvSpPr>
          <p:cNvPr id="33" name="TextBox 32"/>
          <p:cNvSpPr txBox="1"/>
          <p:nvPr/>
        </p:nvSpPr>
        <p:spPr>
          <a:xfrm>
            <a:off x="2889504" y="498348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Streamlit</a:t>
            </a:r>
          </a:p>
        </p:txBody>
      </p:sp>
      <p:sp>
        <p:nvSpPr>
          <p:cNvPr id="34" name="TextBox 33"/>
          <p:cNvSpPr txBox="1"/>
          <p:nvPr/>
        </p:nvSpPr>
        <p:spPr>
          <a:xfrm>
            <a:off x="2889504" y="534924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a script becomes a web app</a:t>
            </a:r>
          </a:p>
        </p:txBody>
      </p:sp>
      <p:sp>
        <p:nvSpPr>
          <p:cNvPr id="35" name="Rounded Rectangle 34"/>
          <p:cNvSpPr/>
          <p:nvPr/>
        </p:nvSpPr>
        <p:spPr>
          <a:xfrm>
            <a:off x="5047488" y="388620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ogo_googlecolab_F9AB00.png"/>
          <p:cNvPicPr>
            <a:picLocks noChangeAspect="1"/>
          </p:cNvPicPr>
          <p:nvPr/>
        </p:nvPicPr>
        <p:blipFill>
          <a:blip r:embed="rId10"/>
          <a:stretch>
            <a:fillRect/>
          </a:stretch>
        </p:blipFill>
        <p:spPr>
          <a:xfrm>
            <a:off x="5687568" y="4069080"/>
            <a:ext cx="822960" cy="822960"/>
          </a:xfrm>
          <a:prstGeom prst="rect">
            <a:avLst/>
          </a:prstGeom>
        </p:spPr>
      </p:pic>
      <p:sp>
        <p:nvSpPr>
          <p:cNvPr id="37" name="TextBox 36"/>
          <p:cNvSpPr txBox="1"/>
          <p:nvPr/>
        </p:nvSpPr>
        <p:spPr>
          <a:xfrm>
            <a:off x="5138927" y="498348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Google Colab</a:t>
            </a:r>
          </a:p>
        </p:txBody>
      </p:sp>
      <p:sp>
        <p:nvSpPr>
          <p:cNvPr id="38" name="TextBox 37"/>
          <p:cNvSpPr txBox="1"/>
          <p:nvPr/>
        </p:nvSpPr>
        <p:spPr>
          <a:xfrm>
            <a:off x="5138927" y="534924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runs the notebooks in your browser</a:t>
            </a:r>
          </a:p>
        </p:txBody>
      </p:sp>
      <p:sp>
        <p:nvSpPr>
          <p:cNvPr id="39" name="Rounded Rectangle 38"/>
          <p:cNvSpPr/>
          <p:nvPr/>
        </p:nvSpPr>
        <p:spPr>
          <a:xfrm>
            <a:off x="7296912" y="388620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ogo_openai_412991.png"/>
          <p:cNvPicPr>
            <a:picLocks noChangeAspect="1"/>
          </p:cNvPicPr>
          <p:nvPr/>
        </p:nvPicPr>
        <p:blipFill>
          <a:blip r:embed="rId11"/>
          <a:stretch>
            <a:fillRect/>
          </a:stretch>
        </p:blipFill>
        <p:spPr>
          <a:xfrm>
            <a:off x="7936992" y="4069080"/>
            <a:ext cx="822960" cy="822960"/>
          </a:xfrm>
          <a:prstGeom prst="rect">
            <a:avLst/>
          </a:prstGeom>
        </p:spPr>
      </p:pic>
      <p:sp>
        <p:nvSpPr>
          <p:cNvPr id="41" name="TextBox 40"/>
          <p:cNvSpPr txBox="1"/>
          <p:nvPr/>
        </p:nvSpPr>
        <p:spPr>
          <a:xfrm>
            <a:off x="7388352" y="498348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OpenAI</a:t>
            </a:r>
          </a:p>
        </p:txBody>
      </p:sp>
      <p:sp>
        <p:nvSpPr>
          <p:cNvPr id="42" name="TextBox 41"/>
          <p:cNvSpPr txBox="1"/>
          <p:nvPr/>
        </p:nvSpPr>
        <p:spPr>
          <a:xfrm>
            <a:off x="7388352" y="534924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embeddings and the LLM</a:t>
            </a:r>
          </a:p>
        </p:txBody>
      </p:sp>
      <p:sp>
        <p:nvSpPr>
          <p:cNvPr id="43" name="Rounded Rectangle 42"/>
          <p:cNvSpPr/>
          <p:nvPr/>
        </p:nvSpPr>
        <p:spPr>
          <a:xfrm>
            <a:off x="9546336" y="3886200"/>
            <a:ext cx="2103120" cy="196596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ogo_langchain_1C3C3C.png"/>
          <p:cNvPicPr>
            <a:picLocks noChangeAspect="1"/>
          </p:cNvPicPr>
          <p:nvPr/>
        </p:nvPicPr>
        <p:blipFill>
          <a:blip r:embed="rId12"/>
          <a:stretch>
            <a:fillRect/>
          </a:stretch>
        </p:blipFill>
        <p:spPr>
          <a:xfrm>
            <a:off x="10186415" y="4069080"/>
            <a:ext cx="822960" cy="822960"/>
          </a:xfrm>
          <a:prstGeom prst="rect">
            <a:avLst/>
          </a:prstGeom>
        </p:spPr>
      </p:pic>
      <p:sp>
        <p:nvSpPr>
          <p:cNvPr id="45" name="TextBox 44"/>
          <p:cNvSpPr txBox="1"/>
          <p:nvPr/>
        </p:nvSpPr>
        <p:spPr>
          <a:xfrm>
            <a:off x="9637776" y="4983480"/>
            <a:ext cx="1920240" cy="365760"/>
          </a:xfrm>
          <a:prstGeom prst="rect">
            <a:avLst/>
          </a:prstGeom>
          <a:noFill/>
        </p:spPr>
        <p:txBody>
          <a:bodyPr wrap="square" lIns="45720" rIns="45720" tIns="27432" bIns="27432" anchor="t">
            <a:spAutoFit/>
          </a:bodyPr>
          <a:lstStyle/>
          <a:p>
            <a:pPr algn="ctr"/>
            <a:r>
              <a:rPr sz="1700" b="1" i="0">
                <a:solidFill>
                  <a:srgbClr val="0B0A0C"/>
                </a:solidFill>
                <a:latin typeface="Arial"/>
              </a:rPr>
              <a:t>LangChain</a:t>
            </a:r>
          </a:p>
        </p:txBody>
      </p:sp>
      <p:sp>
        <p:nvSpPr>
          <p:cNvPr id="46" name="TextBox 45"/>
          <p:cNvSpPr txBox="1"/>
          <p:nvPr/>
        </p:nvSpPr>
        <p:spPr>
          <a:xfrm>
            <a:off x="9637776" y="5349240"/>
            <a:ext cx="1920240" cy="457200"/>
          </a:xfrm>
          <a:prstGeom prst="rect">
            <a:avLst/>
          </a:prstGeom>
          <a:noFill/>
        </p:spPr>
        <p:txBody>
          <a:bodyPr wrap="square" lIns="45720" rIns="45720" tIns="27432" bIns="27432" anchor="t">
            <a:spAutoFit/>
          </a:bodyPr>
          <a:lstStyle/>
          <a:p>
            <a:pPr algn="ctr"/>
            <a:r>
              <a:rPr sz="1200" b="0" i="0">
                <a:solidFill>
                  <a:srgbClr val="5F6B7A"/>
                </a:solidFill>
                <a:latin typeface="Arial"/>
              </a:rPr>
              <a:t>the agent framework (bonus)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1 · Data ingestion, ETL and SQL</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3200400" cy="5120640"/>
          </a:xfrm>
          <a:prstGeom prst="roundRect">
            <a:avLst>
              <a:gd name="adj" fmla="val 5000"/>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1000"/>
              </a:spcAft>
            </a:pPr>
            <a:r>
              <a:rPr sz="4000" b="1">
                <a:solidFill>
                  <a:srgbClr val="FFFFFF"/>
                </a:solidFill>
                <a:latin typeface="Arial"/>
              </a:rPr>
              <a:t>Lab 1</a:t>
            </a:r>
          </a:p>
          <a:p>
            <a:pPr algn="ctr">
              <a:spcAft>
                <a:spcPts val="1000"/>
              </a:spcAft>
            </a:pPr>
            <a:r>
              <a:rPr sz="2100" b="1">
                <a:solidFill>
                  <a:srgbClr val="FFFFFF"/>
                </a:solidFill>
                <a:latin typeface="Arial"/>
              </a:rPr>
              <a:t>Data ingestion, ETL and SQL</a:t>
            </a:r>
          </a:p>
          <a:p>
            <a:pPr algn="ctr">
              <a:spcAft>
                <a:spcPts val="1000"/>
              </a:spcAft>
            </a:pPr>
            <a:r>
              <a:rPr sz="1600" b="0">
                <a:solidFill>
                  <a:srgbClr val="FFFFFF"/>
                </a:solidFill>
                <a:latin typeface="Arial"/>
              </a:rPr>
              <a:t>45 minutes</a:t>
            </a:r>
          </a:p>
        </p:txBody>
      </p:sp>
      <p:pic>
        <p:nvPicPr>
          <p:cNvPr id="6" name="Picture 5" descr="database_FFFFFF_2.0.png"/>
          <p:cNvPicPr>
            <a:picLocks noChangeAspect="1"/>
          </p:cNvPicPr>
          <p:nvPr/>
        </p:nvPicPr>
        <p:blipFill>
          <a:blip r:embed="rId3"/>
          <a:stretch>
            <a:fillRect/>
          </a:stretch>
        </p:blipFill>
        <p:spPr>
          <a:xfrm>
            <a:off x="1691640" y="1508760"/>
            <a:ext cx="914400" cy="914400"/>
          </a:xfrm>
          <a:prstGeom prst="rect">
            <a:avLst/>
          </a:prstGeom>
        </p:spPr>
      </p:pic>
      <p:sp>
        <p:nvSpPr>
          <p:cNvPr id="7" name="Rounded Rectangle 6"/>
          <p:cNvSpPr/>
          <p:nvPr/>
        </p:nvSpPr>
        <p:spPr>
          <a:xfrm>
            <a:off x="658368"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o_python_3776AB.png"/>
          <p:cNvPicPr>
            <a:picLocks noChangeAspect="1"/>
          </p:cNvPicPr>
          <p:nvPr/>
        </p:nvPicPr>
        <p:blipFill>
          <a:blip r:embed="rId4"/>
          <a:stretch>
            <a:fillRect/>
          </a:stretch>
        </p:blipFill>
        <p:spPr>
          <a:xfrm>
            <a:off x="768096" y="5550408"/>
            <a:ext cx="457200" cy="457200"/>
          </a:xfrm>
          <a:prstGeom prst="rect">
            <a:avLst/>
          </a:prstGeom>
        </p:spPr>
      </p:pic>
      <p:sp>
        <p:nvSpPr>
          <p:cNvPr id="9" name="Rounded Rectangle 8"/>
          <p:cNvSpPr/>
          <p:nvPr/>
        </p:nvSpPr>
        <p:spPr>
          <a:xfrm>
            <a:off x="1426464"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o_pandas_150458.png"/>
          <p:cNvPicPr>
            <a:picLocks noChangeAspect="1"/>
          </p:cNvPicPr>
          <p:nvPr/>
        </p:nvPicPr>
        <p:blipFill>
          <a:blip r:embed="rId5"/>
          <a:stretch>
            <a:fillRect/>
          </a:stretch>
        </p:blipFill>
        <p:spPr>
          <a:xfrm>
            <a:off x="1536192" y="5550408"/>
            <a:ext cx="457200" cy="457200"/>
          </a:xfrm>
          <a:prstGeom prst="rect">
            <a:avLst/>
          </a:prstGeom>
        </p:spPr>
      </p:pic>
      <p:sp>
        <p:nvSpPr>
          <p:cNvPr id="11" name="Rounded Rectangle 10"/>
          <p:cNvSpPr/>
          <p:nvPr/>
        </p:nvSpPr>
        <p:spPr>
          <a:xfrm>
            <a:off x="2194560"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go_postgresql_4169E1.png"/>
          <p:cNvPicPr>
            <a:picLocks noChangeAspect="1"/>
          </p:cNvPicPr>
          <p:nvPr/>
        </p:nvPicPr>
        <p:blipFill>
          <a:blip r:embed="rId6"/>
          <a:stretch>
            <a:fillRect/>
          </a:stretch>
        </p:blipFill>
        <p:spPr>
          <a:xfrm>
            <a:off x="2304288" y="5550408"/>
            <a:ext cx="457200" cy="457200"/>
          </a:xfrm>
          <a:prstGeom prst="rect">
            <a:avLst/>
          </a:prstGeom>
        </p:spPr>
      </p:pic>
      <p:sp>
        <p:nvSpPr>
          <p:cNvPr id="13" name="Rounded Rectangle 12"/>
          <p:cNvSpPr/>
          <p:nvPr/>
        </p:nvSpPr>
        <p:spPr>
          <a:xfrm>
            <a:off x="2962656"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ogo_supabase_3FCF8E.png"/>
          <p:cNvPicPr>
            <a:picLocks noChangeAspect="1"/>
          </p:cNvPicPr>
          <p:nvPr/>
        </p:nvPicPr>
        <p:blipFill>
          <a:blip r:embed="rId7"/>
          <a:stretch>
            <a:fillRect/>
          </a:stretch>
        </p:blipFill>
        <p:spPr>
          <a:xfrm>
            <a:off x="3072384" y="5550408"/>
            <a:ext cx="457200" cy="457200"/>
          </a:xfrm>
          <a:prstGeom prst="rect">
            <a:avLst/>
          </a:prstGeom>
        </p:spPr>
      </p:pic>
      <p:sp>
        <p:nvSpPr>
          <p:cNvPr id="15" name="TextBox 14"/>
          <p:cNvSpPr txBox="1"/>
          <p:nvPr/>
        </p:nvSpPr>
        <p:spPr>
          <a:xfrm>
            <a:off x="4023360" y="1143000"/>
            <a:ext cx="7589520" cy="365760"/>
          </a:xfrm>
          <a:prstGeom prst="rect">
            <a:avLst/>
          </a:prstGeom>
          <a:noFill/>
        </p:spPr>
        <p:txBody>
          <a:bodyPr wrap="square" lIns="45720" rIns="45720" tIns="27432" bIns="27432" anchor="t">
            <a:spAutoFit/>
          </a:bodyPr>
          <a:lstStyle/>
          <a:p>
            <a:pPr algn="l"/>
            <a:r>
              <a:rPr sz="1300" b="1" i="0">
                <a:solidFill>
                  <a:srgbClr val="33B2C1"/>
                </a:solidFill>
                <a:latin typeface="Arial"/>
              </a:rPr>
              <a:t>YOU BUILD</a:t>
            </a:r>
          </a:p>
        </p:txBody>
      </p:sp>
      <p:sp>
        <p:nvSpPr>
          <p:cNvPr id="16" name="TextBox 15"/>
          <p:cNvSpPr txBox="1"/>
          <p:nvPr/>
        </p:nvSpPr>
        <p:spPr>
          <a:xfrm>
            <a:off x="4023360" y="1508760"/>
            <a:ext cx="7589520" cy="164592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Read raw tickets from the database</a:t>
            </a:r>
          </a:p>
          <a:p>
            <a:pPr algn="l">
              <a:spcAft>
                <a:spcPts val="500"/>
              </a:spcAft>
            </a:pPr>
            <a:r>
              <a:rPr sz="1800" b="0" i="0">
                <a:solidFill>
                  <a:srgbClr val="0B0A0C"/>
                </a:solidFill>
                <a:latin typeface="Arial"/>
              </a:rPr>
              <a:t>•  Clean them in pandas, step by step</a:t>
            </a:r>
          </a:p>
          <a:p>
            <a:pPr algn="l">
              <a:spcAft>
                <a:spcPts val="500"/>
              </a:spcAft>
            </a:pPr>
            <a:r>
              <a:rPr sz="1800" b="0" i="0">
                <a:solidFill>
                  <a:srgbClr val="0B0A0C"/>
                </a:solidFill>
                <a:latin typeface="Arial"/>
              </a:rPr>
              <a:t>•  Load them into your team table</a:t>
            </a:r>
          </a:p>
          <a:p>
            <a:pPr algn="l">
              <a:spcAft>
                <a:spcPts val="500"/>
              </a:spcAft>
            </a:pPr>
            <a:r>
              <a:rPr sz="1800" b="0" i="0">
                <a:solidFill>
                  <a:srgbClr val="0B0A0C"/>
                </a:solidFill>
                <a:latin typeface="Arial"/>
              </a:rPr>
              <a:t>•  Query them with SQL</a:t>
            </a:r>
          </a:p>
        </p:txBody>
      </p:sp>
      <p:sp>
        <p:nvSpPr>
          <p:cNvPr id="17" name="TextBox 16"/>
          <p:cNvSpPr txBox="1"/>
          <p:nvPr/>
        </p:nvSpPr>
        <p:spPr>
          <a:xfrm>
            <a:off x="4023360" y="3154680"/>
            <a:ext cx="7589520" cy="365760"/>
          </a:xfrm>
          <a:prstGeom prst="rect">
            <a:avLst/>
          </a:prstGeom>
          <a:noFill/>
        </p:spPr>
        <p:txBody>
          <a:bodyPr wrap="square" lIns="45720" rIns="45720" tIns="27432" bIns="27432" anchor="t">
            <a:spAutoFit/>
          </a:bodyPr>
          <a:lstStyle/>
          <a:p>
            <a:pPr algn="l"/>
            <a:r>
              <a:rPr sz="1300" b="1" i="0">
                <a:solidFill>
                  <a:srgbClr val="33B2C1"/>
                </a:solidFill>
                <a:latin typeface="Arial"/>
              </a:rPr>
              <a:t>YOU WRITE</a:t>
            </a:r>
          </a:p>
        </p:txBody>
      </p:sp>
      <p:sp>
        <p:nvSpPr>
          <p:cNvPr id="18" name="TextBox 17"/>
          <p:cNvSpPr txBox="1"/>
          <p:nvPr/>
        </p:nvSpPr>
        <p:spPr>
          <a:xfrm>
            <a:off x="4023360" y="3520440"/>
            <a:ext cx="7589520" cy="173736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TODO 1 and 2: drop rows with missing keys, remove duplicates</a:t>
            </a:r>
          </a:p>
          <a:p>
            <a:pPr algn="l">
              <a:spcAft>
                <a:spcPts val="500"/>
              </a:spcAft>
            </a:pPr>
            <a:r>
              <a:rPr sz="1800" b="0" i="0">
                <a:solidFill>
                  <a:srgbClr val="0B0A0C"/>
                </a:solidFill>
                <a:latin typeface="Arial"/>
              </a:rPr>
              <a:t>•  TODO 3: hours from first response to resolution</a:t>
            </a:r>
          </a:p>
          <a:p>
            <a:pPr algn="l">
              <a:spcAft>
                <a:spcPts val="500"/>
              </a:spcAft>
            </a:pPr>
            <a:r>
              <a:rPr sz="1800" b="0" i="0">
                <a:solidFill>
                  <a:srgbClr val="0B0A0C"/>
                </a:solidFill>
                <a:latin typeface="Arial"/>
              </a:rPr>
              <a:t>•  TODO 4: JOIN and GROUP BY by ticket type</a:t>
            </a:r>
          </a:p>
          <a:p>
            <a:pPr algn="l">
              <a:spcAft>
                <a:spcPts val="500"/>
              </a:spcAft>
            </a:pPr>
            <a:r>
              <a:rPr sz="1800" b="0" i="0">
                <a:solidFill>
                  <a:srgbClr val="0B0A0C"/>
                </a:solidFill>
                <a:latin typeface="Arial"/>
              </a:rPr>
              <a:t>•  TODO 5: closed rate with FILTER</a:t>
            </a:r>
          </a:p>
        </p:txBody>
      </p:sp>
      <p:sp>
        <p:nvSpPr>
          <p:cNvPr id="19" name="Rounded Rectangle 18"/>
          <p:cNvSpPr/>
          <p:nvPr/>
        </p:nvSpPr>
        <p:spPr>
          <a:xfrm>
            <a:off x="4023360" y="5303520"/>
            <a:ext cx="7616952" cy="100584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spcAft>
                <a:spcPts val="300"/>
              </a:spcAft>
            </a:pPr>
            <a:r>
              <a:rPr sz="1200" b="1">
                <a:solidFill>
                  <a:srgbClr val="19226D"/>
                </a:solidFill>
                <a:latin typeface="Arial"/>
              </a:rPr>
              <a:t>YOU WILL SEE</a:t>
            </a:r>
          </a:p>
          <a:p>
            <a:pPr algn="l">
              <a:spcAft>
                <a:spcPts val="300"/>
              </a:spcAft>
            </a:pPr>
            <a:r>
              <a:rPr sz="1600" b="0">
                <a:solidFill>
                  <a:srgbClr val="19226D"/>
                </a:solidFill>
                <a:latin typeface="Arial"/>
              </a:rPr>
              <a:t>600 clean tickets in your own table, and SQL answers per ticket type.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2 · Interactive dashboard</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3200400" cy="5120640"/>
          </a:xfrm>
          <a:prstGeom prst="roundRect">
            <a:avLst>
              <a:gd name="adj" fmla="val 5000"/>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1000"/>
              </a:spcAft>
            </a:pPr>
            <a:r>
              <a:rPr sz="4000" b="1">
                <a:solidFill>
                  <a:srgbClr val="FFFFFF"/>
                </a:solidFill>
                <a:latin typeface="Arial"/>
              </a:rPr>
              <a:t>Lab 2</a:t>
            </a:r>
          </a:p>
          <a:p>
            <a:pPr algn="ctr">
              <a:spcAft>
                <a:spcPts val="1000"/>
              </a:spcAft>
            </a:pPr>
            <a:r>
              <a:rPr sz="2100" b="1">
                <a:solidFill>
                  <a:srgbClr val="FFFFFF"/>
                </a:solidFill>
                <a:latin typeface="Arial"/>
              </a:rPr>
              <a:t>Interactive dashboard</a:t>
            </a:r>
          </a:p>
          <a:p>
            <a:pPr algn="ctr">
              <a:spcAft>
                <a:spcPts val="1000"/>
              </a:spcAft>
            </a:pPr>
            <a:r>
              <a:rPr sz="1600" b="0">
                <a:solidFill>
                  <a:srgbClr val="FFFFFF"/>
                </a:solidFill>
                <a:latin typeface="Arial"/>
              </a:rPr>
              <a:t>25 minutes</a:t>
            </a:r>
          </a:p>
        </p:txBody>
      </p:sp>
      <p:pic>
        <p:nvPicPr>
          <p:cNvPr id="6" name="Picture 5" descr="chart-column_FFFFFF_2.0.png"/>
          <p:cNvPicPr>
            <a:picLocks noChangeAspect="1"/>
          </p:cNvPicPr>
          <p:nvPr/>
        </p:nvPicPr>
        <p:blipFill>
          <a:blip r:embed="rId3"/>
          <a:stretch>
            <a:fillRect/>
          </a:stretch>
        </p:blipFill>
        <p:spPr>
          <a:xfrm>
            <a:off x="1691640" y="1508760"/>
            <a:ext cx="914400" cy="914400"/>
          </a:xfrm>
          <a:prstGeom prst="rect">
            <a:avLst/>
          </a:prstGeom>
        </p:spPr>
      </p:pic>
      <p:sp>
        <p:nvSpPr>
          <p:cNvPr id="7" name="Rounded Rectangle 6"/>
          <p:cNvSpPr/>
          <p:nvPr/>
        </p:nvSpPr>
        <p:spPr>
          <a:xfrm>
            <a:off x="1042416"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o_python_3776AB.png"/>
          <p:cNvPicPr>
            <a:picLocks noChangeAspect="1"/>
          </p:cNvPicPr>
          <p:nvPr/>
        </p:nvPicPr>
        <p:blipFill>
          <a:blip r:embed="rId4"/>
          <a:stretch>
            <a:fillRect/>
          </a:stretch>
        </p:blipFill>
        <p:spPr>
          <a:xfrm>
            <a:off x="1152144" y="5550408"/>
            <a:ext cx="457200" cy="457200"/>
          </a:xfrm>
          <a:prstGeom prst="rect">
            <a:avLst/>
          </a:prstGeom>
        </p:spPr>
      </p:pic>
      <p:sp>
        <p:nvSpPr>
          <p:cNvPr id="9" name="Rounded Rectangle 8"/>
          <p:cNvSpPr/>
          <p:nvPr/>
        </p:nvSpPr>
        <p:spPr>
          <a:xfrm>
            <a:off x="1810512"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o_pandas_150458.png"/>
          <p:cNvPicPr>
            <a:picLocks noChangeAspect="1"/>
          </p:cNvPicPr>
          <p:nvPr/>
        </p:nvPicPr>
        <p:blipFill>
          <a:blip r:embed="rId5"/>
          <a:stretch>
            <a:fillRect/>
          </a:stretch>
        </p:blipFill>
        <p:spPr>
          <a:xfrm>
            <a:off x="1920240" y="5550408"/>
            <a:ext cx="457200" cy="457200"/>
          </a:xfrm>
          <a:prstGeom prst="rect">
            <a:avLst/>
          </a:prstGeom>
        </p:spPr>
      </p:pic>
      <p:sp>
        <p:nvSpPr>
          <p:cNvPr id="11" name="Rounded Rectangle 10"/>
          <p:cNvSpPr/>
          <p:nvPr/>
        </p:nvSpPr>
        <p:spPr>
          <a:xfrm>
            <a:off x="2578608"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go_plotly_3F4F75.png"/>
          <p:cNvPicPr>
            <a:picLocks noChangeAspect="1"/>
          </p:cNvPicPr>
          <p:nvPr/>
        </p:nvPicPr>
        <p:blipFill>
          <a:blip r:embed="rId6"/>
          <a:stretch>
            <a:fillRect/>
          </a:stretch>
        </p:blipFill>
        <p:spPr>
          <a:xfrm>
            <a:off x="2688336" y="5550408"/>
            <a:ext cx="457200" cy="457200"/>
          </a:xfrm>
          <a:prstGeom prst="rect">
            <a:avLst/>
          </a:prstGeom>
        </p:spPr>
      </p:pic>
      <p:sp>
        <p:nvSpPr>
          <p:cNvPr id="13" name="TextBox 12"/>
          <p:cNvSpPr txBox="1"/>
          <p:nvPr/>
        </p:nvSpPr>
        <p:spPr>
          <a:xfrm>
            <a:off x="4023360" y="1143000"/>
            <a:ext cx="7589520" cy="365760"/>
          </a:xfrm>
          <a:prstGeom prst="rect">
            <a:avLst/>
          </a:prstGeom>
          <a:noFill/>
        </p:spPr>
        <p:txBody>
          <a:bodyPr wrap="square" lIns="45720" rIns="45720" tIns="27432" bIns="27432" anchor="t">
            <a:spAutoFit/>
          </a:bodyPr>
          <a:lstStyle/>
          <a:p>
            <a:pPr algn="l"/>
            <a:r>
              <a:rPr sz="1300" b="1" i="0">
                <a:solidFill>
                  <a:srgbClr val="034EA2"/>
                </a:solidFill>
                <a:latin typeface="Arial"/>
              </a:rPr>
              <a:t>YOU BUILD</a:t>
            </a:r>
          </a:p>
        </p:txBody>
      </p:sp>
      <p:sp>
        <p:nvSpPr>
          <p:cNvPr id="14" name="TextBox 13"/>
          <p:cNvSpPr txBox="1"/>
          <p:nvPr/>
        </p:nvSpPr>
        <p:spPr>
          <a:xfrm>
            <a:off x="4023360" y="1508760"/>
            <a:ext cx="7589520" cy="164592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A KPI scorecard</a:t>
            </a:r>
          </a:p>
          <a:p>
            <a:pPr algn="l">
              <a:spcAft>
                <a:spcPts val="500"/>
              </a:spcAft>
            </a:pPr>
            <a:r>
              <a:rPr sz="1800" b="0" i="0">
                <a:solidFill>
                  <a:srgbClr val="0B0A0C"/>
                </a:solidFill>
                <a:latin typeface="Arial"/>
              </a:rPr>
              <a:t>•  A bubble chart, a sunburst and a box plot</a:t>
            </a:r>
          </a:p>
          <a:p>
            <a:pPr algn="l">
              <a:spcAft>
                <a:spcPts val="500"/>
              </a:spcAft>
            </a:pPr>
            <a:r>
              <a:rPr sz="1800" b="0" i="0">
                <a:solidFill>
                  <a:srgbClr val="0B0A0C"/>
                </a:solidFill>
                <a:latin typeface="Arial"/>
              </a:rPr>
              <a:t>•  A heatmap and a bar chart with a dropdown</a:t>
            </a:r>
          </a:p>
        </p:txBody>
      </p:sp>
      <p:sp>
        <p:nvSpPr>
          <p:cNvPr id="15" name="TextBox 14"/>
          <p:cNvSpPr txBox="1"/>
          <p:nvPr/>
        </p:nvSpPr>
        <p:spPr>
          <a:xfrm>
            <a:off x="4023360" y="3154680"/>
            <a:ext cx="7589520" cy="365760"/>
          </a:xfrm>
          <a:prstGeom prst="rect">
            <a:avLst/>
          </a:prstGeom>
          <a:noFill/>
        </p:spPr>
        <p:txBody>
          <a:bodyPr wrap="square" lIns="45720" rIns="45720" tIns="27432" bIns="27432" anchor="t">
            <a:spAutoFit/>
          </a:bodyPr>
          <a:lstStyle/>
          <a:p>
            <a:pPr algn="l"/>
            <a:r>
              <a:rPr sz="1300" b="1" i="0">
                <a:solidFill>
                  <a:srgbClr val="034EA2"/>
                </a:solidFill>
                <a:latin typeface="Arial"/>
              </a:rPr>
              <a:t>YOU WRITE</a:t>
            </a:r>
          </a:p>
        </p:txBody>
      </p:sp>
      <p:sp>
        <p:nvSpPr>
          <p:cNvPr id="16" name="TextBox 15"/>
          <p:cNvSpPr txBox="1"/>
          <p:nvPr/>
        </p:nvSpPr>
        <p:spPr>
          <a:xfrm>
            <a:off x="4023360" y="3520440"/>
            <a:ext cx="7589520" cy="173736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TODO 1: the closed-rate formula</a:t>
            </a:r>
          </a:p>
          <a:p>
            <a:pPr algn="l">
              <a:spcAft>
                <a:spcPts val="500"/>
              </a:spcAft>
            </a:pPr>
            <a:r>
              <a:rPr sz="1800" b="0" i="0">
                <a:solidFill>
                  <a:srgbClr val="0B0A0C"/>
                </a:solidFill>
                <a:latin typeface="Arial"/>
              </a:rPr>
              <a:t>•  TODO 2: map columns to the bubble chart</a:t>
            </a:r>
          </a:p>
          <a:p>
            <a:pPr algn="l">
              <a:spcAft>
                <a:spcPts val="500"/>
              </a:spcAft>
            </a:pPr>
            <a:r>
              <a:rPr sz="1800" b="0" i="0">
                <a:solidFill>
                  <a:srgbClr val="0B0A0C"/>
                </a:solidFill>
                <a:latin typeface="Arial"/>
              </a:rPr>
              <a:t>•  TODO 3: which column must not be empty (box plot)</a:t>
            </a:r>
          </a:p>
          <a:p>
            <a:pPr algn="l">
              <a:spcAft>
                <a:spcPts val="500"/>
              </a:spcAft>
            </a:pPr>
            <a:r>
              <a:rPr sz="1800" b="0" i="0">
                <a:solidFill>
                  <a:srgbClr val="0B0A0C"/>
                </a:solidFill>
                <a:latin typeface="Arial"/>
              </a:rPr>
              <a:t>•  TODO 4: a crosstab for the heatmap</a:t>
            </a:r>
          </a:p>
        </p:txBody>
      </p:sp>
      <p:sp>
        <p:nvSpPr>
          <p:cNvPr id="17" name="Rounded Rectangle 16"/>
          <p:cNvSpPr/>
          <p:nvPr/>
        </p:nvSpPr>
        <p:spPr>
          <a:xfrm>
            <a:off x="4023360" y="5303520"/>
            <a:ext cx="7616952" cy="100584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spcAft>
                <a:spcPts val="300"/>
              </a:spcAft>
            </a:pPr>
            <a:r>
              <a:rPr sz="1200" b="1">
                <a:solidFill>
                  <a:srgbClr val="19226D"/>
                </a:solidFill>
                <a:latin typeface="Arial"/>
              </a:rPr>
              <a:t>YOU WILL SEE</a:t>
            </a:r>
          </a:p>
          <a:p>
            <a:pPr algn="l">
              <a:spcAft>
                <a:spcPts val="300"/>
              </a:spcAft>
            </a:pPr>
            <a:r>
              <a:rPr sz="1600" b="0">
                <a:solidFill>
                  <a:srgbClr val="19226D"/>
                </a:solidFill>
                <a:latin typeface="Arial"/>
              </a:rPr>
              <a:t>An interactive dashboard, and your own finding with its caveat.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3 · Embeddings and RAG</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3200400" cy="5120640"/>
          </a:xfrm>
          <a:prstGeom prst="roundRect">
            <a:avLst>
              <a:gd name="adj" fmla="val 5000"/>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1000"/>
              </a:spcAft>
            </a:pPr>
            <a:r>
              <a:rPr sz="4000" b="1">
                <a:solidFill>
                  <a:srgbClr val="FFFFFF"/>
                </a:solidFill>
                <a:latin typeface="Arial"/>
              </a:rPr>
              <a:t>Lab 3</a:t>
            </a:r>
          </a:p>
          <a:p>
            <a:pPr algn="ctr">
              <a:spcAft>
                <a:spcPts val="1000"/>
              </a:spcAft>
            </a:pPr>
            <a:r>
              <a:rPr sz="2100" b="1">
                <a:solidFill>
                  <a:srgbClr val="FFFFFF"/>
                </a:solidFill>
                <a:latin typeface="Arial"/>
              </a:rPr>
              <a:t>Embeddings and RAG</a:t>
            </a:r>
          </a:p>
          <a:p>
            <a:pPr algn="ctr">
              <a:spcAft>
                <a:spcPts val="1000"/>
              </a:spcAft>
            </a:pPr>
            <a:r>
              <a:rPr sz="1600" b="0">
                <a:solidFill>
                  <a:srgbClr val="FFFFFF"/>
                </a:solidFill>
                <a:latin typeface="Arial"/>
              </a:rPr>
              <a:t>50 minutes</a:t>
            </a:r>
          </a:p>
        </p:txBody>
      </p:sp>
      <p:pic>
        <p:nvPicPr>
          <p:cNvPr id="6" name="Picture 5" descr="brain-circuit_FFFFFF_2.0.png"/>
          <p:cNvPicPr>
            <a:picLocks noChangeAspect="1"/>
          </p:cNvPicPr>
          <p:nvPr/>
        </p:nvPicPr>
        <p:blipFill>
          <a:blip r:embed="rId3"/>
          <a:stretch>
            <a:fillRect/>
          </a:stretch>
        </p:blipFill>
        <p:spPr>
          <a:xfrm>
            <a:off x="1691640" y="1508760"/>
            <a:ext cx="914400" cy="914400"/>
          </a:xfrm>
          <a:prstGeom prst="rect">
            <a:avLst/>
          </a:prstGeom>
        </p:spPr>
      </p:pic>
      <p:sp>
        <p:nvSpPr>
          <p:cNvPr id="7" name="Rounded Rectangle 6"/>
          <p:cNvSpPr/>
          <p:nvPr/>
        </p:nvSpPr>
        <p:spPr>
          <a:xfrm>
            <a:off x="1042416"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o_openai_412991.png"/>
          <p:cNvPicPr>
            <a:picLocks noChangeAspect="1"/>
          </p:cNvPicPr>
          <p:nvPr/>
        </p:nvPicPr>
        <p:blipFill>
          <a:blip r:embed="rId4"/>
          <a:stretch>
            <a:fillRect/>
          </a:stretch>
        </p:blipFill>
        <p:spPr>
          <a:xfrm>
            <a:off x="1152144" y="5550408"/>
            <a:ext cx="457200" cy="457200"/>
          </a:xfrm>
          <a:prstGeom prst="rect">
            <a:avLst/>
          </a:prstGeom>
        </p:spPr>
      </p:pic>
      <p:sp>
        <p:nvSpPr>
          <p:cNvPr id="9" name="Rounded Rectangle 8"/>
          <p:cNvSpPr/>
          <p:nvPr/>
        </p:nvSpPr>
        <p:spPr>
          <a:xfrm>
            <a:off x="1810512"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o_postgresql_4169E1.png"/>
          <p:cNvPicPr>
            <a:picLocks noChangeAspect="1"/>
          </p:cNvPicPr>
          <p:nvPr/>
        </p:nvPicPr>
        <p:blipFill>
          <a:blip r:embed="rId5"/>
          <a:stretch>
            <a:fillRect/>
          </a:stretch>
        </p:blipFill>
        <p:spPr>
          <a:xfrm>
            <a:off x="1920240" y="5550408"/>
            <a:ext cx="457200" cy="457200"/>
          </a:xfrm>
          <a:prstGeom prst="rect">
            <a:avLst/>
          </a:prstGeom>
        </p:spPr>
      </p:pic>
      <p:sp>
        <p:nvSpPr>
          <p:cNvPr id="11" name="Rounded Rectangle 10"/>
          <p:cNvSpPr/>
          <p:nvPr/>
        </p:nvSpPr>
        <p:spPr>
          <a:xfrm>
            <a:off x="2578608"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go_supabase_3FCF8E.png"/>
          <p:cNvPicPr>
            <a:picLocks noChangeAspect="1"/>
          </p:cNvPicPr>
          <p:nvPr/>
        </p:nvPicPr>
        <p:blipFill>
          <a:blip r:embed="rId6"/>
          <a:stretch>
            <a:fillRect/>
          </a:stretch>
        </p:blipFill>
        <p:spPr>
          <a:xfrm>
            <a:off x="2688336" y="5550408"/>
            <a:ext cx="457200" cy="457200"/>
          </a:xfrm>
          <a:prstGeom prst="rect">
            <a:avLst/>
          </a:prstGeom>
        </p:spPr>
      </p:pic>
      <p:sp>
        <p:nvSpPr>
          <p:cNvPr id="13" name="TextBox 12"/>
          <p:cNvSpPr txBox="1"/>
          <p:nvPr/>
        </p:nvSpPr>
        <p:spPr>
          <a:xfrm>
            <a:off x="4023360" y="1143000"/>
            <a:ext cx="7589520" cy="365760"/>
          </a:xfrm>
          <a:prstGeom prst="rect">
            <a:avLst/>
          </a:prstGeom>
          <a:noFill/>
        </p:spPr>
        <p:txBody>
          <a:bodyPr wrap="square" lIns="45720" rIns="45720" tIns="27432" bIns="27432" anchor="t">
            <a:spAutoFit/>
          </a:bodyPr>
          <a:lstStyle/>
          <a:p>
            <a:pPr algn="l"/>
            <a:r>
              <a:rPr sz="1300" b="1" i="0">
                <a:solidFill>
                  <a:srgbClr val="50B848"/>
                </a:solidFill>
                <a:latin typeface="Arial"/>
              </a:rPr>
              <a:t>YOU BUILD</a:t>
            </a:r>
          </a:p>
        </p:txBody>
      </p:sp>
      <p:sp>
        <p:nvSpPr>
          <p:cNvPr id="14" name="TextBox 13"/>
          <p:cNvSpPr txBox="1"/>
          <p:nvPr/>
        </p:nvSpPr>
        <p:spPr>
          <a:xfrm>
            <a:off x="4023360" y="1508760"/>
            <a:ext cx="7589520" cy="164592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A toy vector space you can see and move around</a:t>
            </a:r>
          </a:p>
          <a:p>
            <a:pPr algn="l">
              <a:spcAft>
                <a:spcPts val="500"/>
              </a:spcAft>
            </a:pPr>
            <a:r>
              <a:rPr sz="1800" b="0" i="0">
                <a:solidFill>
                  <a:srgbClr val="0B0A0C"/>
                </a:solidFill>
                <a:latin typeface="Arial"/>
              </a:rPr>
              <a:t>•  Chunking, embedding and storing an article</a:t>
            </a:r>
          </a:p>
          <a:p>
            <a:pPr algn="l">
              <a:spcAft>
                <a:spcPts val="500"/>
              </a:spcAft>
            </a:pPr>
            <a:r>
              <a:rPr sz="1800" b="0" i="0">
                <a:solidFill>
                  <a:srgbClr val="0B0A0C"/>
                </a:solidFill>
                <a:latin typeface="Arial"/>
              </a:rPr>
              <a:t>•  Vector search in PostgreSQL</a:t>
            </a:r>
          </a:p>
          <a:p>
            <a:pPr algn="l">
              <a:spcAft>
                <a:spcPts val="500"/>
              </a:spcAft>
            </a:pPr>
            <a:r>
              <a:rPr sz="1800" b="0" i="0">
                <a:solidFill>
                  <a:srgbClr val="0B0A0C"/>
                </a:solidFill>
                <a:latin typeface="Arial"/>
              </a:rPr>
              <a:t>•  An LLM answer with sources</a:t>
            </a:r>
          </a:p>
        </p:txBody>
      </p:sp>
      <p:sp>
        <p:nvSpPr>
          <p:cNvPr id="15" name="TextBox 14"/>
          <p:cNvSpPr txBox="1"/>
          <p:nvPr/>
        </p:nvSpPr>
        <p:spPr>
          <a:xfrm>
            <a:off x="4023360" y="3154680"/>
            <a:ext cx="7589520" cy="365760"/>
          </a:xfrm>
          <a:prstGeom prst="rect">
            <a:avLst/>
          </a:prstGeom>
          <a:noFill/>
        </p:spPr>
        <p:txBody>
          <a:bodyPr wrap="square" lIns="45720" rIns="45720" tIns="27432" bIns="27432" anchor="t">
            <a:spAutoFit/>
          </a:bodyPr>
          <a:lstStyle/>
          <a:p>
            <a:pPr algn="l"/>
            <a:r>
              <a:rPr sz="1300" b="1" i="0">
                <a:solidFill>
                  <a:srgbClr val="50B848"/>
                </a:solidFill>
                <a:latin typeface="Arial"/>
              </a:rPr>
              <a:t>YOU WRITE</a:t>
            </a:r>
          </a:p>
        </p:txBody>
      </p:sp>
      <p:sp>
        <p:nvSpPr>
          <p:cNvPr id="16" name="TextBox 15"/>
          <p:cNvSpPr txBox="1"/>
          <p:nvPr/>
        </p:nvSpPr>
        <p:spPr>
          <a:xfrm>
            <a:off x="4023360" y="3520440"/>
            <a:ext cx="7589520" cy="173736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TODO 0: find the nearest vectors yourself</a:t>
            </a:r>
          </a:p>
          <a:p>
            <a:pPr algn="l">
              <a:spcAft>
                <a:spcPts val="500"/>
              </a:spcAft>
            </a:pPr>
            <a:r>
              <a:rPr sz="1800" b="0" i="0">
                <a:solidFill>
                  <a:srgbClr val="0B0A0C"/>
                </a:solidFill>
                <a:latin typeface="Arial"/>
              </a:rPr>
              <a:t>•  TODO 1: embed title and content</a:t>
            </a:r>
          </a:p>
          <a:p>
            <a:pPr algn="l">
              <a:spcAft>
                <a:spcPts val="500"/>
              </a:spcAft>
            </a:pPr>
            <a:r>
              <a:rPr sz="1800" b="0" i="0">
                <a:solidFill>
                  <a:srgbClr val="0B0A0C"/>
                </a:solidFill>
                <a:latin typeface="Arial"/>
              </a:rPr>
              <a:t>•  TODO 2: the cosine-distance operator</a:t>
            </a:r>
          </a:p>
          <a:p>
            <a:pPr algn="l">
              <a:spcAft>
                <a:spcPts val="500"/>
              </a:spcAft>
            </a:pPr>
            <a:r>
              <a:rPr sz="1800" b="0" i="0">
                <a:solidFill>
                  <a:srgbClr val="0B0A0C"/>
                </a:solidFill>
                <a:latin typeface="Arial"/>
              </a:rPr>
              <a:t>•  TODO 3: a grounded prompt</a:t>
            </a:r>
          </a:p>
        </p:txBody>
      </p:sp>
      <p:sp>
        <p:nvSpPr>
          <p:cNvPr id="17" name="Rounded Rectangle 16"/>
          <p:cNvSpPr/>
          <p:nvPr/>
        </p:nvSpPr>
        <p:spPr>
          <a:xfrm>
            <a:off x="4023360" y="5303520"/>
            <a:ext cx="7616952" cy="100584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spcAft>
                <a:spcPts val="300"/>
              </a:spcAft>
            </a:pPr>
            <a:r>
              <a:rPr sz="1200" b="1">
                <a:solidFill>
                  <a:srgbClr val="19226D"/>
                </a:solidFill>
                <a:latin typeface="Arial"/>
              </a:rPr>
              <a:t>YOU WILL SEE</a:t>
            </a:r>
          </a:p>
          <a:p>
            <a:pPr algn="l">
              <a:spcAft>
                <a:spcPts val="300"/>
              </a:spcAft>
            </a:pPr>
            <a:r>
              <a:rPr sz="1600" b="0">
                <a:solidFill>
                  <a:srgbClr val="19226D"/>
                </a:solidFill>
                <a:latin typeface="Arial"/>
              </a:rPr>
              <a:t>A question answered from articles, citing their IDs, and a refusal when it cannot.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Streamlit app</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3200400" cy="5120640"/>
          </a:xfrm>
          <a:prstGeom prst="roundRect">
            <a:avLst>
              <a:gd name="adj" fmla="val 5000"/>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1000"/>
              </a:spcAft>
            </a:pPr>
            <a:r>
              <a:rPr sz="4000" b="1">
                <a:solidFill>
                  <a:srgbClr val="FFFFFF"/>
                </a:solidFill>
                <a:latin typeface="Arial"/>
              </a:rPr>
              <a:t>Lab 4</a:t>
            </a:r>
          </a:p>
          <a:p>
            <a:pPr algn="ctr">
              <a:spcAft>
                <a:spcPts val="1000"/>
              </a:spcAft>
            </a:pPr>
            <a:r>
              <a:rPr sz="2100" b="1">
                <a:solidFill>
                  <a:srgbClr val="FFFFFF"/>
                </a:solidFill>
                <a:latin typeface="Arial"/>
              </a:rPr>
              <a:t>Streamlit app</a:t>
            </a:r>
          </a:p>
          <a:p>
            <a:pPr algn="ctr">
              <a:spcAft>
                <a:spcPts val="1000"/>
              </a:spcAft>
            </a:pPr>
            <a:r>
              <a:rPr sz="1600" b="0">
                <a:solidFill>
                  <a:srgbClr val="FFFFFF"/>
                </a:solidFill>
                <a:latin typeface="Arial"/>
              </a:rPr>
              <a:t>40 minutes</a:t>
            </a:r>
          </a:p>
        </p:txBody>
      </p:sp>
      <p:pic>
        <p:nvPicPr>
          <p:cNvPr id="6" name="Picture 5" descr="app-window_FFFFFF_2.0.png"/>
          <p:cNvPicPr>
            <a:picLocks noChangeAspect="1"/>
          </p:cNvPicPr>
          <p:nvPr/>
        </p:nvPicPr>
        <p:blipFill>
          <a:blip r:embed="rId3"/>
          <a:stretch>
            <a:fillRect/>
          </a:stretch>
        </p:blipFill>
        <p:spPr>
          <a:xfrm>
            <a:off x="1691640" y="1508760"/>
            <a:ext cx="914400" cy="914400"/>
          </a:xfrm>
          <a:prstGeom prst="rect">
            <a:avLst/>
          </a:prstGeom>
        </p:spPr>
      </p:pic>
      <p:sp>
        <p:nvSpPr>
          <p:cNvPr id="7" name="Rounded Rectangle 6"/>
          <p:cNvSpPr/>
          <p:nvPr/>
        </p:nvSpPr>
        <p:spPr>
          <a:xfrm>
            <a:off x="1042416"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o_streamlit_FF4B4B.png"/>
          <p:cNvPicPr>
            <a:picLocks noChangeAspect="1"/>
          </p:cNvPicPr>
          <p:nvPr/>
        </p:nvPicPr>
        <p:blipFill>
          <a:blip r:embed="rId4"/>
          <a:stretch>
            <a:fillRect/>
          </a:stretch>
        </p:blipFill>
        <p:spPr>
          <a:xfrm>
            <a:off x="1152144" y="5550408"/>
            <a:ext cx="457200" cy="457200"/>
          </a:xfrm>
          <a:prstGeom prst="rect">
            <a:avLst/>
          </a:prstGeom>
        </p:spPr>
      </p:pic>
      <p:sp>
        <p:nvSpPr>
          <p:cNvPr id="9" name="Rounded Rectangle 8"/>
          <p:cNvSpPr/>
          <p:nvPr/>
        </p:nvSpPr>
        <p:spPr>
          <a:xfrm>
            <a:off x="1810512"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o_plotly_3F4F75.png"/>
          <p:cNvPicPr>
            <a:picLocks noChangeAspect="1"/>
          </p:cNvPicPr>
          <p:nvPr/>
        </p:nvPicPr>
        <p:blipFill>
          <a:blip r:embed="rId5"/>
          <a:stretch>
            <a:fillRect/>
          </a:stretch>
        </p:blipFill>
        <p:spPr>
          <a:xfrm>
            <a:off x="1920240" y="5550408"/>
            <a:ext cx="457200" cy="457200"/>
          </a:xfrm>
          <a:prstGeom prst="rect">
            <a:avLst/>
          </a:prstGeom>
        </p:spPr>
      </p:pic>
      <p:sp>
        <p:nvSpPr>
          <p:cNvPr id="11" name="Rounded Rectangle 10"/>
          <p:cNvSpPr/>
          <p:nvPr/>
        </p:nvSpPr>
        <p:spPr>
          <a:xfrm>
            <a:off x="2578608"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go_openai_412991.png"/>
          <p:cNvPicPr>
            <a:picLocks noChangeAspect="1"/>
          </p:cNvPicPr>
          <p:nvPr/>
        </p:nvPicPr>
        <p:blipFill>
          <a:blip r:embed="rId6"/>
          <a:stretch>
            <a:fillRect/>
          </a:stretch>
        </p:blipFill>
        <p:spPr>
          <a:xfrm>
            <a:off x="2688336" y="5550408"/>
            <a:ext cx="457200" cy="457200"/>
          </a:xfrm>
          <a:prstGeom prst="rect">
            <a:avLst/>
          </a:prstGeom>
        </p:spPr>
      </p:pic>
      <p:sp>
        <p:nvSpPr>
          <p:cNvPr id="13" name="TextBox 12"/>
          <p:cNvSpPr txBox="1"/>
          <p:nvPr/>
        </p:nvSpPr>
        <p:spPr>
          <a:xfrm>
            <a:off x="4023360" y="1143000"/>
            <a:ext cx="7589520" cy="365760"/>
          </a:xfrm>
          <a:prstGeom prst="rect">
            <a:avLst/>
          </a:prstGeom>
          <a:noFill/>
        </p:spPr>
        <p:txBody>
          <a:bodyPr wrap="square" lIns="45720" rIns="45720" tIns="27432" bIns="27432" anchor="t">
            <a:spAutoFit/>
          </a:bodyPr>
          <a:lstStyle/>
          <a:p>
            <a:pPr algn="l"/>
            <a:r>
              <a:rPr sz="1300" b="1" i="0">
                <a:solidFill>
                  <a:srgbClr val="19226D"/>
                </a:solidFill>
                <a:latin typeface="Arial"/>
              </a:rPr>
              <a:t>YOU BUILD</a:t>
            </a:r>
          </a:p>
        </p:txBody>
      </p:sp>
      <p:sp>
        <p:nvSpPr>
          <p:cNvPr id="14" name="TextBox 13"/>
          <p:cNvSpPr txBox="1"/>
          <p:nvPr/>
        </p:nvSpPr>
        <p:spPr>
          <a:xfrm>
            <a:off x="4023360" y="1508760"/>
            <a:ext cx="7589520" cy="164592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The complete app, generated in eight explained pieces</a:t>
            </a:r>
          </a:p>
          <a:p>
            <a:pPr algn="l">
              <a:spcAft>
                <a:spcPts val="500"/>
              </a:spcAft>
            </a:pPr>
            <a:r>
              <a:rPr sz="1800" b="0" i="0">
                <a:solidFill>
                  <a:srgbClr val="0B0A0C"/>
                </a:solidFill>
                <a:latin typeface="Arial"/>
              </a:rPr>
              <a:t>•  A check that the file is valid Python</a:t>
            </a:r>
          </a:p>
          <a:p>
            <a:pPr algn="l">
              <a:spcAft>
                <a:spcPts val="500"/>
              </a:spcAft>
            </a:pPr>
            <a:r>
              <a:rPr sz="1800" b="0" i="0">
                <a:solidFill>
                  <a:srgbClr val="0B0A0C"/>
                </a:solidFill>
                <a:latin typeface="Arial"/>
              </a:rPr>
              <a:t>•  Your own customisation</a:t>
            </a:r>
          </a:p>
        </p:txBody>
      </p:sp>
      <p:sp>
        <p:nvSpPr>
          <p:cNvPr id="15" name="TextBox 14"/>
          <p:cNvSpPr txBox="1"/>
          <p:nvPr/>
        </p:nvSpPr>
        <p:spPr>
          <a:xfrm>
            <a:off x="4023360" y="3154680"/>
            <a:ext cx="7589520" cy="365760"/>
          </a:xfrm>
          <a:prstGeom prst="rect">
            <a:avLst/>
          </a:prstGeom>
          <a:noFill/>
        </p:spPr>
        <p:txBody>
          <a:bodyPr wrap="square" lIns="45720" rIns="45720" tIns="27432" bIns="27432" anchor="t">
            <a:spAutoFit/>
          </a:bodyPr>
          <a:lstStyle/>
          <a:p>
            <a:pPr algn="l"/>
            <a:r>
              <a:rPr sz="1300" b="1" i="0">
                <a:solidFill>
                  <a:srgbClr val="19226D"/>
                </a:solidFill>
                <a:latin typeface="Arial"/>
              </a:rPr>
              <a:t>YOU WRITE</a:t>
            </a:r>
          </a:p>
        </p:txBody>
      </p:sp>
      <p:sp>
        <p:nvSpPr>
          <p:cNvPr id="16" name="TextBox 15"/>
          <p:cNvSpPr txBox="1"/>
          <p:nvPr/>
        </p:nvSpPr>
        <p:spPr>
          <a:xfrm>
            <a:off x="4023360" y="3520440"/>
            <a:ext cx="7589520" cy="173736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Rename or add a KPI</a:t>
            </a:r>
          </a:p>
          <a:p>
            <a:pPr algn="l">
              <a:spcAft>
                <a:spcPts val="500"/>
              </a:spcAft>
            </a:pPr>
            <a:r>
              <a:rPr sz="1800" b="0" i="0">
                <a:solidFill>
                  <a:srgbClr val="0B0A0C"/>
                </a:solidFill>
                <a:latin typeface="Arial"/>
              </a:rPr>
              <a:t>•  Change the default filters</a:t>
            </a:r>
          </a:p>
          <a:p>
            <a:pPr algn="l">
              <a:spcAft>
                <a:spcPts val="500"/>
              </a:spcAft>
            </a:pPr>
            <a:r>
              <a:rPr sz="1800" b="0" i="0">
                <a:solidFill>
                  <a:srgbClr val="0B0A0C"/>
                </a:solidFill>
                <a:latin typeface="Arial"/>
              </a:rPr>
              <a:t>•  Explain why the question embedding goes to PostgreSQL</a:t>
            </a:r>
          </a:p>
          <a:p>
            <a:pPr algn="l">
              <a:spcAft>
                <a:spcPts val="500"/>
              </a:spcAft>
            </a:pPr>
            <a:r>
              <a:rPr sz="1800" b="0" i="0">
                <a:solidFill>
                  <a:srgbClr val="0B0A0C"/>
                </a:solidFill>
                <a:latin typeface="Arial"/>
              </a:rPr>
              <a:t>•  Change the title or donut chart</a:t>
            </a:r>
          </a:p>
        </p:txBody>
      </p:sp>
      <p:sp>
        <p:nvSpPr>
          <p:cNvPr id="17" name="Rounded Rectangle 16"/>
          <p:cNvSpPr/>
          <p:nvPr/>
        </p:nvSpPr>
        <p:spPr>
          <a:xfrm>
            <a:off x="4023360" y="5303520"/>
            <a:ext cx="7616952" cy="100584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spcAft>
                <a:spcPts val="300"/>
              </a:spcAft>
            </a:pPr>
            <a:r>
              <a:rPr sz="1200" b="1">
                <a:solidFill>
                  <a:srgbClr val="19226D"/>
                </a:solidFill>
                <a:latin typeface="Arial"/>
              </a:rPr>
              <a:t>YOU WILL SEE</a:t>
            </a:r>
          </a:p>
          <a:p>
            <a:pPr algn="l">
              <a:spcAft>
                <a:spcPts val="300"/>
              </a:spcAft>
            </a:pPr>
            <a:r>
              <a:rPr sz="1600" b="0">
                <a:solidFill>
                  <a:srgbClr val="19226D"/>
                </a:solidFill>
                <a:latin typeface="Arial"/>
              </a:rPr>
              <a:t>A working app with a dashboard tab and an AI chat tab. The instructor runs it.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Bonus · LangChain agent</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188720"/>
            <a:ext cx="3200400" cy="5120640"/>
          </a:xfrm>
          <a:prstGeom prst="roundRect">
            <a:avLst>
              <a:gd name="adj" fmla="val 5000"/>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1000"/>
              </a:spcAft>
            </a:pPr>
            <a:r>
              <a:rPr sz="4000" b="1">
                <a:solidFill>
                  <a:srgbClr val="FFFFFF"/>
                </a:solidFill>
                <a:latin typeface="Arial"/>
              </a:rPr>
              <a:t>Bonus</a:t>
            </a:r>
          </a:p>
          <a:p>
            <a:pPr algn="ctr">
              <a:spcAft>
                <a:spcPts val="1000"/>
              </a:spcAft>
            </a:pPr>
            <a:r>
              <a:rPr sz="2100" b="1">
                <a:solidFill>
                  <a:srgbClr val="FFFFFF"/>
                </a:solidFill>
                <a:latin typeface="Arial"/>
              </a:rPr>
              <a:t>LangChain agent</a:t>
            </a:r>
          </a:p>
          <a:p>
            <a:pPr algn="ctr">
              <a:spcAft>
                <a:spcPts val="1000"/>
              </a:spcAft>
            </a:pPr>
            <a:r>
              <a:rPr sz="1600" b="0">
                <a:solidFill>
                  <a:srgbClr val="FFFFFF"/>
                </a:solidFill>
                <a:latin typeface="Arial"/>
              </a:rPr>
              <a:t>30 to 45 extra minutes</a:t>
            </a:r>
          </a:p>
        </p:txBody>
      </p:sp>
      <p:pic>
        <p:nvPicPr>
          <p:cNvPr id="6" name="Picture 5" descr="bot_FFFFFF_2.0.png"/>
          <p:cNvPicPr>
            <a:picLocks noChangeAspect="1"/>
          </p:cNvPicPr>
          <p:nvPr/>
        </p:nvPicPr>
        <p:blipFill>
          <a:blip r:embed="rId3"/>
          <a:stretch>
            <a:fillRect/>
          </a:stretch>
        </p:blipFill>
        <p:spPr>
          <a:xfrm>
            <a:off x="1691640" y="1508760"/>
            <a:ext cx="914400" cy="914400"/>
          </a:xfrm>
          <a:prstGeom prst="rect">
            <a:avLst/>
          </a:prstGeom>
        </p:spPr>
      </p:pic>
      <p:sp>
        <p:nvSpPr>
          <p:cNvPr id="7" name="Rounded Rectangle 6"/>
          <p:cNvSpPr/>
          <p:nvPr/>
        </p:nvSpPr>
        <p:spPr>
          <a:xfrm>
            <a:off x="1042416"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o_langchain_1C3C3C.png"/>
          <p:cNvPicPr>
            <a:picLocks noChangeAspect="1"/>
          </p:cNvPicPr>
          <p:nvPr/>
        </p:nvPicPr>
        <p:blipFill>
          <a:blip r:embed="rId4"/>
          <a:stretch>
            <a:fillRect/>
          </a:stretch>
        </p:blipFill>
        <p:spPr>
          <a:xfrm>
            <a:off x="1152144" y="5550408"/>
            <a:ext cx="457200" cy="457200"/>
          </a:xfrm>
          <a:prstGeom prst="rect">
            <a:avLst/>
          </a:prstGeom>
        </p:spPr>
      </p:pic>
      <p:sp>
        <p:nvSpPr>
          <p:cNvPr id="9" name="Rounded Rectangle 8"/>
          <p:cNvSpPr/>
          <p:nvPr/>
        </p:nvSpPr>
        <p:spPr>
          <a:xfrm>
            <a:off x="1810512"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o_openai_412991.png"/>
          <p:cNvPicPr>
            <a:picLocks noChangeAspect="1"/>
          </p:cNvPicPr>
          <p:nvPr/>
        </p:nvPicPr>
        <p:blipFill>
          <a:blip r:embed="rId5"/>
          <a:stretch>
            <a:fillRect/>
          </a:stretch>
        </p:blipFill>
        <p:spPr>
          <a:xfrm>
            <a:off x="1920240" y="5550408"/>
            <a:ext cx="457200" cy="457200"/>
          </a:xfrm>
          <a:prstGeom prst="rect">
            <a:avLst/>
          </a:prstGeom>
        </p:spPr>
      </p:pic>
      <p:sp>
        <p:nvSpPr>
          <p:cNvPr id="11" name="Rounded Rectangle 10"/>
          <p:cNvSpPr/>
          <p:nvPr/>
        </p:nvSpPr>
        <p:spPr>
          <a:xfrm>
            <a:off x="2578608" y="5440680"/>
            <a:ext cx="676656" cy="6766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go_postgresql_4169E1.png"/>
          <p:cNvPicPr>
            <a:picLocks noChangeAspect="1"/>
          </p:cNvPicPr>
          <p:nvPr/>
        </p:nvPicPr>
        <p:blipFill>
          <a:blip r:embed="rId6"/>
          <a:stretch>
            <a:fillRect/>
          </a:stretch>
        </p:blipFill>
        <p:spPr>
          <a:xfrm>
            <a:off x="2688336" y="5550408"/>
            <a:ext cx="457200" cy="457200"/>
          </a:xfrm>
          <a:prstGeom prst="rect">
            <a:avLst/>
          </a:prstGeom>
        </p:spPr>
      </p:pic>
      <p:sp>
        <p:nvSpPr>
          <p:cNvPr id="13" name="TextBox 12"/>
          <p:cNvSpPr txBox="1"/>
          <p:nvPr/>
        </p:nvSpPr>
        <p:spPr>
          <a:xfrm>
            <a:off x="4023360" y="1143000"/>
            <a:ext cx="7589520" cy="365760"/>
          </a:xfrm>
          <a:prstGeom prst="rect">
            <a:avLst/>
          </a:prstGeom>
          <a:noFill/>
        </p:spPr>
        <p:txBody>
          <a:bodyPr wrap="square" lIns="45720" rIns="45720" tIns="27432" bIns="27432" anchor="t">
            <a:spAutoFit/>
          </a:bodyPr>
          <a:lstStyle/>
          <a:p>
            <a:pPr algn="l"/>
            <a:r>
              <a:rPr sz="1300" b="1" i="0">
                <a:solidFill>
                  <a:srgbClr val="F37021"/>
                </a:solidFill>
                <a:latin typeface="Arial"/>
              </a:rPr>
              <a:t>YOU BUILD</a:t>
            </a:r>
          </a:p>
        </p:txBody>
      </p:sp>
      <p:sp>
        <p:nvSpPr>
          <p:cNvPr id="14" name="TextBox 13"/>
          <p:cNvSpPr txBox="1"/>
          <p:nvPr/>
        </p:nvSpPr>
        <p:spPr>
          <a:xfrm>
            <a:off x="4023360" y="1508760"/>
            <a:ext cx="7589520" cy="164592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Two tools: ticket metrics and knowledge-base search</a:t>
            </a:r>
          </a:p>
          <a:p>
            <a:pPr algn="l">
              <a:spcAft>
                <a:spcPts val="500"/>
              </a:spcAft>
            </a:pPr>
            <a:r>
              <a:rPr sz="1800" b="0" i="0">
                <a:solidFill>
                  <a:srgbClr val="0B0A0C"/>
                </a:solidFill>
                <a:latin typeface="Arial"/>
              </a:rPr>
              <a:t>•  A direct test of each tool, with no LLM</a:t>
            </a:r>
          </a:p>
          <a:p>
            <a:pPr algn="l">
              <a:spcAft>
                <a:spcPts val="500"/>
              </a:spcAft>
            </a:pPr>
            <a:r>
              <a:rPr sz="1800" b="0" i="0">
                <a:solidFill>
                  <a:srgbClr val="0B0A0C"/>
                </a:solidFill>
                <a:latin typeface="Arial"/>
              </a:rPr>
              <a:t>•  An agent that chooses between them</a:t>
            </a:r>
          </a:p>
        </p:txBody>
      </p:sp>
      <p:sp>
        <p:nvSpPr>
          <p:cNvPr id="15" name="TextBox 14"/>
          <p:cNvSpPr txBox="1"/>
          <p:nvPr/>
        </p:nvSpPr>
        <p:spPr>
          <a:xfrm>
            <a:off x="4023360" y="3154680"/>
            <a:ext cx="7589520" cy="365760"/>
          </a:xfrm>
          <a:prstGeom prst="rect">
            <a:avLst/>
          </a:prstGeom>
          <a:noFill/>
        </p:spPr>
        <p:txBody>
          <a:bodyPr wrap="square" lIns="45720" rIns="45720" tIns="27432" bIns="27432" anchor="t">
            <a:spAutoFit/>
          </a:bodyPr>
          <a:lstStyle/>
          <a:p>
            <a:pPr algn="l"/>
            <a:r>
              <a:rPr sz="1300" b="1" i="0">
                <a:solidFill>
                  <a:srgbClr val="F37021"/>
                </a:solidFill>
                <a:latin typeface="Arial"/>
              </a:rPr>
              <a:t>YOU WRITE</a:t>
            </a:r>
          </a:p>
        </p:txBody>
      </p:sp>
      <p:sp>
        <p:nvSpPr>
          <p:cNvPr id="16" name="TextBox 15"/>
          <p:cNvSpPr txBox="1"/>
          <p:nvPr/>
        </p:nvSpPr>
        <p:spPr>
          <a:xfrm>
            <a:off x="4023360" y="3520440"/>
            <a:ext cx="7589520" cy="1737360"/>
          </a:xfrm>
          <a:prstGeom prst="rect">
            <a:avLst/>
          </a:prstGeom>
          <a:noFill/>
        </p:spPr>
        <p:txBody>
          <a:bodyPr wrap="square" lIns="45720" rIns="45720" tIns="27432" bIns="27432" anchor="t">
            <a:spAutoFit/>
          </a:bodyPr>
          <a:lstStyle/>
          <a:p>
            <a:pPr algn="l">
              <a:spcAft>
                <a:spcPts val="500"/>
              </a:spcAft>
            </a:pPr>
            <a:r>
              <a:rPr sz="1800" b="0" i="0">
                <a:solidFill>
                  <a:srgbClr val="0B0A0C"/>
                </a:solidFill>
                <a:latin typeface="Arial"/>
              </a:rPr>
              <a:t>•  TODO 1: a question that needs the metrics tool</a:t>
            </a:r>
          </a:p>
          <a:p>
            <a:pPr algn="l">
              <a:spcAft>
                <a:spcPts val="500"/>
              </a:spcAft>
            </a:pPr>
            <a:r>
              <a:rPr sz="1800" b="0" i="0">
                <a:solidFill>
                  <a:srgbClr val="0B0A0C"/>
                </a:solidFill>
                <a:latin typeface="Arial"/>
              </a:rPr>
              <a:t>•  TODO 2: a question that needs both tools</a:t>
            </a:r>
          </a:p>
          <a:p>
            <a:pPr algn="l">
              <a:spcAft>
                <a:spcPts val="500"/>
              </a:spcAft>
            </a:pPr>
            <a:r>
              <a:rPr sz="1800" b="0" i="0">
                <a:solidFill>
                  <a:srgbClr val="0B0A0C"/>
                </a:solidFill>
                <a:latin typeface="Arial"/>
              </a:rPr>
              <a:t>•  Check the tool calls it made</a:t>
            </a:r>
          </a:p>
        </p:txBody>
      </p:sp>
      <p:sp>
        <p:nvSpPr>
          <p:cNvPr id="17" name="Rounded Rectangle 16"/>
          <p:cNvSpPr/>
          <p:nvPr/>
        </p:nvSpPr>
        <p:spPr>
          <a:xfrm>
            <a:off x="4023360" y="5303520"/>
            <a:ext cx="7616952" cy="1005840"/>
          </a:xfrm>
          <a:prstGeom prst="roundRect">
            <a:avLst>
              <a:gd name="adj" fmla="val 10000"/>
            </a:avLst>
          </a:prstGeom>
          <a:solidFill>
            <a:srgbClr val="E6EE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spcAft>
                <a:spcPts val="300"/>
              </a:spcAft>
            </a:pPr>
            <a:r>
              <a:rPr sz="1200" b="1">
                <a:solidFill>
                  <a:srgbClr val="19226D"/>
                </a:solidFill>
                <a:latin typeface="Arial"/>
              </a:rPr>
              <a:t>YOU WILL SEE</a:t>
            </a:r>
          </a:p>
          <a:p>
            <a:pPr algn="l">
              <a:spcAft>
                <a:spcPts val="300"/>
              </a:spcAft>
            </a:pPr>
            <a:r>
              <a:rPr sz="1600" b="0">
                <a:solidFill>
                  <a:srgbClr val="19226D"/>
                </a:solidFill>
                <a:latin typeface="Arial"/>
              </a:rPr>
              <a:t>Which tool the agent chose, with what arguments, and why.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start this afternoon</a:t>
            </a:r>
          </a:p>
        </p:txBody>
      </p:sp>
      <p:sp>
        <p:nvSpPr>
          <p:cNvPr id="3" name="TextBox 2"/>
          <p:cNvSpPr txBox="1"/>
          <p:nvPr/>
        </p:nvSpPr>
        <p:spPr>
          <a:xfrm>
            <a:off x="548640" y="6473952"/>
            <a:ext cx="5486400" cy="256032"/>
          </a:xfrm>
          <a:prstGeom prst="rect">
            <a:avLst/>
          </a:prstGeom>
          <a:noFill/>
        </p:spPr>
        <p:txBody>
          <a:bodyPr wrap="square" lIns="45720" rIns="45720" tIns="27432" bIns="27432" anchor="t">
            <a:spAutoFit/>
          </a:bodyPr>
          <a:lstStyle/>
          <a:p>
            <a:pPr algn="l"/>
            <a:r>
              <a:rPr sz="900" b="1" i="0">
                <a:solidFill>
                  <a:srgbClr val="5F6B7A"/>
                </a:solidFill>
                <a:latin typeface="Arial"/>
              </a:rPr>
              <a:t>PART 6 · THIS AFTERNOON: THE PROJECT</a:t>
            </a:r>
          </a:p>
        </p:txBody>
      </p:sp>
      <p:sp>
        <p:nvSpPr>
          <p:cNvPr id="4" name="TextBox 3"/>
          <p:cNvSpPr txBox="1"/>
          <p:nvPr/>
        </p:nvSpPr>
        <p:spPr>
          <a:xfrm>
            <a:off x="10972800" y="6446520"/>
            <a:ext cx="685800" cy="274320"/>
          </a:xfrm>
          <a:prstGeom prst="rect">
            <a:avLst/>
          </a:prstGeom>
          <a:noFill/>
        </p:spPr>
        <p:txBody>
          <a:bodyPr wrap="none">
            <a:spAutoFit/>
          </a:bodyPr>
          <a:lstStyle/>
          <a:p>
            <a:pPr algn="r"/>
            <a:fld id="{B6F15528-21DE-4FAA-801E-634DDDAF4B2B}" type="slidenum">
              <a:rPr lang="en-US" sz="1000">
                <a:solidFill>
                  <a:srgbClr val="5F6B7A"/>
                </a:solidFill>
              </a:rPr>
              <a:t>‹#›</a:t>
            </a:fld>
          </a:p>
        </p:txBody>
      </p:sp>
      <p:sp>
        <p:nvSpPr>
          <p:cNvPr id="5" name="Rounded Rectangle 4"/>
          <p:cNvSpPr/>
          <p:nvPr/>
        </p:nvSpPr>
        <p:spPr>
          <a:xfrm>
            <a:off x="548640" y="1280160"/>
            <a:ext cx="5468112" cy="137160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40" y="1645919"/>
            <a:ext cx="640080" cy="640080"/>
          </a:xfrm>
          <a:prstGeom prst="ellipse">
            <a:avLst/>
          </a:prstGeom>
          <a:solidFill>
            <a:srgbClr val="034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aptop_FFFFFF_2.0.png"/>
          <p:cNvPicPr>
            <a:picLocks noChangeAspect="1"/>
          </p:cNvPicPr>
          <p:nvPr/>
        </p:nvPicPr>
        <p:blipFill>
          <a:blip r:embed="rId3"/>
          <a:stretch>
            <a:fillRect/>
          </a:stretch>
        </p:blipFill>
        <p:spPr>
          <a:xfrm>
            <a:off x="905256" y="1773935"/>
            <a:ext cx="384048" cy="384048"/>
          </a:xfrm>
          <a:prstGeom prst="rect">
            <a:avLst/>
          </a:prstGeom>
        </p:spPr>
      </p:pic>
      <p:sp>
        <p:nvSpPr>
          <p:cNvPr id="8" name="TextBox 7"/>
          <p:cNvSpPr txBox="1"/>
          <p:nvPr/>
        </p:nvSpPr>
        <p:spPr>
          <a:xfrm>
            <a:off x="1600200" y="1417319"/>
            <a:ext cx="4297680" cy="594360"/>
          </a:xfrm>
          <a:prstGeom prst="rect">
            <a:avLst/>
          </a:prstGeom>
          <a:noFill/>
        </p:spPr>
        <p:txBody>
          <a:bodyPr wrap="square" lIns="45720" rIns="45720" tIns="27432" bIns="27432" anchor="t">
            <a:spAutoFit/>
          </a:bodyPr>
          <a:lstStyle/>
          <a:p>
            <a:pPr algn="l"/>
            <a:r>
              <a:rPr sz="1800" b="1" i="0">
                <a:solidFill>
                  <a:srgbClr val="0B0A0C"/>
                </a:solidFill>
                <a:latin typeface="Arial"/>
              </a:rPr>
              <a:t>Open the notebooks in Google Colab</a:t>
            </a:r>
          </a:p>
        </p:txBody>
      </p:sp>
      <p:sp>
        <p:nvSpPr>
          <p:cNvPr id="9" name="TextBox 8"/>
          <p:cNvSpPr txBox="1"/>
          <p:nvPr/>
        </p:nvSpPr>
        <p:spPr>
          <a:xfrm>
            <a:off x="1600200" y="2057400"/>
            <a:ext cx="4297680" cy="548640"/>
          </a:xfrm>
          <a:prstGeom prst="rect">
            <a:avLst/>
          </a:prstGeom>
          <a:noFill/>
        </p:spPr>
        <p:txBody>
          <a:bodyPr wrap="square" lIns="45720" rIns="45720" tIns="27432" bIns="27432" anchor="t">
            <a:spAutoFit/>
          </a:bodyPr>
          <a:lstStyle/>
          <a:p>
            <a:pPr algn="l"/>
            <a:r>
              <a:rPr sz="1500" b="0" i="0">
                <a:solidFill>
                  <a:srgbClr val="5F6B7A"/>
                </a:solidFill>
                <a:latin typeface="Arial"/>
              </a:rPr>
              <a:t>or local Jupyter if you prefer</a:t>
            </a:r>
          </a:p>
        </p:txBody>
      </p:sp>
      <p:sp>
        <p:nvSpPr>
          <p:cNvPr id="10" name="Rounded Rectangle 9"/>
          <p:cNvSpPr/>
          <p:nvPr/>
        </p:nvSpPr>
        <p:spPr>
          <a:xfrm>
            <a:off x="6172200" y="1280160"/>
            <a:ext cx="5468112" cy="137160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00800" y="1645919"/>
            <a:ext cx="640080" cy="640080"/>
          </a:xfrm>
          <a:prstGeom prst="ellipse">
            <a:avLst/>
          </a:prstGeom>
          <a:solidFill>
            <a:srgbClr val="50B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round_FFFFFF_2.0.png"/>
          <p:cNvPicPr>
            <a:picLocks noChangeAspect="1"/>
          </p:cNvPicPr>
          <p:nvPr/>
        </p:nvPicPr>
        <p:blipFill>
          <a:blip r:embed="rId4"/>
          <a:stretch>
            <a:fillRect/>
          </a:stretch>
        </p:blipFill>
        <p:spPr>
          <a:xfrm>
            <a:off x="6528816" y="1773935"/>
            <a:ext cx="384048" cy="384048"/>
          </a:xfrm>
          <a:prstGeom prst="rect">
            <a:avLst/>
          </a:prstGeom>
        </p:spPr>
      </p:pic>
      <p:sp>
        <p:nvSpPr>
          <p:cNvPr id="13" name="TextBox 12"/>
          <p:cNvSpPr txBox="1"/>
          <p:nvPr/>
        </p:nvSpPr>
        <p:spPr>
          <a:xfrm>
            <a:off x="7223760" y="1417319"/>
            <a:ext cx="4297680" cy="594360"/>
          </a:xfrm>
          <a:prstGeom prst="rect">
            <a:avLst/>
          </a:prstGeom>
          <a:noFill/>
        </p:spPr>
        <p:txBody>
          <a:bodyPr wrap="square" lIns="45720" rIns="45720" tIns="27432" bIns="27432" anchor="t">
            <a:spAutoFit/>
          </a:bodyPr>
          <a:lstStyle/>
          <a:p>
            <a:pPr algn="l"/>
            <a:r>
              <a:rPr sz="1800" b="1" i="0">
                <a:solidFill>
                  <a:srgbClr val="0B0A0C"/>
                </a:solidFill>
                <a:latin typeface="Arial"/>
              </a:rPr>
              <a:t>Get your team details from the instructor</a:t>
            </a:r>
          </a:p>
        </p:txBody>
      </p:sp>
      <p:sp>
        <p:nvSpPr>
          <p:cNvPr id="14" name="TextBox 13"/>
          <p:cNvSpPr txBox="1"/>
          <p:nvPr/>
        </p:nvSpPr>
        <p:spPr>
          <a:xfrm>
            <a:off x="7223760" y="2057400"/>
            <a:ext cx="4297680" cy="548640"/>
          </a:xfrm>
          <a:prstGeom prst="rect">
            <a:avLst/>
          </a:prstGeom>
          <a:noFill/>
        </p:spPr>
        <p:txBody>
          <a:bodyPr wrap="square" lIns="45720" rIns="45720" tIns="27432" bIns="27432" anchor="t">
            <a:spAutoFit/>
          </a:bodyPr>
          <a:lstStyle/>
          <a:p>
            <a:pPr algn="l"/>
            <a:r>
              <a:rPr sz="1500" b="0" i="0">
                <a:solidFill>
                  <a:srgbClr val="5F6B7A"/>
                </a:solidFill>
                <a:latin typeface="Arial"/>
              </a:rPr>
              <a:t>team number, password, project reference, pooler host</a:t>
            </a:r>
          </a:p>
        </p:txBody>
      </p:sp>
      <p:sp>
        <p:nvSpPr>
          <p:cNvPr id="15" name="Rounded Rectangle 14"/>
          <p:cNvSpPr/>
          <p:nvPr/>
        </p:nvSpPr>
        <p:spPr>
          <a:xfrm>
            <a:off x="548640" y="2834639"/>
            <a:ext cx="5468112" cy="137160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 y="3200399"/>
            <a:ext cx="640080" cy="640080"/>
          </a:xfrm>
          <a:prstGeom prst="ellipse">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lock_FFFFFF_2.0.png"/>
          <p:cNvPicPr>
            <a:picLocks noChangeAspect="1"/>
          </p:cNvPicPr>
          <p:nvPr/>
        </p:nvPicPr>
        <p:blipFill>
          <a:blip r:embed="rId5"/>
          <a:stretch>
            <a:fillRect/>
          </a:stretch>
        </p:blipFill>
        <p:spPr>
          <a:xfrm>
            <a:off x="905256" y="3328415"/>
            <a:ext cx="384048" cy="384048"/>
          </a:xfrm>
          <a:prstGeom prst="rect">
            <a:avLst/>
          </a:prstGeom>
        </p:spPr>
      </p:pic>
      <p:sp>
        <p:nvSpPr>
          <p:cNvPr id="18" name="TextBox 17"/>
          <p:cNvSpPr txBox="1"/>
          <p:nvPr/>
        </p:nvSpPr>
        <p:spPr>
          <a:xfrm>
            <a:off x="1600200" y="2971799"/>
            <a:ext cx="4297680" cy="594360"/>
          </a:xfrm>
          <a:prstGeom prst="rect">
            <a:avLst/>
          </a:prstGeom>
          <a:noFill/>
        </p:spPr>
        <p:txBody>
          <a:bodyPr wrap="square" lIns="45720" rIns="45720" tIns="27432" bIns="27432" anchor="t">
            <a:spAutoFit/>
          </a:bodyPr>
          <a:lstStyle/>
          <a:p>
            <a:pPr algn="l"/>
            <a:r>
              <a:rPr sz="1800" b="1" i="0">
                <a:solidFill>
                  <a:srgbClr val="0B0A0C"/>
                </a:solidFill>
                <a:latin typeface="Arial"/>
              </a:rPr>
              <a:t>Keep secrets in a .env file</a:t>
            </a:r>
          </a:p>
        </p:txBody>
      </p:sp>
      <p:sp>
        <p:nvSpPr>
          <p:cNvPr id="19" name="TextBox 18"/>
          <p:cNvSpPr txBox="1"/>
          <p:nvPr/>
        </p:nvSpPr>
        <p:spPr>
          <a:xfrm>
            <a:off x="1600200" y="3611879"/>
            <a:ext cx="4297680" cy="548640"/>
          </a:xfrm>
          <a:prstGeom prst="rect">
            <a:avLst/>
          </a:prstGeom>
          <a:noFill/>
        </p:spPr>
        <p:txBody>
          <a:bodyPr wrap="square" lIns="45720" rIns="45720" tIns="27432" bIns="27432" anchor="t">
            <a:spAutoFit/>
          </a:bodyPr>
          <a:lstStyle/>
          <a:p>
            <a:pPr algn="l"/>
            <a:r>
              <a:rPr sz="1500" b="0" i="0">
                <a:solidFill>
                  <a:srgbClr val="5F6B7A"/>
                </a:solidFill>
                <a:latin typeface="Arial"/>
              </a:rPr>
              <a:t>or type them when asked: never inside the notebook</a:t>
            </a:r>
          </a:p>
        </p:txBody>
      </p:sp>
      <p:sp>
        <p:nvSpPr>
          <p:cNvPr id="20" name="Rounded Rectangle 19"/>
          <p:cNvSpPr/>
          <p:nvPr/>
        </p:nvSpPr>
        <p:spPr>
          <a:xfrm>
            <a:off x="6172200" y="2834639"/>
            <a:ext cx="5468112" cy="137160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0800" y="3200399"/>
            <a:ext cx="640080" cy="640080"/>
          </a:xfrm>
          <a:prstGeom prst="ellipse">
            <a:avLst/>
          </a:prstGeom>
          <a:solidFill>
            <a:srgbClr val="192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ey-round_FFFFFF_2.0.png"/>
          <p:cNvPicPr>
            <a:picLocks noChangeAspect="1"/>
          </p:cNvPicPr>
          <p:nvPr/>
        </p:nvPicPr>
        <p:blipFill>
          <a:blip r:embed="rId6"/>
          <a:stretch>
            <a:fillRect/>
          </a:stretch>
        </p:blipFill>
        <p:spPr>
          <a:xfrm>
            <a:off x="6528816" y="3328415"/>
            <a:ext cx="384048" cy="384048"/>
          </a:xfrm>
          <a:prstGeom prst="rect">
            <a:avLst/>
          </a:prstGeom>
        </p:spPr>
      </p:pic>
      <p:sp>
        <p:nvSpPr>
          <p:cNvPr id="23" name="TextBox 22"/>
          <p:cNvSpPr txBox="1"/>
          <p:nvPr/>
        </p:nvSpPr>
        <p:spPr>
          <a:xfrm>
            <a:off x="7223760" y="2971799"/>
            <a:ext cx="4297680" cy="594360"/>
          </a:xfrm>
          <a:prstGeom prst="rect">
            <a:avLst/>
          </a:prstGeom>
          <a:noFill/>
        </p:spPr>
        <p:txBody>
          <a:bodyPr wrap="square" lIns="45720" rIns="45720" tIns="27432" bIns="27432" anchor="t">
            <a:spAutoFit/>
          </a:bodyPr>
          <a:lstStyle/>
          <a:p>
            <a:pPr algn="l"/>
            <a:r>
              <a:rPr sz="1800" b="1" i="0">
                <a:solidFill>
                  <a:srgbClr val="0B0A0C"/>
                </a:solidFill>
                <a:latin typeface="Arial"/>
              </a:rPr>
              <a:t>Use your own budgeted OpenAI key</a:t>
            </a:r>
          </a:p>
        </p:txBody>
      </p:sp>
      <p:sp>
        <p:nvSpPr>
          <p:cNvPr id="24" name="TextBox 23"/>
          <p:cNvSpPr txBox="1"/>
          <p:nvPr/>
        </p:nvSpPr>
        <p:spPr>
          <a:xfrm>
            <a:off x="7223760" y="3611879"/>
            <a:ext cx="4297680" cy="548640"/>
          </a:xfrm>
          <a:prstGeom prst="rect">
            <a:avLst/>
          </a:prstGeom>
          <a:noFill/>
        </p:spPr>
        <p:txBody>
          <a:bodyPr wrap="square" lIns="45720" rIns="45720" tIns="27432" bIns="27432" anchor="t">
            <a:spAutoFit/>
          </a:bodyPr>
          <a:lstStyle/>
          <a:p>
            <a:pPr algn="l"/>
            <a:r>
              <a:rPr sz="1500" b="0" i="0">
                <a:solidFill>
                  <a:srgbClr val="5F6B7A"/>
                </a:solidFill>
                <a:latin typeface="Arial"/>
              </a:rPr>
              <a:t>never the instructor's master key</a:t>
            </a:r>
          </a:p>
        </p:txBody>
      </p:sp>
      <p:sp>
        <p:nvSpPr>
          <p:cNvPr id="25" name="Rounded Rectangle 24"/>
          <p:cNvSpPr/>
          <p:nvPr/>
        </p:nvSpPr>
        <p:spPr>
          <a:xfrm>
            <a:off x="548640" y="4389120"/>
            <a:ext cx="5468112" cy="137160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77240" y="4754880"/>
            <a:ext cx="640080" cy="640080"/>
          </a:xfrm>
          <a:prstGeom prst="ellipse">
            <a:avLst/>
          </a:prstGeom>
          <a:solidFill>
            <a:srgbClr val="33B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lag_FFFFFF_2.0.png"/>
          <p:cNvPicPr>
            <a:picLocks noChangeAspect="1"/>
          </p:cNvPicPr>
          <p:nvPr/>
        </p:nvPicPr>
        <p:blipFill>
          <a:blip r:embed="rId7"/>
          <a:stretch>
            <a:fillRect/>
          </a:stretch>
        </p:blipFill>
        <p:spPr>
          <a:xfrm>
            <a:off x="905256" y="4882896"/>
            <a:ext cx="384048" cy="384048"/>
          </a:xfrm>
          <a:prstGeom prst="rect">
            <a:avLst/>
          </a:prstGeom>
        </p:spPr>
      </p:pic>
      <p:sp>
        <p:nvSpPr>
          <p:cNvPr id="28" name="TextBox 27"/>
          <p:cNvSpPr txBox="1"/>
          <p:nvPr/>
        </p:nvSpPr>
        <p:spPr>
          <a:xfrm>
            <a:off x="1600200" y="4526280"/>
            <a:ext cx="4297680" cy="594360"/>
          </a:xfrm>
          <a:prstGeom prst="rect">
            <a:avLst/>
          </a:prstGeom>
          <a:noFill/>
        </p:spPr>
        <p:txBody>
          <a:bodyPr wrap="square" lIns="45720" rIns="45720" tIns="27432" bIns="27432" anchor="t">
            <a:spAutoFit/>
          </a:bodyPr>
          <a:lstStyle/>
          <a:p>
            <a:pPr algn="l"/>
            <a:r>
              <a:rPr sz="1800" b="1" i="0">
                <a:solidFill>
                  <a:srgbClr val="0B0A0C"/>
                </a:solidFill>
                <a:latin typeface="Arial"/>
              </a:rPr>
              <a:t>Run Lab 1 first</a:t>
            </a:r>
          </a:p>
        </p:txBody>
      </p:sp>
      <p:sp>
        <p:nvSpPr>
          <p:cNvPr id="29" name="TextBox 28"/>
          <p:cNvSpPr txBox="1"/>
          <p:nvPr/>
        </p:nvSpPr>
        <p:spPr>
          <a:xfrm>
            <a:off x="1600200" y="5166359"/>
            <a:ext cx="4297680" cy="548640"/>
          </a:xfrm>
          <a:prstGeom prst="rect">
            <a:avLst/>
          </a:prstGeom>
          <a:noFill/>
        </p:spPr>
        <p:txBody>
          <a:bodyPr wrap="square" lIns="45720" rIns="45720" tIns="27432" bIns="27432" anchor="t">
            <a:spAutoFit/>
          </a:bodyPr>
          <a:lstStyle/>
          <a:p>
            <a:pPr algn="l"/>
            <a:r>
              <a:rPr sz="1500" b="0" i="0">
                <a:solidFill>
                  <a:srgbClr val="5F6B7A"/>
                </a:solidFill>
                <a:latin typeface="Arial"/>
              </a:rPr>
              <a:t>the other labs read the table it creates</a:t>
            </a:r>
          </a:p>
        </p:txBody>
      </p:sp>
      <p:sp>
        <p:nvSpPr>
          <p:cNvPr id="30" name="Rounded Rectangle 29"/>
          <p:cNvSpPr/>
          <p:nvPr/>
        </p:nvSpPr>
        <p:spPr>
          <a:xfrm>
            <a:off x="6172200" y="4389120"/>
            <a:ext cx="5468112" cy="1371600"/>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800" y="4754880"/>
            <a:ext cx="640080" cy="640080"/>
          </a:xfrm>
          <a:prstGeom prst="ellipse">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life-buoy_FFFFFF_2.0.png"/>
          <p:cNvPicPr>
            <a:picLocks noChangeAspect="1"/>
          </p:cNvPicPr>
          <p:nvPr/>
        </p:nvPicPr>
        <p:blipFill>
          <a:blip r:embed="rId8"/>
          <a:stretch>
            <a:fillRect/>
          </a:stretch>
        </p:blipFill>
        <p:spPr>
          <a:xfrm>
            <a:off x="6528816" y="4882896"/>
            <a:ext cx="384048" cy="384048"/>
          </a:xfrm>
          <a:prstGeom prst="rect">
            <a:avLst/>
          </a:prstGeom>
        </p:spPr>
      </p:pic>
      <p:sp>
        <p:nvSpPr>
          <p:cNvPr id="33" name="TextBox 32"/>
          <p:cNvSpPr txBox="1"/>
          <p:nvPr/>
        </p:nvSpPr>
        <p:spPr>
          <a:xfrm>
            <a:off x="7223760" y="4526280"/>
            <a:ext cx="4297680" cy="594360"/>
          </a:xfrm>
          <a:prstGeom prst="rect">
            <a:avLst/>
          </a:prstGeom>
          <a:noFill/>
        </p:spPr>
        <p:txBody>
          <a:bodyPr wrap="square" lIns="45720" rIns="45720" tIns="27432" bIns="27432" anchor="t">
            <a:spAutoFit/>
          </a:bodyPr>
          <a:lstStyle/>
          <a:p>
            <a:pPr algn="l"/>
            <a:r>
              <a:rPr sz="1800" b="1" i="0">
                <a:solidFill>
                  <a:srgbClr val="0B0A0C"/>
                </a:solidFill>
                <a:latin typeface="Arial"/>
              </a:rPr>
              <a:t>Stuck? Read "what you should see", then ask</a:t>
            </a:r>
          </a:p>
        </p:txBody>
      </p:sp>
      <p:sp>
        <p:nvSpPr>
          <p:cNvPr id="34" name="TextBox 33"/>
          <p:cNvSpPr txBox="1"/>
          <p:nvPr/>
        </p:nvSpPr>
        <p:spPr>
          <a:xfrm>
            <a:off x="7223760" y="5166359"/>
            <a:ext cx="4297680" cy="548640"/>
          </a:xfrm>
          <a:prstGeom prst="rect">
            <a:avLst/>
          </a:prstGeom>
          <a:noFill/>
        </p:spPr>
        <p:txBody>
          <a:bodyPr wrap="square" lIns="45720" rIns="45720" tIns="27432" bIns="27432" anchor="t">
            <a:spAutoFit/>
          </a:bodyPr>
          <a:lstStyle/>
          <a:p>
            <a:pPr algn="l"/>
            <a:r>
              <a:rPr sz="1500" b="0" i="0">
                <a:solidFill>
                  <a:srgbClr val="5F6B7A"/>
                </a:solidFill>
                <a:latin typeface="Arial"/>
              </a:rPr>
              <a:t>asking is part of the job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Thank you</a:t>
            </a:r>
          </a:p>
        </p:txBody>
      </p:sp>
      <p:sp>
        <p:nvSpPr>
          <p:cNvPr id="3" name="Text Placeholder 2"/>
          <p:cNvSpPr>
            <a:spLocks noGrp="1"/>
          </p:cNvSpPr>
          <p:nvPr>
            <p:ph type="body" idx="11" sz="quarter"/>
          </p:nvPr>
        </p:nvSpPr>
        <p:spPr/>
        <p:txBody>
          <a:bodyPr/>
          <a:lstStyle/>
          <a:p>
            <a:r>
              <a:t>Questions? Then let us build it.</a:t>
            </a:r>
          </a:p>
        </p:txBody>
      </p:sp>
    </p:spTree>
  </p:cSld>
  <p:clrMapOvr>
    <a:masterClrMapping/>
  </p:clrMapOvr>
</p:sld>
</file>

<file path=ppt/theme/theme1.xml><?xml version="1.0" encoding="utf-8"?>
<a:theme xmlns:a="http://schemas.openxmlformats.org/drawingml/2006/main" name="White Master">
  <a:themeElements>
    <a:clrScheme name="Custom 6">
      <a:dk1>
        <a:srgbClr val="0B0A0C"/>
      </a:dk1>
      <a:lt1>
        <a:srgbClr val="FFFFFF"/>
      </a:lt1>
      <a:dk2>
        <a:srgbClr val="034EA2"/>
      </a:dk2>
      <a:lt2>
        <a:srgbClr val="19226D"/>
      </a:lt2>
      <a:accent1>
        <a:srgbClr val="034EA2"/>
      </a:accent1>
      <a:accent2>
        <a:srgbClr val="50B848"/>
      </a:accent2>
      <a:accent3>
        <a:srgbClr val="F37021"/>
      </a:accent3>
      <a:accent4>
        <a:srgbClr val="33B2C1"/>
      </a:accent4>
      <a:accent5>
        <a:srgbClr val="19226D"/>
      </a:accent5>
      <a:accent6>
        <a:srgbClr val="034EA2"/>
      </a:accent6>
      <a:hlink>
        <a:srgbClr val="FEFEFE"/>
      </a:hlink>
      <a:folHlink>
        <a:srgbClr val="FEFEF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2">
      <a:dk1>
        <a:srgbClr val="080808"/>
      </a:dk1>
      <a:lt1>
        <a:sysClr val="window" lastClr="FFFFFF"/>
      </a:lt1>
      <a:dk2>
        <a:srgbClr val="4D4D4D"/>
      </a:dk2>
      <a:lt2>
        <a:srgbClr val="FFFFFF"/>
      </a:lt2>
      <a:accent1>
        <a:srgbClr val="F37021"/>
      </a:accent1>
      <a:accent2>
        <a:srgbClr val="50B848"/>
      </a:accent2>
      <a:accent3>
        <a:srgbClr val="034EA2"/>
      </a:accent3>
      <a:accent4>
        <a:srgbClr val="33B2C1"/>
      </a:accent4>
      <a:accent5>
        <a:srgbClr val="19226D"/>
      </a:accent5>
      <a:accent6>
        <a:srgbClr val="AEABAB"/>
      </a:accent6>
      <a:hlink>
        <a:srgbClr val="F37021"/>
      </a:hlink>
      <a:folHlink>
        <a:srgbClr val="F37021"/>
      </a:folHlink>
    </a:clrScheme>
    <a:fontScheme name="FSO_Defaul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b512a4e-bb54-4328-ad34-d43205aaa1ec}" enabled="1" method="Standard" siteId="{f01e930a-b52e-42b1-b70f-a8882b5d043b}" removed="0"/>
</clbl:labelList>
</file>

<file path=docProps/app.xml><?xml version="1.0" encoding="utf-8"?>
<Properties xmlns="http://schemas.openxmlformats.org/officeDocument/2006/extended-properties" xmlns:vt="http://schemas.openxmlformats.org/officeDocument/2006/docPropsVTypes">
  <TotalTime>2752</TotalTime>
  <Words>3323</Words>
  <Application>Microsoft Macintosh PowerPoint</Application>
  <PresentationFormat>Widescreen</PresentationFormat>
  <Paragraphs>383</Paragraphs>
  <Slides>17</Slides>
  <Notes>6</Notes>
  <HiddenSlides>0</HiddenSlides>
  <MMClips>0</MMClips>
  <ScaleCrop>false</ScaleCrop>
  <HeadingPairs>
    <vt:vector size="6" baseType="variant">
      <vt:variant>
        <vt:lpstr>Fonts Used</vt:lpstr>
      </vt:variant>
      <vt:variant>
        <vt:i4>16</vt:i4>
      </vt:variant>
      <vt:variant>
        <vt:lpstr>Theme</vt:lpstr>
      </vt:variant>
      <vt:variant>
        <vt:i4>3</vt:i4>
      </vt:variant>
      <vt:variant>
        <vt:lpstr>Slide Titles</vt:lpstr>
      </vt:variant>
      <vt:variant>
        <vt:i4>17</vt:i4>
      </vt:variant>
    </vt:vector>
  </HeadingPairs>
  <TitlesOfParts>
    <vt:vector size="36" baseType="lpstr">
      <vt:lpstr>Meiryo UI</vt:lpstr>
      <vt:lpstr>游ゴシック</vt:lpstr>
      <vt:lpstr>Yu Gothic UI Semibold</vt:lpstr>
      <vt:lpstr>Aptos</vt:lpstr>
      <vt:lpstr>Arial</vt:lpstr>
      <vt:lpstr>BR Omega VN</vt:lpstr>
      <vt:lpstr>Calibri</vt:lpstr>
      <vt:lpstr>Courier New</vt:lpstr>
      <vt:lpstr>DM Sans</vt:lpstr>
      <vt:lpstr>DM Sans Bold</vt:lpstr>
      <vt:lpstr>Helvetica Neue</vt:lpstr>
      <vt:lpstr>Quattrocento Sans</vt:lpstr>
      <vt:lpstr>Segoe UI</vt:lpstr>
      <vt:lpstr>Segoe UI Semibold</vt:lpstr>
      <vt:lpstr>Wingdings</vt:lpstr>
      <vt:lpstr>Wingdings 2</vt:lpstr>
      <vt:lpstr>White Master</vt:lpstr>
      <vt:lpstr>Office Theme</vt:lpstr>
      <vt:lpstr>3_Office Theme</vt:lpstr>
      <vt:lpstr>PowerPoint Presentation</vt:lpstr>
      <vt:lpstr>Why do Enterprises need to manage Data effectively?</vt:lpstr>
      <vt:lpstr>Problems about Data Management &amp; Analytics</vt:lpstr>
      <vt:lpstr>What have FPT experienced?</vt:lpstr>
      <vt:lpstr>FPT Data &amp; Advanced Analytic Service Portfolio</vt:lpstr>
      <vt:lpstr>Providing Data &amp; AI Services to Global Customers</vt:lpstr>
      <vt:lpstr>Partnership &amp; Capabilities</vt:lpstr>
      <vt:lpstr>Our Data Resources</vt:lpstr>
      <vt:lpstr>Key Technology Our Team Experienced</vt:lpstr>
      <vt:lpstr>Global Databricks Resource</vt:lpstr>
      <vt:lpstr>Microsoft Fabric + Databricks - Case Studies</vt:lpstr>
      <vt:lpstr>Enterprise AI Analytics Platform – HR-First Implementation Driving Real-time Insights &amp; AI-powered Decision Support</vt:lpstr>
      <vt:lpstr>PowerPoint Presentation</vt:lpstr>
      <vt:lpstr>(Confidential Info) Azure Data Platform (2/3) – PLATFORM DESIGN</vt:lpstr>
      <vt:lpstr>Azure Data Platform (3/3) – DATA MODELING</vt:lpstr>
      <vt:lpstr>Databricks Migration Seamless Data Flow: Azure to MDP Bronze &amp; GBI to Databricks Migration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Tran Tuan</dc:creator>
  <cp:lastModifiedBy>Cuong Nguyen Manh</cp:lastModifiedBy>
  <cp:revision>277</cp:revision>
  <dcterms:created xsi:type="dcterms:W3CDTF">2025-02-12T07:39:28Z</dcterms:created>
  <dcterms:modified xsi:type="dcterms:W3CDTF">2026-07-06T10:53:31Z</dcterms:modified>
</cp:coreProperties>
</file>